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5"/>
  </p:notesMasterIdLst>
  <p:sldIdLst>
    <p:sldId id="256" r:id="rId5"/>
    <p:sldId id="257" r:id="rId6"/>
    <p:sldId id="258" r:id="rId7"/>
    <p:sldId id="259" r:id="rId8"/>
    <p:sldId id="260" r:id="rId9"/>
    <p:sldId id="264" r:id="rId10"/>
    <p:sldId id="265" r:id="rId11"/>
    <p:sldId id="262" r:id="rId12"/>
    <p:sldId id="267" r:id="rId13"/>
    <p:sldId id="269" r:id="rId14"/>
    <p:sldId id="263" r:id="rId15"/>
    <p:sldId id="268" r:id="rId16"/>
    <p:sldId id="270" r:id="rId17"/>
    <p:sldId id="271" r:id="rId18"/>
    <p:sldId id="337"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90" r:id="rId36"/>
    <p:sldId id="288" r:id="rId37"/>
    <p:sldId id="292" r:id="rId38"/>
    <p:sldId id="291" r:id="rId39"/>
    <p:sldId id="289" r:id="rId40"/>
    <p:sldId id="293" r:id="rId41"/>
    <p:sldId id="296" r:id="rId42"/>
    <p:sldId id="294" r:id="rId43"/>
    <p:sldId id="295" r:id="rId44"/>
    <p:sldId id="297" r:id="rId45"/>
    <p:sldId id="299" r:id="rId46"/>
    <p:sldId id="298" r:id="rId47"/>
    <p:sldId id="300" r:id="rId48"/>
    <p:sldId id="302" r:id="rId49"/>
    <p:sldId id="301" r:id="rId50"/>
    <p:sldId id="304" r:id="rId51"/>
    <p:sldId id="303" r:id="rId52"/>
    <p:sldId id="305" r:id="rId53"/>
    <p:sldId id="306" r:id="rId54"/>
    <p:sldId id="307" r:id="rId55"/>
    <p:sldId id="308" r:id="rId56"/>
    <p:sldId id="309" r:id="rId57"/>
    <p:sldId id="310" r:id="rId58"/>
    <p:sldId id="311" r:id="rId59"/>
    <p:sldId id="312" r:id="rId60"/>
    <p:sldId id="331" r:id="rId61"/>
    <p:sldId id="332" r:id="rId62"/>
    <p:sldId id="334" r:id="rId63"/>
    <p:sldId id="333" r:id="rId64"/>
    <p:sldId id="335" r:id="rId65"/>
    <p:sldId id="336" r:id="rId66"/>
    <p:sldId id="321" r:id="rId67"/>
    <p:sldId id="322" r:id="rId68"/>
    <p:sldId id="314" r:id="rId69"/>
    <p:sldId id="315" r:id="rId70"/>
    <p:sldId id="316" r:id="rId71"/>
    <p:sldId id="317" r:id="rId72"/>
    <p:sldId id="318" r:id="rId73"/>
    <p:sldId id="323" r:id="rId74"/>
    <p:sldId id="319" r:id="rId75"/>
    <p:sldId id="320" r:id="rId76"/>
    <p:sldId id="325" r:id="rId77"/>
    <p:sldId id="324" r:id="rId78"/>
    <p:sldId id="326" r:id="rId79"/>
    <p:sldId id="327" r:id="rId80"/>
    <p:sldId id="328" r:id="rId81"/>
    <p:sldId id="329" r:id="rId82"/>
    <p:sldId id="330" r:id="rId83"/>
    <p:sldId id="313"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E1C448-A3C5-4E76-A5AC-924C7C04CBFF}">
          <p14:sldIdLst>
            <p14:sldId id="256"/>
            <p14:sldId id="257"/>
            <p14:sldId id="258"/>
            <p14:sldId id="259"/>
            <p14:sldId id="260"/>
            <p14:sldId id="264"/>
            <p14:sldId id="265"/>
            <p14:sldId id="262"/>
            <p14:sldId id="267"/>
            <p14:sldId id="269"/>
            <p14:sldId id="263"/>
          </p14:sldIdLst>
        </p14:section>
        <p14:section name="Spring Security Filters Chain" id="{FC14260A-4F6E-4E06-BB0D-E6F1ACC9BA14}">
          <p14:sldIdLst>
            <p14:sldId id="268"/>
            <p14:sldId id="270"/>
            <p14:sldId id="271"/>
            <p14:sldId id="337"/>
            <p14:sldId id="272"/>
            <p14:sldId id="273"/>
            <p14:sldId id="274"/>
            <p14:sldId id="275"/>
            <p14:sldId id="276"/>
          </p14:sldIdLst>
        </p14:section>
        <p14:section name="Spring Security Authentication" id="{164D6543-D939-4E16-9167-CBEC7A95852C}">
          <p14:sldIdLst>
            <p14:sldId id="277"/>
            <p14:sldId id="278"/>
            <p14:sldId id="279"/>
            <p14:sldId id="280"/>
            <p14:sldId id="281"/>
            <p14:sldId id="282"/>
            <p14:sldId id="283"/>
            <p14:sldId id="284"/>
            <p14:sldId id="285"/>
            <p14:sldId id="286"/>
            <p14:sldId id="287"/>
            <p14:sldId id="290"/>
          </p14:sldIdLst>
        </p14:section>
        <p14:section name="Spring Security Password Encoder" id="{BF156577-3F96-4A8D-86E9-45F68D4ECB6F}">
          <p14:sldIdLst>
            <p14:sldId id="288"/>
            <p14:sldId id="292"/>
            <p14:sldId id="291"/>
            <p14:sldId id="289"/>
            <p14:sldId id="293"/>
            <p14:sldId id="296"/>
          </p14:sldIdLst>
        </p14:section>
        <p14:section name="DaoAuthenticationProvider" id="{A0F90056-3496-49A3-A99A-E2E34F1440AB}">
          <p14:sldIdLst>
            <p14:sldId id="294"/>
            <p14:sldId id="295"/>
            <p14:sldId id="297"/>
            <p14:sldId id="299"/>
          </p14:sldIdLst>
        </p14:section>
        <p14:section name="Spring Security Login- Error Handling and Localization" id="{6E9AF8E6-63C0-4A4B-88E5-489DF42CC3BA}">
          <p14:sldIdLst>
            <p14:sldId id="298"/>
            <p14:sldId id="300"/>
            <p14:sldId id="302"/>
          </p14:sldIdLst>
        </p14:section>
        <p14:section name="Spring Security Remember Me Authentication" id="{56EE0A5B-6EDB-4571-B178-F379829C2EDD}">
          <p14:sldIdLst>
            <p14:sldId id="301"/>
            <p14:sldId id="304"/>
            <p14:sldId id="303"/>
            <p14:sldId id="305"/>
          </p14:sldIdLst>
        </p14:section>
        <p14:section name="Spring Security and Session Management" id="{3C16D948-FD99-457B-B58F-91E0A28B2134}">
          <p14:sldIdLst>
            <p14:sldId id="306"/>
            <p14:sldId id="307"/>
            <p14:sldId id="308"/>
            <p14:sldId id="309"/>
            <p14:sldId id="310"/>
            <p14:sldId id="311"/>
            <p14:sldId id="312"/>
          </p14:sldIdLst>
        </p14:section>
        <p14:section name="JWT" id="{83146F42-2DAA-4D37-B7D7-34F21FB7ADD5}">
          <p14:sldIdLst>
            <p14:sldId id="331"/>
            <p14:sldId id="332"/>
            <p14:sldId id="334"/>
            <p14:sldId id="333"/>
            <p14:sldId id="335"/>
            <p14:sldId id="336"/>
          </p14:sldIdLst>
        </p14:section>
        <p14:section name="Oauth" id="{F285F13D-1429-4674-B748-8C5D6F627C07}">
          <p14:sldIdLst>
            <p14:sldId id="321"/>
            <p14:sldId id="322"/>
            <p14:sldId id="314"/>
            <p14:sldId id="315"/>
            <p14:sldId id="316"/>
            <p14:sldId id="317"/>
            <p14:sldId id="318"/>
            <p14:sldId id="323"/>
            <p14:sldId id="319"/>
            <p14:sldId id="320"/>
            <p14:sldId id="325"/>
            <p14:sldId id="324"/>
            <p14:sldId id="326"/>
            <p14:sldId id="327"/>
            <p14:sldId id="328"/>
            <p14:sldId id="329"/>
            <p14:sldId id="330"/>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0863F4-9997-4203-BD9A-DC0600D8749E}"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A92A9D-7FFC-4D00-8588-67E6DBAF99A1}" type="slidenum">
              <a:rPr lang="en-US" smtClean="0"/>
              <a:t>‹#›</a:t>
            </a:fld>
            <a:endParaRPr lang="en-US"/>
          </a:p>
        </p:txBody>
      </p:sp>
    </p:spTree>
    <p:extLst>
      <p:ext uri="{BB962C8B-B14F-4D97-AF65-F5344CB8AC3E}">
        <p14:creationId xmlns:p14="http://schemas.microsoft.com/office/powerpoint/2010/main" val="916306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A92A9D-7FFC-4D00-8588-67E6DBAF99A1}" type="slidenum">
              <a:rPr lang="en-US" smtClean="0"/>
              <a:t>2</a:t>
            </a:fld>
            <a:endParaRPr lang="en-US"/>
          </a:p>
        </p:txBody>
      </p:sp>
    </p:spTree>
    <p:extLst>
      <p:ext uri="{BB962C8B-B14F-4D97-AF65-F5344CB8AC3E}">
        <p14:creationId xmlns:p14="http://schemas.microsoft.com/office/powerpoint/2010/main" val="1962567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222222"/>
                </a:solidFill>
                <a:effectLst/>
                <a:highlight>
                  <a:srgbClr val="FFFFFF"/>
                </a:highlight>
                <a:latin typeface="-apple-system"/>
              </a:rPr>
              <a:t>Client sends the request for a resource (MVC controller). Application container create filter chain to process incoming request.</a:t>
            </a:r>
          </a:p>
          <a:p>
            <a:pPr algn="ctr"/>
            <a:r>
              <a:rPr lang="en-US" b="0" i="0" dirty="0">
                <a:solidFill>
                  <a:srgbClr val="222222"/>
                </a:solidFill>
                <a:effectLst/>
                <a:highlight>
                  <a:srgbClr val="FFFFFF"/>
                </a:highlight>
                <a:latin typeface="-apple-system"/>
              </a:rPr>
              <a:t>Advertisements</a:t>
            </a:r>
          </a:p>
          <a:p>
            <a:pPr algn="l">
              <a:buFont typeface="+mj-lt"/>
              <a:buAutoNum type="arabicPeriod"/>
            </a:pPr>
            <a:r>
              <a:rPr lang="en-US" b="0" i="0" dirty="0">
                <a:solidFill>
                  <a:srgbClr val="222222"/>
                </a:solidFill>
                <a:effectLst/>
                <a:highlight>
                  <a:srgbClr val="FFFFFF"/>
                </a:highlight>
                <a:latin typeface="-apple-system"/>
              </a:rPr>
              <a:t>Each </a:t>
            </a:r>
            <a:r>
              <a:rPr lang="en-US" b="0" i="0" dirty="0" err="1">
                <a:solidFill>
                  <a:srgbClr val="222222"/>
                </a:solidFill>
                <a:effectLst/>
                <a:highlight>
                  <a:srgbClr val="FFFFFF"/>
                </a:highlight>
                <a:latin typeface="-apple-system"/>
              </a:rPr>
              <a:t>HttpServletRequest</a:t>
            </a:r>
            <a:r>
              <a:rPr lang="en-US" b="0" i="0" dirty="0">
                <a:solidFill>
                  <a:srgbClr val="222222"/>
                </a:solidFill>
                <a:effectLst/>
                <a:highlight>
                  <a:srgbClr val="FFFFFF"/>
                </a:highlight>
                <a:latin typeface="-apple-system"/>
              </a:rPr>
              <a:t> pass through the filter chain based on the path of the request URI. (We can configure if we execute filter chain for all request or for specific request URI).</a:t>
            </a:r>
          </a:p>
          <a:p>
            <a:pPr algn="l">
              <a:buFont typeface="+mj-lt"/>
              <a:buAutoNum type="arabicPeriod"/>
            </a:pPr>
            <a:r>
              <a:rPr lang="en-US" b="0" i="0" dirty="0">
                <a:solidFill>
                  <a:srgbClr val="222222"/>
                </a:solidFill>
                <a:effectLst/>
                <a:highlight>
                  <a:srgbClr val="FFFFFF"/>
                </a:highlight>
                <a:latin typeface="-apple-system"/>
              </a:rPr>
              <a:t>Filters perform the following logic on most of the web application.</a:t>
            </a:r>
          </a:p>
          <a:p>
            <a:pPr marL="742950" lvl="1" indent="-285750" algn="l">
              <a:buFont typeface="+mj-lt"/>
              <a:buAutoNum type="arabicPeriod"/>
            </a:pPr>
            <a:r>
              <a:rPr lang="en-US" b="0" i="0" dirty="0">
                <a:solidFill>
                  <a:srgbClr val="222222"/>
                </a:solidFill>
                <a:effectLst/>
                <a:highlight>
                  <a:srgbClr val="FFFFFF"/>
                </a:highlight>
                <a:latin typeface="-apple-system"/>
              </a:rPr>
              <a:t>Change the </a:t>
            </a:r>
            <a:r>
              <a:rPr lang="en-US" b="0" i="0" dirty="0" err="1">
                <a:solidFill>
                  <a:srgbClr val="222222"/>
                </a:solidFill>
                <a:effectLst/>
                <a:highlight>
                  <a:srgbClr val="FFFFFF"/>
                </a:highlight>
                <a:latin typeface="-apple-system"/>
              </a:rPr>
              <a:t>HttpServletRequest</a:t>
            </a:r>
            <a:r>
              <a:rPr lang="en-US" b="0" i="0" dirty="0">
                <a:solidFill>
                  <a:srgbClr val="222222"/>
                </a:solidFill>
                <a:effectLst/>
                <a:highlight>
                  <a:srgbClr val="FFFFFF"/>
                </a:highlight>
                <a:latin typeface="-apple-system"/>
              </a:rPr>
              <a:t> or </a:t>
            </a:r>
            <a:r>
              <a:rPr lang="en-US" b="0" i="0" dirty="0" err="1">
                <a:solidFill>
                  <a:srgbClr val="222222"/>
                </a:solidFill>
                <a:effectLst/>
                <a:highlight>
                  <a:srgbClr val="FFFFFF"/>
                </a:highlight>
                <a:latin typeface="-apple-system"/>
              </a:rPr>
              <a:t>HttpServletResponse</a:t>
            </a:r>
            <a:r>
              <a:rPr lang="en-US" b="0" i="0" dirty="0">
                <a:solidFill>
                  <a:srgbClr val="222222"/>
                </a:solidFill>
                <a:effectLst/>
                <a:highlight>
                  <a:srgbClr val="FFFFFF"/>
                </a:highlight>
                <a:latin typeface="-apple-system"/>
              </a:rPr>
              <a:t> before it reached to our Spring MVC controller.</a:t>
            </a:r>
          </a:p>
          <a:p>
            <a:pPr marL="742950" lvl="1" indent="-285750" algn="l">
              <a:buFont typeface="+mj-lt"/>
              <a:buAutoNum type="arabicPeriod"/>
            </a:pPr>
            <a:r>
              <a:rPr lang="en-US" b="0" i="0" dirty="0">
                <a:solidFill>
                  <a:srgbClr val="222222"/>
                </a:solidFill>
                <a:effectLst/>
                <a:highlight>
                  <a:srgbClr val="FFFFFF"/>
                </a:highlight>
                <a:latin typeface="-apple-system"/>
              </a:rPr>
              <a:t>Can stop the processing of the request and send a response to the client. (e.g. Servlet not allowing requests to specific URI’s).</a:t>
            </a:r>
          </a:p>
          <a:p>
            <a:endParaRPr lang="en-US" dirty="0"/>
          </a:p>
        </p:txBody>
      </p:sp>
      <p:sp>
        <p:nvSpPr>
          <p:cNvPr id="4" name="Slide Number Placeholder 3"/>
          <p:cNvSpPr>
            <a:spLocks noGrp="1"/>
          </p:cNvSpPr>
          <p:nvPr>
            <p:ph type="sldNum" sz="quarter" idx="5"/>
          </p:nvPr>
        </p:nvSpPr>
        <p:spPr/>
        <p:txBody>
          <a:bodyPr/>
          <a:lstStyle/>
          <a:p>
            <a:fld id="{09A92A9D-7FFC-4D00-8588-67E6DBAF99A1}" type="slidenum">
              <a:rPr lang="en-US" smtClean="0"/>
              <a:t>14</a:t>
            </a:fld>
            <a:endParaRPr lang="en-US"/>
          </a:p>
        </p:txBody>
      </p:sp>
    </p:spTree>
    <p:extLst>
      <p:ext uri="{BB962C8B-B14F-4D97-AF65-F5344CB8AC3E}">
        <p14:creationId xmlns:p14="http://schemas.microsoft.com/office/powerpoint/2010/main" val="1724515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22222"/>
                </a:solidFill>
                <a:effectLst/>
                <a:highlight>
                  <a:srgbClr val="FFFFFF"/>
                </a:highlight>
                <a:latin typeface="-apple-system"/>
              </a:rPr>
              <a:t>Before we move ahead, let’s cover important points for the </a:t>
            </a:r>
            <a:r>
              <a:rPr lang="en-US" b="0" i="0" dirty="0" err="1">
                <a:solidFill>
                  <a:srgbClr val="222222"/>
                </a:solidFill>
                <a:effectLst/>
                <a:highlight>
                  <a:srgbClr val="FFFFFF"/>
                </a:highlight>
                <a:latin typeface="-apple-system"/>
              </a:rPr>
              <a:t>AuthenticationManager</a:t>
            </a:r>
            <a:r>
              <a:rPr lang="en-US" b="0" i="0" dirty="0">
                <a:solidFill>
                  <a:srgbClr val="222222"/>
                </a:solidFill>
                <a:effectLst/>
                <a:highlight>
                  <a:srgbClr val="FFFFFF"/>
                </a:highlight>
                <a:latin typeface="-apple-system"/>
              </a:rPr>
              <a:t>.</a:t>
            </a:r>
          </a:p>
          <a:p>
            <a:pPr algn="l">
              <a:buFont typeface="+mj-lt"/>
              <a:buAutoNum type="arabicPeriod"/>
            </a:pPr>
            <a:r>
              <a:rPr lang="en-US" b="0" i="0" dirty="0">
                <a:solidFill>
                  <a:srgbClr val="222222"/>
                </a:solidFill>
                <a:effectLst/>
                <a:highlight>
                  <a:srgbClr val="FFFFFF"/>
                </a:highlight>
                <a:latin typeface="-apple-system"/>
              </a:rPr>
              <a:t>Internally the </a:t>
            </a:r>
            <a:r>
              <a:rPr lang="en-US" b="0" i="0" dirty="0" err="1">
                <a:solidFill>
                  <a:srgbClr val="222222"/>
                </a:solidFill>
                <a:effectLst/>
                <a:highlight>
                  <a:srgbClr val="FFFFFF"/>
                </a:highlight>
                <a:latin typeface="-apple-system"/>
              </a:rPr>
              <a:t>AuthenticationProvider</a:t>
            </a:r>
            <a:r>
              <a:rPr lang="en-US" b="0" i="0" dirty="0">
                <a:solidFill>
                  <a:srgbClr val="222222"/>
                </a:solidFill>
                <a:effectLst/>
                <a:highlight>
                  <a:srgbClr val="FFFFFF"/>
                </a:highlight>
                <a:latin typeface="-apple-system"/>
              </a:rPr>
              <a:t>  are responsible to perform the authentication process.</a:t>
            </a:r>
          </a:p>
          <a:p>
            <a:pPr algn="l">
              <a:buFont typeface="+mj-lt"/>
              <a:buAutoNum type="arabicPeriod"/>
            </a:pPr>
            <a:r>
              <a:rPr lang="en-US" b="0" i="0" dirty="0" err="1">
                <a:solidFill>
                  <a:srgbClr val="222222"/>
                </a:solidFill>
                <a:effectLst/>
                <a:highlight>
                  <a:srgbClr val="FFFFFF"/>
                </a:highlight>
                <a:latin typeface="-apple-system"/>
              </a:rPr>
              <a:t>ProviderManager</a:t>
            </a:r>
            <a:r>
              <a:rPr lang="en-US" b="0" i="0" dirty="0">
                <a:solidFill>
                  <a:srgbClr val="222222"/>
                </a:solidFill>
                <a:effectLst/>
                <a:highlight>
                  <a:srgbClr val="FFFFFF"/>
                </a:highlight>
                <a:latin typeface="-apple-system"/>
              </a:rPr>
              <a:t> manager is the most commonly used implementation of </a:t>
            </a:r>
            <a:r>
              <a:rPr lang="en-US" b="0" i="0" dirty="0" err="1">
                <a:solidFill>
                  <a:srgbClr val="222222"/>
                </a:solidFill>
                <a:effectLst/>
                <a:highlight>
                  <a:srgbClr val="FFFFFF"/>
                </a:highlight>
                <a:latin typeface="-apple-system"/>
              </a:rPr>
              <a:t>AuthenticationProvider</a:t>
            </a:r>
            <a:r>
              <a:rPr lang="en-US" b="0" i="0" dirty="0">
                <a:solidFill>
                  <a:srgbClr val="222222"/>
                </a:solidFill>
                <a:effectLst/>
                <a:highlight>
                  <a:srgbClr val="FFFFFF"/>
                </a:highlight>
                <a:latin typeface="-apple-system"/>
              </a:rPr>
              <a:t>.</a:t>
            </a:r>
          </a:p>
          <a:p>
            <a:pPr algn="l">
              <a:buFont typeface="+mj-lt"/>
              <a:buAutoNum type="arabicPeriod"/>
            </a:pPr>
            <a:r>
              <a:rPr lang="en-US" b="0" i="0" dirty="0" err="1">
                <a:solidFill>
                  <a:srgbClr val="222222"/>
                </a:solidFill>
                <a:effectLst/>
                <a:highlight>
                  <a:srgbClr val="FFFFFF"/>
                </a:highlight>
                <a:latin typeface="-apple-system"/>
              </a:rPr>
              <a:t>ProviderManager</a:t>
            </a:r>
            <a:r>
              <a:rPr lang="en-US" b="0" i="0" dirty="0">
                <a:solidFill>
                  <a:srgbClr val="222222"/>
                </a:solidFill>
                <a:effectLst/>
                <a:highlight>
                  <a:srgbClr val="FFFFFF"/>
                </a:highlight>
                <a:latin typeface="-apple-system"/>
              </a:rPr>
              <a:t> delegates the request to the list of </a:t>
            </a:r>
            <a:r>
              <a:rPr lang="en-US" b="0" i="0" dirty="0" err="1">
                <a:solidFill>
                  <a:srgbClr val="222222"/>
                </a:solidFill>
                <a:effectLst/>
                <a:highlight>
                  <a:srgbClr val="FFFFFF"/>
                </a:highlight>
                <a:latin typeface="-apple-system"/>
              </a:rPr>
              <a:t>AuthenticationProvider</a:t>
            </a:r>
            <a:r>
              <a:rPr lang="en-US" b="0" i="0" dirty="0">
                <a:solidFill>
                  <a:srgbClr val="222222"/>
                </a:solidFill>
                <a:effectLst/>
                <a:highlight>
                  <a:srgbClr val="FFFFFF"/>
                </a:highlight>
                <a:latin typeface="-apple-system"/>
              </a:rPr>
              <a:t> (We will discuss this in details during this series).</a:t>
            </a:r>
          </a:p>
          <a:p>
            <a:endParaRPr lang="en-US" dirty="0"/>
          </a:p>
        </p:txBody>
      </p:sp>
      <p:sp>
        <p:nvSpPr>
          <p:cNvPr id="4" name="Slide Number Placeholder 3"/>
          <p:cNvSpPr>
            <a:spLocks noGrp="1"/>
          </p:cNvSpPr>
          <p:nvPr>
            <p:ph type="sldNum" sz="quarter" idx="5"/>
          </p:nvPr>
        </p:nvSpPr>
        <p:spPr/>
        <p:txBody>
          <a:bodyPr/>
          <a:lstStyle/>
          <a:p>
            <a:fld id="{09A92A9D-7FFC-4D00-8588-67E6DBAF99A1}" type="slidenum">
              <a:rPr lang="en-US" smtClean="0"/>
              <a:t>26</a:t>
            </a:fld>
            <a:endParaRPr lang="en-US"/>
          </a:p>
        </p:txBody>
      </p:sp>
    </p:spTree>
    <p:extLst>
      <p:ext uri="{BB962C8B-B14F-4D97-AF65-F5344CB8AC3E}">
        <p14:creationId xmlns:p14="http://schemas.microsoft.com/office/powerpoint/2010/main" val="3437365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r">
              <a:defRPr sz="3200" b="1">
                <a:latin typeface="+mn-lt"/>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472440" y="5537199"/>
            <a:ext cx="2743200" cy="365125"/>
          </a:xfrm>
        </p:spPr>
        <p:txBody>
          <a:bodyPr/>
          <a:lstStyle/>
          <a:p>
            <a:fld id="{8C4A06C8-E98E-4283-8386-C64B94A2D01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69ED2-566B-41F2-8D8A-D1DFEFCA0654}" type="slidenum">
              <a:rPr lang="en-US" smtClean="0"/>
              <a:t>‹#›</a:t>
            </a:fld>
            <a:endParaRPr lang="en-US"/>
          </a:p>
        </p:txBody>
      </p:sp>
      <p:pic>
        <p:nvPicPr>
          <p:cNvPr id="7" name="Picture 6">
            <a:extLst>
              <a:ext uri="{FF2B5EF4-FFF2-40B4-BE49-F238E27FC236}">
                <a16:creationId xmlns:a16="http://schemas.microsoft.com/office/drawing/2014/main" id="{8CC5FDD8-50E9-43B3-AAC1-CAF6E6F191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5699" y="381001"/>
            <a:ext cx="2781767" cy="850177"/>
          </a:xfrm>
          <a:prstGeom prst="rect">
            <a:avLst/>
          </a:prstGeom>
        </p:spPr>
      </p:pic>
      <p:sp>
        <p:nvSpPr>
          <p:cNvPr id="8" name="Rectangle 5">
            <a:extLst>
              <a:ext uri="{FF2B5EF4-FFF2-40B4-BE49-F238E27FC236}">
                <a16:creationId xmlns:a16="http://schemas.microsoft.com/office/drawing/2014/main" id="{7FEDF2A8-B6B7-42CA-9A75-EEABECE752FE}"/>
              </a:ext>
            </a:extLst>
          </p:cNvPr>
          <p:cNvSpPr>
            <a:spLocks noChangeArrowheads="1"/>
          </p:cNvSpPr>
          <p:nvPr/>
        </p:nvSpPr>
        <p:spPr bwMode="auto">
          <a:xfrm>
            <a:off x="1" y="6181724"/>
            <a:ext cx="12192000" cy="33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85725" indent="0" algn="l" eaLnBrk="0" hangingPunct="0">
              <a:lnSpc>
                <a:spcPct val="80000"/>
              </a:lnSpc>
            </a:pPr>
            <a:r>
              <a:rPr lang="en-US" altLang="zh-CN" sz="800">
                <a:latin typeface="Century Gothic" pitchFamily="34" charset="0"/>
                <a:ea typeface="宋体" pitchFamily="2" charset="-122"/>
              </a:rPr>
              <a:t>All rights reserved. ‘CrimsonLogic’ and the Shell Device are trade marks of CrimsonLogicPte Ltd. All information contained in this presentation is disclosed to you on the basis of a prospective business relationship and is proprietary to CrimsonLogic Pte Ltd and may not be used, disclosed or reproduced without the prior written consent of CrimsonLogic.</a:t>
            </a:r>
            <a:endParaRPr lang="en-GB" sz="800">
              <a:latin typeface="Century Gothic" pitchFamily="34" charset="0"/>
            </a:endParaRPr>
          </a:p>
          <a:p>
            <a:pPr marL="85725" indent="0" algn="l" eaLnBrk="0" hangingPunct="0">
              <a:lnSpc>
                <a:spcPct val="80000"/>
              </a:lnSpc>
            </a:pPr>
            <a:endParaRPr lang="zh-CN" altLang="en-US" sz="800">
              <a:latin typeface="Century Gothic" pitchFamily="34" charset="0"/>
              <a:ea typeface="宋体" pitchFamily="2" charset="-122"/>
            </a:endParaRPr>
          </a:p>
        </p:txBody>
      </p:sp>
      <p:sp>
        <p:nvSpPr>
          <p:cNvPr id="9" name="Footer Placeholder 3">
            <a:extLst>
              <a:ext uri="{FF2B5EF4-FFF2-40B4-BE49-F238E27FC236}">
                <a16:creationId xmlns:a16="http://schemas.microsoft.com/office/drawing/2014/main" id="{C46E7B7B-8654-44B6-9201-683EBB212A3F}"/>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615504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latin typeface="+mn-lt"/>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69ED2-566B-41F2-8D8A-D1DFEFCA0654}" type="slidenum">
              <a:rPr lang="en-US" smtClean="0"/>
              <a:t>‹#›</a:t>
            </a:fld>
            <a:endParaRPr lang="en-US"/>
          </a:p>
        </p:txBody>
      </p:sp>
      <p:sp>
        <p:nvSpPr>
          <p:cNvPr id="7" name="Rectangle 6">
            <a:extLst>
              <a:ext uri="{FF2B5EF4-FFF2-40B4-BE49-F238E27FC236}">
                <a16:creationId xmlns:a16="http://schemas.microsoft.com/office/drawing/2014/main" id="{BC46F699-31DB-4236-8B07-DC936102A370}"/>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8" name="Footer Placeholder 3">
            <a:extLst>
              <a:ext uri="{FF2B5EF4-FFF2-40B4-BE49-F238E27FC236}">
                <a16:creationId xmlns:a16="http://schemas.microsoft.com/office/drawing/2014/main" id="{FF87D298-B696-4AA9-9BAC-666D836E4A1B}"/>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237035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69ED2-566B-41F2-8D8A-D1DFEFCA0654}" type="slidenum">
              <a:rPr lang="en-US" smtClean="0"/>
              <a:t>‹#›</a:t>
            </a:fld>
            <a:endParaRPr lang="en-US"/>
          </a:p>
        </p:txBody>
      </p:sp>
      <p:sp>
        <p:nvSpPr>
          <p:cNvPr id="7" name="Footer Placeholder 3">
            <a:extLst>
              <a:ext uri="{FF2B5EF4-FFF2-40B4-BE49-F238E27FC236}">
                <a16:creationId xmlns:a16="http://schemas.microsoft.com/office/drawing/2014/main" id="{4F3061C5-EB79-4638-A3E6-24022C465BB1}"/>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3041624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b="1">
                <a:latin typeface="+mn-lt"/>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69ED2-566B-41F2-8D8A-D1DFEFCA0654}" type="slidenum">
              <a:rPr lang="en-US" smtClean="0"/>
              <a:t>‹#›</a:t>
            </a:fld>
            <a:endParaRPr lang="en-US"/>
          </a:p>
        </p:txBody>
      </p:sp>
      <p:sp>
        <p:nvSpPr>
          <p:cNvPr id="8" name="Rectangle 7">
            <a:extLst>
              <a:ext uri="{FF2B5EF4-FFF2-40B4-BE49-F238E27FC236}">
                <a16:creationId xmlns:a16="http://schemas.microsoft.com/office/drawing/2014/main" id="{6B7D6272-91CD-44E7-9F5E-C6DBB7410802}"/>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9" name="Footer Placeholder 3">
            <a:extLst>
              <a:ext uri="{FF2B5EF4-FFF2-40B4-BE49-F238E27FC236}">
                <a16:creationId xmlns:a16="http://schemas.microsoft.com/office/drawing/2014/main" id="{CA97195A-DB64-4031-9226-B63BCEF2CCC7}"/>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3090346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969ED2-566B-41F2-8D8A-D1DFEFCA0654}" type="slidenum">
              <a:rPr lang="en-US" smtClean="0"/>
              <a:t>‹#›</a:t>
            </a:fld>
            <a:endParaRPr lang="en-US"/>
          </a:p>
        </p:txBody>
      </p:sp>
      <p:sp>
        <p:nvSpPr>
          <p:cNvPr id="10" name="Rectangle 9">
            <a:extLst>
              <a:ext uri="{FF2B5EF4-FFF2-40B4-BE49-F238E27FC236}">
                <a16:creationId xmlns:a16="http://schemas.microsoft.com/office/drawing/2014/main" id="{45E6A603-D44D-437A-91AD-A3EA4F9D2129}"/>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1" name="Footer Placeholder 3">
            <a:extLst>
              <a:ext uri="{FF2B5EF4-FFF2-40B4-BE49-F238E27FC236}">
                <a16:creationId xmlns:a16="http://schemas.microsoft.com/office/drawing/2014/main" id="{2A1894E6-82EC-4C70-89DF-6A26FC143A41}"/>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1921000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969ED2-566B-41F2-8D8A-D1DFEFCA0654}" type="slidenum">
              <a:rPr lang="en-US" smtClean="0"/>
              <a:t>‹#›</a:t>
            </a:fld>
            <a:endParaRPr lang="en-US"/>
          </a:p>
        </p:txBody>
      </p:sp>
      <p:sp>
        <p:nvSpPr>
          <p:cNvPr id="6" name="Rectangle 5">
            <a:extLst>
              <a:ext uri="{FF2B5EF4-FFF2-40B4-BE49-F238E27FC236}">
                <a16:creationId xmlns:a16="http://schemas.microsoft.com/office/drawing/2014/main" id="{8C243887-9253-450B-8639-BEE5A04DF7E6}"/>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7" name="Footer Placeholder 3">
            <a:extLst>
              <a:ext uri="{FF2B5EF4-FFF2-40B4-BE49-F238E27FC236}">
                <a16:creationId xmlns:a16="http://schemas.microsoft.com/office/drawing/2014/main" id="{6ED73FB8-837B-4FF5-A056-794180EE6A2D}"/>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11932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94063" y="6038215"/>
            <a:ext cx="2743200" cy="365125"/>
          </a:xfrm>
        </p:spPr>
        <p:txBody>
          <a:bodyPr/>
          <a:lstStyle/>
          <a:p>
            <a:fld id="{8C4A06C8-E98E-4283-8386-C64B94A2D017}"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969ED2-566B-41F2-8D8A-D1DFEFCA0654}" type="slidenum">
              <a:rPr lang="en-US" smtClean="0"/>
              <a:t>‹#›</a:t>
            </a:fld>
            <a:endParaRPr lang="en-US"/>
          </a:p>
        </p:txBody>
      </p:sp>
      <p:sp>
        <p:nvSpPr>
          <p:cNvPr id="5" name="Footer Placeholder 3">
            <a:extLst>
              <a:ext uri="{FF2B5EF4-FFF2-40B4-BE49-F238E27FC236}">
                <a16:creationId xmlns:a16="http://schemas.microsoft.com/office/drawing/2014/main" id="{7ED55F77-C011-41C3-8686-1F01B9C8E602}"/>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803054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4A06C8-E98E-4283-8386-C64B94A2D01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69ED2-566B-41F2-8D8A-D1DFEFCA0654}" type="slidenum">
              <a:rPr lang="en-US" smtClean="0"/>
              <a:t>‹#›</a:t>
            </a:fld>
            <a:endParaRPr lang="en-US"/>
          </a:p>
        </p:txBody>
      </p:sp>
      <p:sp>
        <p:nvSpPr>
          <p:cNvPr id="8" name="Rectangle 7">
            <a:extLst>
              <a:ext uri="{FF2B5EF4-FFF2-40B4-BE49-F238E27FC236}">
                <a16:creationId xmlns:a16="http://schemas.microsoft.com/office/drawing/2014/main" id="{B6771FF5-DF3F-40E7-814A-BBBDA3BD3290}"/>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9" name="Title 1">
            <a:extLst>
              <a:ext uri="{FF2B5EF4-FFF2-40B4-BE49-F238E27FC236}">
                <a16:creationId xmlns:a16="http://schemas.microsoft.com/office/drawing/2014/main" id="{5D0C0B75-7D4D-484B-B333-7C7458D88188}"/>
              </a:ext>
            </a:extLst>
          </p:cNvPr>
          <p:cNvSpPr txBox="1">
            <a:spLocks/>
          </p:cNvSpPr>
          <p:nvPr/>
        </p:nvSpPr>
        <p:spPr>
          <a:xfrm>
            <a:off x="419947" y="151537"/>
            <a:ext cx="11392747" cy="904240"/>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lang="en-US" sz="3600" kern="1200" cap="all" spc="-150" baseline="0" dirty="0">
                <a:solidFill>
                  <a:schemeClr val="tx1">
                    <a:lumMod val="75000"/>
                    <a:lumOff val="25000"/>
                  </a:schemeClr>
                </a:solidFill>
                <a:latin typeface="Century Gothic" panose="020B0502020202020204" pitchFamily="34" charset="0"/>
                <a:ea typeface="+mn-ea"/>
                <a:cs typeface="+mn-cs"/>
              </a:defRPr>
            </a:lvl1pPr>
          </a:lstStyle>
          <a:p>
            <a:r>
              <a:rPr lang="en-US" sz="3600"/>
              <a:t>Click to edit Master title style</a:t>
            </a:r>
          </a:p>
        </p:txBody>
      </p:sp>
    </p:spTree>
    <p:extLst>
      <p:ext uri="{BB962C8B-B14F-4D97-AF65-F5344CB8AC3E}">
        <p14:creationId xmlns:p14="http://schemas.microsoft.com/office/powerpoint/2010/main" val="368409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4A06C8-E98E-4283-8386-C64B94A2D01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69ED2-566B-41F2-8D8A-D1DFEFCA0654}" type="slidenum">
              <a:rPr lang="en-US" smtClean="0"/>
              <a:t>‹#›</a:t>
            </a:fld>
            <a:endParaRPr lang="en-US"/>
          </a:p>
        </p:txBody>
      </p:sp>
      <p:sp>
        <p:nvSpPr>
          <p:cNvPr id="8" name="Rectangle 7">
            <a:extLst>
              <a:ext uri="{FF2B5EF4-FFF2-40B4-BE49-F238E27FC236}">
                <a16:creationId xmlns:a16="http://schemas.microsoft.com/office/drawing/2014/main" id="{E8396DF0-03C2-49D4-9DD1-DAC0BFE4AE16}"/>
              </a:ext>
            </a:extLst>
          </p:cNvPr>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9" name="Title 1">
            <a:extLst>
              <a:ext uri="{FF2B5EF4-FFF2-40B4-BE49-F238E27FC236}">
                <a16:creationId xmlns:a16="http://schemas.microsoft.com/office/drawing/2014/main" id="{2A8EB0AD-2C21-4E84-90DF-7B657820D652}"/>
              </a:ext>
            </a:extLst>
          </p:cNvPr>
          <p:cNvSpPr txBox="1">
            <a:spLocks/>
          </p:cNvSpPr>
          <p:nvPr/>
        </p:nvSpPr>
        <p:spPr>
          <a:xfrm>
            <a:off x="419947" y="151537"/>
            <a:ext cx="11392747" cy="904240"/>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lang="en-US" sz="3600" kern="1200" cap="all" spc="-150" baseline="0" dirty="0">
                <a:solidFill>
                  <a:schemeClr val="tx1">
                    <a:lumMod val="75000"/>
                    <a:lumOff val="25000"/>
                  </a:schemeClr>
                </a:solidFill>
                <a:latin typeface="Century Gothic" panose="020B0502020202020204" pitchFamily="34" charset="0"/>
                <a:ea typeface="+mn-ea"/>
                <a:cs typeface="+mn-cs"/>
              </a:defRPr>
            </a:lvl1pPr>
          </a:lstStyle>
          <a:p>
            <a:r>
              <a:rPr lang="en-US" sz="3600"/>
              <a:t>Click to edit Master title style</a:t>
            </a:r>
          </a:p>
        </p:txBody>
      </p:sp>
    </p:spTree>
    <p:extLst>
      <p:ext uri="{BB962C8B-B14F-4D97-AF65-F5344CB8AC3E}">
        <p14:creationId xmlns:p14="http://schemas.microsoft.com/office/powerpoint/2010/main" val="3840134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4A06C8-E98E-4283-8386-C64B94A2D01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69ED2-566B-41F2-8D8A-D1DFEFCA0654}" type="slidenum">
              <a:rPr lang="en-US" smtClean="0"/>
              <a:t>‹#›</a:t>
            </a:fld>
            <a:endParaRPr lang="en-US"/>
          </a:p>
        </p:txBody>
      </p:sp>
    </p:spTree>
    <p:extLst>
      <p:ext uri="{BB962C8B-B14F-4D97-AF65-F5344CB8AC3E}">
        <p14:creationId xmlns:p14="http://schemas.microsoft.com/office/powerpoint/2010/main" val="120597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4A06C8-E98E-4283-8386-C64B94A2D01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69ED2-566B-41F2-8D8A-D1DFEFCA0654}" type="slidenum">
              <a:rPr lang="en-US" smtClean="0"/>
              <a:t>‹#›</a:t>
            </a:fld>
            <a:endParaRPr lang="en-US"/>
          </a:p>
        </p:txBody>
      </p:sp>
    </p:spTree>
    <p:extLst>
      <p:ext uri="{BB962C8B-B14F-4D97-AF65-F5344CB8AC3E}">
        <p14:creationId xmlns:p14="http://schemas.microsoft.com/office/powerpoint/2010/main" val="1775019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7969ED2-566B-41F2-8D8A-D1DFEFCA0654}" type="slidenum">
              <a:rPr lang="en-US" smtClean="0"/>
              <a:t>‹#›</a:t>
            </a:fld>
            <a:endParaRPr lang="en-US"/>
          </a:p>
        </p:txBody>
      </p:sp>
      <p:sp>
        <p:nvSpPr>
          <p:cNvPr id="4" name="Picture Placeholder 27"/>
          <p:cNvSpPr>
            <a:spLocks noGrp="1"/>
          </p:cNvSpPr>
          <p:nvPr>
            <p:ph type="pic" sz="quarter" idx="17"/>
          </p:nvPr>
        </p:nvSpPr>
        <p:spPr>
          <a:xfrm>
            <a:off x="622300" y="3429000"/>
            <a:ext cx="2584704" cy="1645920"/>
          </a:xfrm>
          <a:prstGeom prst="rect">
            <a:avLst/>
          </a:prstGeom>
        </p:spPr>
        <p:txBody>
          <a:bodyPr/>
          <a:lstStyle>
            <a:lvl1pPr marL="180975" indent="-180975">
              <a:defRPr sz="1800"/>
            </a:lvl1pPr>
          </a:lstStyle>
          <a:p>
            <a:r>
              <a:rPr lang="en-US"/>
              <a:t>Click icon to add picture</a:t>
            </a:r>
          </a:p>
        </p:txBody>
      </p:sp>
      <p:sp>
        <p:nvSpPr>
          <p:cNvPr id="5" name="Picture Placeholder 27"/>
          <p:cNvSpPr>
            <a:spLocks noGrp="1"/>
          </p:cNvSpPr>
          <p:nvPr>
            <p:ph type="pic" sz="quarter" idx="18"/>
          </p:nvPr>
        </p:nvSpPr>
        <p:spPr>
          <a:xfrm>
            <a:off x="3414099" y="3429001"/>
            <a:ext cx="2584704" cy="1645921"/>
          </a:xfrm>
          <a:prstGeom prst="rect">
            <a:avLst/>
          </a:prstGeom>
        </p:spPr>
        <p:txBody>
          <a:bodyPr/>
          <a:lstStyle>
            <a:lvl1pPr marL="180975" indent="-180975">
              <a:defRPr sz="1800"/>
            </a:lvl1pPr>
          </a:lstStyle>
          <a:p>
            <a:r>
              <a:rPr lang="en-US"/>
              <a:t>Click icon to add picture</a:t>
            </a:r>
          </a:p>
        </p:txBody>
      </p:sp>
      <p:sp>
        <p:nvSpPr>
          <p:cNvPr id="6" name="Picture Placeholder 27"/>
          <p:cNvSpPr>
            <a:spLocks noGrp="1"/>
          </p:cNvSpPr>
          <p:nvPr>
            <p:ph type="pic" sz="quarter" idx="19"/>
          </p:nvPr>
        </p:nvSpPr>
        <p:spPr>
          <a:xfrm>
            <a:off x="6205897" y="3429000"/>
            <a:ext cx="2584704" cy="1645920"/>
          </a:xfrm>
          <a:prstGeom prst="rect">
            <a:avLst/>
          </a:prstGeom>
        </p:spPr>
        <p:txBody>
          <a:bodyPr/>
          <a:lstStyle>
            <a:lvl1pPr marL="180975" indent="-180975">
              <a:defRPr sz="1800"/>
            </a:lvl1pPr>
          </a:lstStyle>
          <a:p>
            <a:r>
              <a:rPr lang="en-US"/>
              <a:t>Click icon to add picture</a:t>
            </a:r>
          </a:p>
        </p:txBody>
      </p:sp>
      <p:sp>
        <p:nvSpPr>
          <p:cNvPr id="7" name="Picture Placeholder 27"/>
          <p:cNvSpPr>
            <a:spLocks noGrp="1"/>
          </p:cNvSpPr>
          <p:nvPr>
            <p:ph type="pic" sz="quarter" idx="20"/>
          </p:nvPr>
        </p:nvSpPr>
        <p:spPr>
          <a:xfrm>
            <a:off x="8997696" y="3429000"/>
            <a:ext cx="2584704" cy="1645920"/>
          </a:xfrm>
          <a:prstGeom prst="rect">
            <a:avLst/>
          </a:prstGeom>
        </p:spPr>
        <p:txBody>
          <a:bodyPr/>
          <a:lstStyle>
            <a:lvl1pPr marL="180975" indent="-180975">
              <a:defRPr sz="1800"/>
            </a:lvl1pPr>
          </a:lstStyle>
          <a:p>
            <a:r>
              <a:rPr lang="en-US"/>
              <a:t>Click icon to add picture</a:t>
            </a:r>
          </a:p>
        </p:txBody>
      </p:sp>
      <p:sp>
        <p:nvSpPr>
          <p:cNvPr id="8" name="Text Placeholder 22"/>
          <p:cNvSpPr>
            <a:spLocks noGrp="1"/>
          </p:cNvSpPr>
          <p:nvPr>
            <p:ph type="body" sz="quarter" idx="21" hasCustomPrompt="1"/>
          </p:nvPr>
        </p:nvSpPr>
        <p:spPr>
          <a:xfrm>
            <a:off x="622300" y="1630680"/>
            <a:ext cx="2584704" cy="1645920"/>
          </a:xfrm>
          <a:prstGeom prst="rect">
            <a:avLst/>
          </a:prstGeom>
          <a:solidFill>
            <a:srgbClr val="C9A648"/>
          </a:solidFill>
        </p:spPr>
        <p:txBody>
          <a:bodyPr anchor="ctr">
            <a:normAutofit/>
          </a:bodyPr>
          <a:lstStyle>
            <a:lvl1pPr marL="0" indent="0" algn="l">
              <a:lnSpc>
                <a:spcPts val="1800"/>
              </a:lnSpc>
              <a:buNone/>
              <a:defRPr sz="2000">
                <a:solidFill>
                  <a:schemeClr val="bg1"/>
                </a:solidFill>
              </a:defRPr>
            </a:lvl1pPr>
          </a:lstStyle>
          <a:p>
            <a:r>
              <a:rPr lang="en-US" sz="2000">
                <a:latin typeface="Century Gothic" pitchFamily="34" charset="0"/>
              </a:rPr>
              <a:t>About Us</a:t>
            </a:r>
          </a:p>
        </p:txBody>
      </p:sp>
      <p:sp>
        <p:nvSpPr>
          <p:cNvPr id="9" name="Text Placeholder 22"/>
          <p:cNvSpPr>
            <a:spLocks noGrp="1"/>
          </p:cNvSpPr>
          <p:nvPr>
            <p:ph type="body" sz="quarter" idx="22" hasCustomPrompt="1"/>
          </p:nvPr>
        </p:nvSpPr>
        <p:spPr>
          <a:xfrm>
            <a:off x="3403600" y="1630680"/>
            <a:ext cx="2584704" cy="1645920"/>
          </a:xfrm>
          <a:prstGeom prst="rect">
            <a:avLst/>
          </a:prstGeom>
          <a:solidFill>
            <a:srgbClr val="9FB236"/>
          </a:solidFill>
        </p:spPr>
        <p:txBody>
          <a:bodyPr anchor="ctr">
            <a:normAutofit/>
          </a:bodyPr>
          <a:lstStyle>
            <a:lvl1pPr marL="0" indent="0" algn="l">
              <a:lnSpc>
                <a:spcPts val="1800"/>
              </a:lnSpc>
              <a:buNone/>
              <a:defRPr sz="2000">
                <a:solidFill>
                  <a:schemeClr val="bg1"/>
                </a:solidFill>
              </a:defRPr>
            </a:lvl1pPr>
          </a:lstStyle>
          <a:p>
            <a:r>
              <a:rPr lang="en-US"/>
              <a:t>Our</a:t>
            </a:r>
            <a:br>
              <a:rPr lang="en-US"/>
            </a:br>
            <a:r>
              <a:rPr lang="en-US"/>
              <a:t>Methodology</a:t>
            </a:r>
          </a:p>
        </p:txBody>
      </p:sp>
      <p:sp>
        <p:nvSpPr>
          <p:cNvPr id="10" name="Text Placeholder 22"/>
          <p:cNvSpPr>
            <a:spLocks noGrp="1"/>
          </p:cNvSpPr>
          <p:nvPr>
            <p:ph type="body" sz="quarter" idx="23" hasCustomPrompt="1"/>
          </p:nvPr>
        </p:nvSpPr>
        <p:spPr>
          <a:xfrm>
            <a:off x="6197600" y="1630680"/>
            <a:ext cx="2584704" cy="1645920"/>
          </a:xfrm>
          <a:prstGeom prst="rect">
            <a:avLst/>
          </a:prstGeom>
          <a:solidFill>
            <a:srgbClr val="70A7C4"/>
          </a:solidFill>
        </p:spPr>
        <p:txBody>
          <a:bodyPr anchor="ctr">
            <a:normAutofit/>
          </a:bodyPr>
          <a:lstStyle>
            <a:lvl1pPr marL="0" marR="0" indent="0" algn="l" defTabSz="914400" rtl="0" eaLnBrk="1" fontAlgn="auto" latinLnBrk="0" hangingPunct="1">
              <a:lnSpc>
                <a:spcPts val="1800"/>
              </a:lnSpc>
              <a:spcBef>
                <a:spcPct val="20000"/>
              </a:spcBef>
              <a:spcAft>
                <a:spcPts val="0"/>
              </a:spcAft>
              <a:buClrTx/>
              <a:buSzTx/>
              <a:buFont typeface="Arial" pitchFamily="34" charset="0"/>
              <a:buNone/>
              <a:tabLst/>
              <a:defRPr sz="2000">
                <a:solidFill>
                  <a:schemeClr val="bg1"/>
                </a:solidFill>
              </a:defRPr>
            </a:lvl1pPr>
          </a:lstStyle>
          <a:p>
            <a:r>
              <a:rPr lang="en-US"/>
              <a:t>Our Success</a:t>
            </a:r>
            <a:br>
              <a:rPr lang="en-US"/>
            </a:br>
            <a:r>
              <a:rPr lang="en-US"/>
              <a:t>Stories</a:t>
            </a:r>
          </a:p>
        </p:txBody>
      </p:sp>
      <p:sp>
        <p:nvSpPr>
          <p:cNvPr id="11" name="Text Placeholder 22"/>
          <p:cNvSpPr>
            <a:spLocks noGrp="1"/>
          </p:cNvSpPr>
          <p:nvPr>
            <p:ph type="body" sz="quarter" idx="24" hasCustomPrompt="1"/>
          </p:nvPr>
        </p:nvSpPr>
        <p:spPr>
          <a:xfrm>
            <a:off x="8978900" y="1630680"/>
            <a:ext cx="2584704" cy="1645920"/>
          </a:xfrm>
          <a:prstGeom prst="rect">
            <a:avLst/>
          </a:prstGeom>
          <a:solidFill>
            <a:srgbClr val="AC90BC"/>
          </a:solidFill>
        </p:spPr>
        <p:txBody>
          <a:bodyPr anchor="ctr">
            <a:normAutofit/>
          </a:bodyPr>
          <a:lstStyle>
            <a:lvl1pPr marL="0" marR="0" indent="0" algn="l" defTabSz="914400" rtl="0" eaLnBrk="1" fontAlgn="auto" latinLnBrk="0" hangingPunct="1">
              <a:lnSpc>
                <a:spcPts val="1800"/>
              </a:lnSpc>
              <a:spcBef>
                <a:spcPct val="20000"/>
              </a:spcBef>
              <a:spcAft>
                <a:spcPts val="0"/>
              </a:spcAft>
              <a:buClrTx/>
              <a:buSzTx/>
              <a:buFont typeface="Arial" pitchFamily="34" charset="0"/>
              <a:buNone/>
              <a:tabLst/>
              <a:defRPr sz="2000" b="0">
                <a:solidFill>
                  <a:schemeClr val="bg1"/>
                </a:solidFill>
              </a:defRPr>
            </a:lvl1pPr>
          </a:lstStyle>
          <a:p>
            <a:r>
              <a:rPr lang="en-US"/>
              <a:t>Our Value</a:t>
            </a:r>
            <a:br>
              <a:rPr lang="en-US"/>
            </a:br>
            <a:r>
              <a:rPr lang="en-US"/>
              <a:t>Proposition</a:t>
            </a:r>
          </a:p>
        </p:txBody>
      </p:sp>
      <p:sp>
        <p:nvSpPr>
          <p:cNvPr id="13" name="Rectangle 12"/>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4" name="Title 1"/>
          <p:cNvSpPr>
            <a:spLocks noGrp="1"/>
          </p:cNvSpPr>
          <p:nvPr>
            <p:ph type="title" hasCustomPrompt="1"/>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Agenda</a:t>
            </a:r>
          </a:p>
        </p:txBody>
      </p:sp>
    </p:spTree>
    <p:extLst>
      <p:ext uri="{BB962C8B-B14F-4D97-AF65-F5344CB8AC3E}">
        <p14:creationId xmlns:p14="http://schemas.microsoft.com/office/powerpoint/2010/main" val="4039233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Layout - 2">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7969ED2-566B-41F2-8D8A-D1DFEFCA0654}" type="slidenum">
              <a:rPr lang="en-US" smtClean="0"/>
              <a:t>‹#›</a:t>
            </a:fld>
            <a:endParaRPr lang="en-US"/>
          </a:p>
        </p:txBody>
      </p:sp>
      <p:sp>
        <p:nvSpPr>
          <p:cNvPr id="8" name="Rectangle 7"/>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9" name="Text Placeholder 22"/>
          <p:cNvSpPr>
            <a:spLocks noGrp="1"/>
          </p:cNvSpPr>
          <p:nvPr>
            <p:ph type="body" sz="quarter" idx="21" hasCustomPrompt="1"/>
          </p:nvPr>
        </p:nvSpPr>
        <p:spPr>
          <a:xfrm>
            <a:off x="622300" y="163068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Agenda1</a:t>
            </a:r>
          </a:p>
        </p:txBody>
      </p:sp>
      <p:sp>
        <p:nvSpPr>
          <p:cNvPr id="10" name="Text Placeholder 22"/>
          <p:cNvSpPr>
            <a:spLocks noGrp="1"/>
          </p:cNvSpPr>
          <p:nvPr>
            <p:ph type="body" sz="quarter" idx="22" hasCustomPrompt="1"/>
          </p:nvPr>
        </p:nvSpPr>
        <p:spPr>
          <a:xfrm>
            <a:off x="3403600" y="163068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Agenda2</a:t>
            </a:r>
          </a:p>
        </p:txBody>
      </p:sp>
      <p:sp>
        <p:nvSpPr>
          <p:cNvPr id="11" name="Text Placeholder 22"/>
          <p:cNvSpPr>
            <a:spLocks noGrp="1"/>
          </p:cNvSpPr>
          <p:nvPr>
            <p:ph type="body" sz="quarter" idx="23" hasCustomPrompt="1"/>
          </p:nvPr>
        </p:nvSpPr>
        <p:spPr>
          <a:xfrm>
            <a:off x="6197600" y="163068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Agenda3</a:t>
            </a:r>
          </a:p>
        </p:txBody>
      </p:sp>
      <p:sp>
        <p:nvSpPr>
          <p:cNvPr id="12" name="Text Placeholder 22"/>
          <p:cNvSpPr>
            <a:spLocks noGrp="1"/>
          </p:cNvSpPr>
          <p:nvPr>
            <p:ph type="body" sz="quarter" idx="24" hasCustomPrompt="1"/>
          </p:nvPr>
        </p:nvSpPr>
        <p:spPr>
          <a:xfrm>
            <a:off x="8978900" y="163068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Agenda3</a:t>
            </a:r>
          </a:p>
        </p:txBody>
      </p:sp>
      <p:sp>
        <p:nvSpPr>
          <p:cNvPr id="13" name="Text Placeholder 22"/>
          <p:cNvSpPr>
            <a:spLocks noGrp="1"/>
          </p:cNvSpPr>
          <p:nvPr>
            <p:ph type="body" sz="quarter" idx="25" hasCustomPrompt="1"/>
          </p:nvPr>
        </p:nvSpPr>
        <p:spPr>
          <a:xfrm>
            <a:off x="622300" y="342900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Agenda4</a:t>
            </a:r>
          </a:p>
        </p:txBody>
      </p:sp>
      <p:sp>
        <p:nvSpPr>
          <p:cNvPr id="14" name="Text Placeholder 22"/>
          <p:cNvSpPr>
            <a:spLocks noGrp="1"/>
          </p:cNvSpPr>
          <p:nvPr>
            <p:ph type="body" sz="quarter" idx="26" hasCustomPrompt="1"/>
          </p:nvPr>
        </p:nvSpPr>
        <p:spPr>
          <a:xfrm>
            <a:off x="3403600" y="342900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Agenda5</a:t>
            </a:r>
          </a:p>
        </p:txBody>
      </p:sp>
      <p:sp>
        <p:nvSpPr>
          <p:cNvPr id="15" name="Text Placeholder 22"/>
          <p:cNvSpPr>
            <a:spLocks noGrp="1"/>
          </p:cNvSpPr>
          <p:nvPr>
            <p:ph type="body" sz="quarter" idx="27" hasCustomPrompt="1"/>
          </p:nvPr>
        </p:nvSpPr>
        <p:spPr>
          <a:xfrm>
            <a:off x="6197600" y="342900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Agenda6</a:t>
            </a:r>
          </a:p>
        </p:txBody>
      </p:sp>
      <p:sp>
        <p:nvSpPr>
          <p:cNvPr id="16" name="Text Placeholder 22"/>
          <p:cNvSpPr>
            <a:spLocks noGrp="1"/>
          </p:cNvSpPr>
          <p:nvPr>
            <p:ph type="body" sz="quarter" idx="28" hasCustomPrompt="1"/>
          </p:nvPr>
        </p:nvSpPr>
        <p:spPr>
          <a:xfrm>
            <a:off x="8978900" y="3429000"/>
            <a:ext cx="2584704" cy="1645920"/>
          </a:xfrm>
          <a:prstGeom prst="rect">
            <a:avLst/>
          </a:prstGeom>
          <a:solidFill>
            <a:srgbClr val="333333"/>
          </a:solidFill>
        </p:spPr>
        <p:txBody>
          <a:bodyPr anchor="ctr">
            <a:normAutofit/>
          </a:bodyPr>
          <a:lstStyle>
            <a:lvl1pPr marL="0" indent="0" algn="l">
              <a:lnSpc>
                <a:spcPts val="1800"/>
              </a:lnSpc>
              <a:buNone/>
              <a:defRPr sz="2000">
                <a:solidFill>
                  <a:schemeClr val="bg1"/>
                </a:solidFill>
              </a:defRPr>
            </a:lvl1pPr>
          </a:lstStyle>
          <a:p>
            <a:pPr lvl="0"/>
            <a:r>
              <a:rPr lang="en-US"/>
              <a:t>Agenda7</a:t>
            </a:r>
          </a:p>
        </p:txBody>
      </p:sp>
      <p:sp>
        <p:nvSpPr>
          <p:cNvPr id="17" name="Title 1"/>
          <p:cNvSpPr>
            <a:spLocks noGrp="1"/>
          </p:cNvSpPr>
          <p:nvPr>
            <p:ph type="title" hasCustomPrompt="1"/>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Agenda</a:t>
            </a:r>
          </a:p>
        </p:txBody>
      </p:sp>
    </p:spTree>
    <p:extLst>
      <p:ext uri="{BB962C8B-B14F-4D97-AF65-F5344CB8AC3E}">
        <p14:creationId xmlns:p14="http://schemas.microsoft.com/office/powerpoint/2010/main" val="138327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947" y="1709740"/>
            <a:ext cx="11347451" cy="2852737"/>
          </a:xfrm>
        </p:spPr>
        <p:txBody>
          <a:bodyPr anchor="ctr">
            <a:noAutofit/>
          </a:bodyPr>
          <a:lstStyle>
            <a:lvl1pPr>
              <a:defRPr lang="en-US" sz="6000" dirty="0">
                <a:solidFill>
                  <a:schemeClr val="tx1">
                    <a:lumMod val="75000"/>
                    <a:lumOff val="25000"/>
                  </a:schemeClr>
                </a:solidFill>
                <a:latin typeface="Century Gothic" pitchFamily="34" charset="0"/>
                <a:ea typeface="+mn-ea"/>
                <a:cs typeface="+mn-cs"/>
              </a:defRPr>
            </a:lvl1pPr>
          </a:lstStyle>
          <a:p>
            <a:pPr lvl="0"/>
            <a:r>
              <a:rPr lang="en-US"/>
              <a:t>Title Heading</a:t>
            </a:r>
          </a:p>
        </p:txBody>
      </p:sp>
      <p:sp>
        <p:nvSpPr>
          <p:cNvPr id="10" name="Slide Number Placeholder 9"/>
          <p:cNvSpPr>
            <a:spLocks noGrp="1"/>
          </p:cNvSpPr>
          <p:nvPr>
            <p:ph type="sldNum" sz="quarter" idx="10"/>
          </p:nvPr>
        </p:nvSpPr>
        <p:spPr/>
        <p:txBody>
          <a:bodyPr/>
          <a:lstStyle/>
          <a:p>
            <a:fld id="{37969ED2-566B-41F2-8D8A-D1DFEFCA0654}" type="slidenum">
              <a:rPr lang="en-US" smtClean="0"/>
              <a:t>‹#›</a:t>
            </a:fld>
            <a:endParaRPr lang="en-US"/>
          </a:p>
        </p:txBody>
      </p:sp>
    </p:spTree>
    <p:extLst>
      <p:ext uri="{BB962C8B-B14F-4D97-AF65-F5344CB8AC3E}">
        <p14:creationId xmlns:p14="http://schemas.microsoft.com/office/powerpoint/2010/main" val="27809908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19947" y="1076960"/>
            <a:ext cx="5599853" cy="5242560"/>
          </a:xfrm>
          <a:prstGeom prst="rect">
            <a:avLst/>
          </a:prstGeom>
        </p:spPr>
        <p:txBody>
          <a:bodyPr/>
          <a:lstStyle>
            <a:lvl1pPr>
              <a:defRPr sz="1800">
                <a:solidFill>
                  <a:schemeClr val="tx1">
                    <a:lumMod val="75000"/>
                    <a:lumOff val="25000"/>
                  </a:schemeClr>
                </a:solidFill>
                <a:latin typeface="Century Gothic" panose="020B0502020202020204" pitchFamily="34" charset="0"/>
              </a:defRPr>
            </a:lvl1pPr>
            <a:lvl2pPr>
              <a:defRPr sz="1700">
                <a:solidFill>
                  <a:schemeClr val="tx1">
                    <a:lumMod val="75000"/>
                    <a:lumOff val="25000"/>
                  </a:schemeClr>
                </a:solidFill>
                <a:latin typeface="Century Gothic" panose="020B0502020202020204" pitchFamily="34" charset="0"/>
              </a:defRPr>
            </a:lvl2pPr>
            <a:lvl3pPr>
              <a:defRPr sz="1600">
                <a:solidFill>
                  <a:schemeClr val="tx1">
                    <a:lumMod val="75000"/>
                    <a:lumOff val="25000"/>
                  </a:schemeClr>
                </a:solidFill>
                <a:latin typeface="Century Gothic" panose="020B0502020202020204" pitchFamily="34" charset="0"/>
              </a:defRPr>
            </a:lvl3pPr>
            <a:lvl4pPr>
              <a:defRPr sz="1500">
                <a:solidFill>
                  <a:schemeClr val="tx1">
                    <a:lumMod val="75000"/>
                    <a:lumOff val="25000"/>
                  </a:schemeClr>
                </a:solidFill>
                <a:latin typeface="Century Gothic" panose="020B0502020202020204" pitchFamily="34" charset="0"/>
              </a:defRPr>
            </a:lvl4pPr>
            <a:lvl5pPr>
              <a:defRPr sz="1400">
                <a:solidFill>
                  <a:schemeClr val="tx1">
                    <a:lumMod val="75000"/>
                    <a:lumOff val="25000"/>
                  </a:schemeClr>
                </a:solidFill>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6960"/>
            <a:ext cx="5595197" cy="5242560"/>
          </a:xfrm>
          <a:prstGeom prst="rect">
            <a:avLst/>
          </a:prstGeom>
        </p:spPr>
        <p:txBody>
          <a:bodyPr/>
          <a:lstStyle>
            <a:lvl1pPr>
              <a:defRPr sz="1800">
                <a:solidFill>
                  <a:schemeClr val="tx1">
                    <a:lumMod val="75000"/>
                    <a:lumOff val="25000"/>
                  </a:schemeClr>
                </a:solidFill>
                <a:latin typeface="Century Gothic" panose="020B0502020202020204" pitchFamily="34" charset="0"/>
              </a:defRPr>
            </a:lvl1pPr>
            <a:lvl2pPr>
              <a:defRPr sz="1700">
                <a:solidFill>
                  <a:schemeClr val="tx1">
                    <a:lumMod val="75000"/>
                    <a:lumOff val="25000"/>
                  </a:schemeClr>
                </a:solidFill>
                <a:latin typeface="Century Gothic" panose="020B0502020202020204" pitchFamily="34" charset="0"/>
              </a:defRPr>
            </a:lvl2pPr>
            <a:lvl3pPr>
              <a:defRPr sz="1600">
                <a:solidFill>
                  <a:schemeClr val="tx1">
                    <a:lumMod val="75000"/>
                    <a:lumOff val="25000"/>
                  </a:schemeClr>
                </a:solidFill>
                <a:latin typeface="Century Gothic" panose="020B0502020202020204" pitchFamily="34" charset="0"/>
              </a:defRPr>
            </a:lvl3pPr>
            <a:lvl4pPr>
              <a:defRPr sz="1500">
                <a:solidFill>
                  <a:schemeClr val="tx1">
                    <a:lumMod val="75000"/>
                    <a:lumOff val="25000"/>
                  </a:schemeClr>
                </a:solidFill>
                <a:latin typeface="Century Gothic" panose="020B0502020202020204" pitchFamily="34" charset="0"/>
              </a:defRPr>
            </a:lvl4pPr>
            <a:lvl5pPr>
              <a:defRPr sz="1400">
                <a:solidFill>
                  <a:schemeClr val="tx1">
                    <a:lumMod val="75000"/>
                    <a:lumOff val="25000"/>
                  </a:schemeClr>
                </a:solidFill>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7"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1132171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19947" y="1018857"/>
            <a:ext cx="5577629" cy="823912"/>
          </a:xfrm>
          <a:prstGeom prst="rect">
            <a:avLst/>
          </a:prstGeom>
        </p:spPr>
        <p:txBody>
          <a:bodyPr anchor="b"/>
          <a:lstStyle>
            <a:lvl1pPr marL="0" indent="0">
              <a:buNone/>
              <a:defRPr sz="2400" b="0">
                <a:solidFill>
                  <a:schemeClr val="tx1">
                    <a:lumMod val="75000"/>
                    <a:lumOff val="25000"/>
                  </a:schemeClr>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19947" y="1842769"/>
            <a:ext cx="5577629" cy="4517391"/>
          </a:xfrm>
          <a:prstGeom prst="rect">
            <a:avLst/>
          </a:prstGeom>
        </p:spPr>
        <p:txBody>
          <a:bodyPr/>
          <a:lstStyle>
            <a:lvl1pPr>
              <a:defRPr sz="1800">
                <a:solidFill>
                  <a:schemeClr val="tx1">
                    <a:lumMod val="75000"/>
                    <a:lumOff val="25000"/>
                  </a:schemeClr>
                </a:solidFill>
                <a:latin typeface="Century Gothic" panose="020B0502020202020204" pitchFamily="34" charset="0"/>
              </a:defRPr>
            </a:lvl1pPr>
            <a:lvl2pPr>
              <a:defRPr sz="1700">
                <a:solidFill>
                  <a:schemeClr val="tx1">
                    <a:lumMod val="75000"/>
                    <a:lumOff val="25000"/>
                  </a:schemeClr>
                </a:solidFill>
                <a:latin typeface="Century Gothic" panose="020B0502020202020204" pitchFamily="34" charset="0"/>
              </a:defRPr>
            </a:lvl2pPr>
            <a:lvl3pPr>
              <a:defRPr sz="1600">
                <a:solidFill>
                  <a:schemeClr val="tx1">
                    <a:lumMod val="75000"/>
                    <a:lumOff val="25000"/>
                  </a:schemeClr>
                </a:solidFill>
                <a:latin typeface="Century Gothic" panose="020B0502020202020204" pitchFamily="34" charset="0"/>
              </a:defRPr>
            </a:lvl3pPr>
            <a:lvl4pPr>
              <a:defRPr sz="1500">
                <a:solidFill>
                  <a:schemeClr val="tx1">
                    <a:lumMod val="75000"/>
                    <a:lumOff val="25000"/>
                  </a:schemeClr>
                </a:solidFill>
                <a:latin typeface="Century Gothic" panose="020B0502020202020204" pitchFamily="34" charset="0"/>
              </a:defRPr>
            </a:lvl4pPr>
            <a:lvl5pPr>
              <a:defRPr sz="1400">
                <a:solidFill>
                  <a:schemeClr val="tx1">
                    <a:lumMod val="75000"/>
                    <a:lumOff val="25000"/>
                  </a:schemeClr>
                </a:solidFill>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018857"/>
            <a:ext cx="5595197" cy="823912"/>
          </a:xfrm>
          <a:prstGeom prst="rect">
            <a:avLst/>
          </a:prstGeom>
        </p:spPr>
        <p:txBody>
          <a:bodyPr anchor="b"/>
          <a:lstStyle>
            <a:lvl1pPr marL="0" indent="0">
              <a:buNone/>
              <a:defRPr sz="2400" b="0">
                <a:solidFill>
                  <a:schemeClr val="tx1">
                    <a:lumMod val="75000"/>
                    <a:lumOff val="25000"/>
                  </a:schemeClr>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842769"/>
            <a:ext cx="5595197" cy="4517391"/>
          </a:xfrm>
          <a:prstGeom prst="rect">
            <a:avLst/>
          </a:prstGeom>
        </p:spPr>
        <p:txBody>
          <a:bodyPr/>
          <a:lstStyle>
            <a:lvl1pPr>
              <a:defRPr sz="1800">
                <a:solidFill>
                  <a:schemeClr val="tx1">
                    <a:lumMod val="75000"/>
                    <a:lumOff val="25000"/>
                  </a:schemeClr>
                </a:solidFill>
                <a:latin typeface="Century Gothic" panose="020B0502020202020204" pitchFamily="34" charset="0"/>
              </a:defRPr>
            </a:lvl1pPr>
            <a:lvl2pPr>
              <a:defRPr sz="1700">
                <a:solidFill>
                  <a:schemeClr val="tx1">
                    <a:lumMod val="75000"/>
                    <a:lumOff val="25000"/>
                  </a:schemeClr>
                </a:solidFill>
                <a:latin typeface="Century Gothic" panose="020B0502020202020204" pitchFamily="34" charset="0"/>
              </a:defRPr>
            </a:lvl2pPr>
            <a:lvl3pPr>
              <a:defRPr sz="1600">
                <a:solidFill>
                  <a:schemeClr val="tx1">
                    <a:lumMod val="75000"/>
                    <a:lumOff val="25000"/>
                  </a:schemeClr>
                </a:solidFill>
                <a:latin typeface="Century Gothic" panose="020B0502020202020204" pitchFamily="34" charset="0"/>
              </a:defRPr>
            </a:lvl3pPr>
            <a:lvl4pPr>
              <a:defRPr sz="1500">
                <a:solidFill>
                  <a:schemeClr val="tx1">
                    <a:lumMod val="75000"/>
                    <a:lumOff val="25000"/>
                  </a:schemeClr>
                </a:solidFill>
                <a:latin typeface="Century Gothic" panose="020B0502020202020204" pitchFamily="34" charset="0"/>
              </a:defRPr>
            </a:lvl4pPr>
            <a:lvl5pPr>
              <a:defRPr sz="1400">
                <a:solidFill>
                  <a:schemeClr val="tx1">
                    <a:lumMod val="75000"/>
                    <a:lumOff val="25000"/>
                  </a:schemeClr>
                </a:solidFill>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5" name="Slide Number Placeholder 5"/>
          <p:cNvSpPr>
            <a:spLocks noGrp="1"/>
          </p:cNvSpPr>
          <p:nvPr>
            <p:ph type="sldNum" sz="quarter" idx="10"/>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9"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1620086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with Content">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19947" y="1099186"/>
            <a:ext cx="11392747" cy="5169534"/>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Rectangle 8"/>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6"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
        <p:nvSpPr>
          <p:cNvPr id="7" name="Footer Placeholder 3">
            <a:extLst>
              <a:ext uri="{FF2B5EF4-FFF2-40B4-BE49-F238E27FC236}">
                <a16:creationId xmlns:a16="http://schemas.microsoft.com/office/drawing/2014/main" id="{D6D9E086-E181-4D88-BCF7-2699F6CBC02E}"/>
              </a:ext>
            </a:extLst>
          </p:cNvPr>
          <p:cNvSpPr txBox="1">
            <a:spLocks/>
          </p:cNvSpPr>
          <p:nvPr/>
        </p:nvSpPr>
        <p:spPr>
          <a:xfrm>
            <a:off x="2190749" y="6572250"/>
            <a:ext cx="3657601" cy="238125"/>
          </a:xfrm>
          <a:prstGeom prst="rect">
            <a:avLst/>
          </a:prstGeom>
          <a:solidFill>
            <a:schemeClr val="tx1"/>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50" dirty="0">
                <a:solidFill>
                  <a:schemeClr val="bg1"/>
                </a:solidFill>
                <a:latin typeface="Roboto" panose="02000000000000000000" pitchFamily="2" charset="0"/>
                <a:ea typeface="Roboto" panose="02000000000000000000" pitchFamily="2" charset="0"/>
              </a:rPr>
              <a:t>Copyright 2021 Private &amp; Confidential</a:t>
            </a:r>
          </a:p>
        </p:txBody>
      </p:sp>
    </p:spTree>
    <p:extLst>
      <p:ext uri="{BB962C8B-B14F-4D97-AF65-F5344CB8AC3E}">
        <p14:creationId xmlns:p14="http://schemas.microsoft.com/office/powerpoint/2010/main" val="3725003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7" name="Rectangle 6"/>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8"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5"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2010808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947" y="1097280"/>
            <a:ext cx="6001173" cy="889000"/>
          </a:xfrm>
        </p:spPr>
        <p:txBody>
          <a:bodyPr anchor="t">
            <a:normAutofit/>
          </a:bodyPr>
          <a:lstStyle>
            <a:lvl1pPr>
              <a:defRPr sz="1800"/>
            </a:lvl1pPr>
          </a:lstStyle>
          <a:p>
            <a:r>
              <a:rPr lang="en-US"/>
              <a:t>Click to edit Master title style</a:t>
            </a:r>
          </a:p>
        </p:txBody>
      </p:sp>
      <p:sp>
        <p:nvSpPr>
          <p:cNvPr id="4" name="Text Placeholder 3"/>
          <p:cNvSpPr>
            <a:spLocks noGrp="1"/>
          </p:cNvSpPr>
          <p:nvPr>
            <p:ph type="body" sz="half" idx="2"/>
          </p:nvPr>
        </p:nvSpPr>
        <p:spPr>
          <a:xfrm>
            <a:off x="419947" y="1986280"/>
            <a:ext cx="6001173" cy="428244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Rectangle 8"/>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10" name="Picture Placeholder 2"/>
          <p:cNvSpPr>
            <a:spLocks noGrp="1" noChangeAspect="1"/>
          </p:cNvSpPr>
          <p:nvPr>
            <p:ph type="pic" idx="1"/>
          </p:nvPr>
        </p:nvSpPr>
        <p:spPr>
          <a:xfrm>
            <a:off x="6868160" y="1099186"/>
            <a:ext cx="5323840" cy="4732654"/>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txBox="1">
            <a:spLocks/>
          </p:cNvSpPr>
          <p:nvPr/>
        </p:nvSpPr>
        <p:spPr>
          <a:xfrm>
            <a:off x="419947" y="151537"/>
            <a:ext cx="11392747" cy="904240"/>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lang="en-US" sz="3600" kern="1200" cap="all" spc="-150" baseline="0" dirty="0">
                <a:solidFill>
                  <a:schemeClr val="tx1">
                    <a:lumMod val="75000"/>
                    <a:lumOff val="25000"/>
                  </a:schemeClr>
                </a:solidFill>
                <a:latin typeface="Century Gothic" panose="020B0502020202020204" pitchFamily="34" charset="0"/>
                <a:ea typeface="+mn-ea"/>
                <a:cs typeface="+mn-cs"/>
              </a:defRPr>
            </a:lvl1pPr>
          </a:lstStyle>
          <a:p>
            <a:r>
              <a:rPr lang="en-US" sz="3600"/>
              <a:t>Click to edit Master title style</a:t>
            </a:r>
          </a:p>
        </p:txBody>
      </p:sp>
    </p:spTree>
    <p:extLst>
      <p:ext uri="{BB962C8B-B14F-4D97-AF65-F5344CB8AC3E}">
        <p14:creationId xmlns:p14="http://schemas.microsoft.com/office/powerpoint/2010/main" val="834760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Right Pictur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6868160" y="1099186"/>
            <a:ext cx="5323840" cy="4732654"/>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19947" y="1099186"/>
            <a:ext cx="6001173" cy="5169534"/>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Rectangle 8"/>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7"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20417192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Top Pictur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1099186"/>
            <a:ext cx="12192000" cy="2003423"/>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19947" y="3413760"/>
            <a:ext cx="11297920" cy="285496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Rectangle 8"/>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7"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7505322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Left Pictur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3546" y="1099186"/>
            <a:ext cx="4899236" cy="4732654"/>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332730" y="1099186"/>
            <a:ext cx="6385137" cy="5169534"/>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Rectangle 8"/>
          <p:cNvSpPr/>
          <p:nvPr/>
        </p:nvSpPr>
        <p:spPr>
          <a:xfrm>
            <a:off x="0" y="247650"/>
            <a:ext cx="245712" cy="365760"/>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Century Gothic" pitchFamily="34" charset="0"/>
            </a:endParaRPr>
          </a:p>
        </p:txBody>
      </p:sp>
      <p:sp>
        <p:nvSpPr>
          <p:cNvPr id="13" name="Slide Number Placeholder 5"/>
          <p:cNvSpPr>
            <a:spLocks noGrp="1"/>
          </p:cNvSpPr>
          <p:nvPr>
            <p:ph type="sldNum" sz="quarter" idx="4"/>
          </p:nvPr>
        </p:nvSpPr>
        <p:spPr>
          <a:xfrm>
            <a:off x="11582400" y="6516668"/>
            <a:ext cx="609600" cy="338328"/>
          </a:xfrm>
          <a:prstGeom prst="rect">
            <a:avLst/>
          </a:prstGeom>
        </p:spPr>
        <p:txBody>
          <a:bodyPr vert="horz" lIns="91440" tIns="45720" rIns="91440" bIns="45720" rtlCol="0" anchor="ctr"/>
          <a:lstStyle>
            <a:lvl1pPr algn="ctr">
              <a:defRPr sz="1000">
                <a:solidFill>
                  <a:schemeClr val="bg1">
                    <a:lumMod val="85000"/>
                  </a:schemeClr>
                </a:solidFill>
                <a:latin typeface="Century Gothic" pitchFamily="34" charset="0"/>
              </a:defRPr>
            </a:lvl1pPr>
          </a:lstStyle>
          <a:p>
            <a:fld id="{37969ED2-566B-41F2-8D8A-D1DFEFCA0654}" type="slidenum">
              <a:rPr lang="en-US" smtClean="0"/>
              <a:t>‹#›</a:t>
            </a:fld>
            <a:endParaRPr lang="en-US"/>
          </a:p>
        </p:txBody>
      </p:sp>
      <p:sp>
        <p:nvSpPr>
          <p:cNvPr id="7" name="Title 1"/>
          <p:cNvSpPr>
            <a:spLocks noGrp="1"/>
          </p:cNvSpPr>
          <p:nvPr>
            <p:ph type="title"/>
          </p:nvPr>
        </p:nvSpPr>
        <p:spPr>
          <a:xfrm>
            <a:off x="419947" y="151537"/>
            <a:ext cx="11392747" cy="904240"/>
          </a:xfrm>
        </p:spPr>
        <p:txBody>
          <a:bodyPr vert="horz" lIns="91440" tIns="45720" rIns="91440" bIns="45720" rtlCol="0" anchor="t" anchorCtr="0">
            <a:normAutofit/>
          </a:bodyPr>
          <a:lstStyle>
            <a:lvl1pPr>
              <a:defRPr lang="en-US" sz="3600" cap="all" spc="-150" baseline="0" dirty="0">
                <a:solidFill>
                  <a:schemeClr val="tx1">
                    <a:lumMod val="75000"/>
                    <a:lumOff val="25000"/>
                  </a:schemeClr>
                </a:solidFill>
                <a:latin typeface="Century Gothic" panose="020B0502020202020204" pitchFamily="34" charset="0"/>
                <a:ea typeface="+mn-ea"/>
                <a:cs typeface="+mn-cs"/>
              </a:defRPr>
            </a:lvl1pPr>
          </a:lstStyle>
          <a:p>
            <a:pPr marL="0" lvl="0"/>
            <a:r>
              <a:rPr lang="en-US"/>
              <a:t>Click to edit Master title style</a:t>
            </a:r>
          </a:p>
        </p:txBody>
      </p:sp>
    </p:spTree>
    <p:extLst>
      <p:ext uri="{BB962C8B-B14F-4D97-AF65-F5344CB8AC3E}">
        <p14:creationId xmlns:p14="http://schemas.microsoft.com/office/powerpoint/2010/main" val="32791794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ank You Pag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7969ED2-566B-41F2-8D8A-D1DFEFCA0654}" type="slidenum">
              <a:rPr lang="en-US" smtClean="0"/>
              <a:t>‹#›</a:t>
            </a:fld>
            <a:endParaRPr lang="en-US"/>
          </a:p>
        </p:txBody>
      </p:sp>
      <p:sp>
        <p:nvSpPr>
          <p:cNvPr id="7" name="Title 1"/>
          <p:cNvSpPr>
            <a:spLocks noGrp="1"/>
          </p:cNvSpPr>
          <p:nvPr>
            <p:ph type="title" hasCustomPrompt="1"/>
          </p:nvPr>
        </p:nvSpPr>
        <p:spPr>
          <a:xfrm>
            <a:off x="419947" y="1709740"/>
            <a:ext cx="11347451" cy="2852737"/>
          </a:xfrm>
        </p:spPr>
        <p:txBody>
          <a:bodyPr anchor="ctr">
            <a:noAutofit/>
          </a:bodyPr>
          <a:lstStyle>
            <a:lvl1pPr algn="ctr">
              <a:defRPr lang="en-US" sz="6000" dirty="0">
                <a:solidFill>
                  <a:schemeClr val="tx1">
                    <a:lumMod val="75000"/>
                    <a:lumOff val="25000"/>
                  </a:schemeClr>
                </a:solidFill>
                <a:latin typeface="Century Gothic" pitchFamily="34" charset="0"/>
                <a:ea typeface="+mn-ea"/>
                <a:cs typeface="+mn-cs"/>
              </a:defRPr>
            </a:lvl1pPr>
          </a:lstStyle>
          <a:p>
            <a:pPr lvl="0"/>
            <a:r>
              <a:rPr lang="en-US"/>
              <a:t>Thank You</a:t>
            </a:r>
          </a:p>
        </p:txBody>
      </p:sp>
    </p:spTree>
    <p:extLst>
      <p:ext uri="{BB962C8B-B14F-4D97-AF65-F5344CB8AC3E}">
        <p14:creationId xmlns:p14="http://schemas.microsoft.com/office/powerpoint/2010/main" val="2793780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4A06C8-E98E-4283-8386-C64B94A2D017}"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69ED2-566B-41F2-8D8A-D1DFEFCA0654}" type="slidenum">
              <a:rPr lang="en-US" smtClean="0"/>
              <a:t>‹#›</a:t>
            </a:fld>
            <a:endParaRPr lang="en-US"/>
          </a:p>
        </p:txBody>
      </p:sp>
      <p:sp>
        <p:nvSpPr>
          <p:cNvPr id="7" name="Rectangle 6">
            <a:extLst>
              <a:ext uri="{FF2B5EF4-FFF2-40B4-BE49-F238E27FC236}">
                <a16:creationId xmlns:a16="http://schemas.microsoft.com/office/drawing/2014/main" id="{99B3E6F9-0B5E-416F-A19F-647B54415C82}"/>
              </a:ext>
            </a:extLst>
          </p:cNvPr>
          <p:cNvSpPr/>
          <p:nvPr/>
        </p:nvSpPr>
        <p:spPr>
          <a:xfrm>
            <a:off x="11582400" y="6516823"/>
            <a:ext cx="609600" cy="338328"/>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65FE6D66-4E82-4584-9F3A-8C31F8895E25}"/>
              </a:ext>
            </a:extLst>
          </p:cNvPr>
          <p:cNvSpPr/>
          <p:nvPr/>
        </p:nvSpPr>
        <p:spPr>
          <a:xfrm>
            <a:off x="0" y="6518000"/>
            <a:ext cx="2133600" cy="338328"/>
          </a:xfrm>
          <a:prstGeom prst="rect">
            <a:avLst/>
          </a:prstGeom>
          <a:solidFill>
            <a:srgbClr val="D71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a:solidFill>
                  <a:schemeClr val="bg1"/>
                </a:solidFill>
              </a:rPr>
              <a:t> </a:t>
            </a:r>
            <a:r>
              <a:rPr lang="en-US" sz="1500">
                <a:solidFill>
                  <a:schemeClr val="bg1"/>
                </a:solidFill>
                <a:latin typeface="Century Gothic" pitchFamily="34" charset="0"/>
              </a:rPr>
              <a:t>CrimsonLogic</a:t>
            </a:r>
          </a:p>
        </p:txBody>
      </p:sp>
      <p:sp>
        <p:nvSpPr>
          <p:cNvPr id="9" name="Rectangle 8">
            <a:extLst>
              <a:ext uri="{FF2B5EF4-FFF2-40B4-BE49-F238E27FC236}">
                <a16:creationId xmlns:a16="http://schemas.microsoft.com/office/drawing/2014/main" id="{C4285FE1-E170-4AA5-B545-AB561264CE34}"/>
              </a:ext>
            </a:extLst>
          </p:cNvPr>
          <p:cNvSpPr/>
          <p:nvPr/>
        </p:nvSpPr>
        <p:spPr>
          <a:xfrm>
            <a:off x="2133600" y="6518000"/>
            <a:ext cx="9448800" cy="338328"/>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2">
                    <a:lumMod val="90000"/>
                  </a:schemeClr>
                </a:solidFill>
                <a:latin typeface="Century Gothic" pitchFamily="34" charset="0"/>
              </a:rPr>
              <a:t>Copyright 2021    (Private)</a:t>
            </a:r>
          </a:p>
        </p:txBody>
      </p:sp>
      <p:sp>
        <p:nvSpPr>
          <p:cNvPr id="10" name="Rectangle 9">
            <a:extLst>
              <a:ext uri="{FF2B5EF4-FFF2-40B4-BE49-F238E27FC236}">
                <a16:creationId xmlns:a16="http://schemas.microsoft.com/office/drawing/2014/main" id="{2EF90BA4-26FD-4CCB-8845-4E0A42C18740}"/>
              </a:ext>
            </a:extLst>
          </p:cNvPr>
          <p:cNvSpPr/>
          <p:nvPr/>
        </p:nvSpPr>
        <p:spPr>
          <a:xfrm>
            <a:off x="11582400" y="6516823"/>
            <a:ext cx="609600" cy="338328"/>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8084438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C238-0EC4-562A-47F3-52554B2E1713}"/>
              </a:ext>
            </a:extLst>
          </p:cNvPr>
          <p:cNvSpPr>
            <a:spLocks noGrp="1"/>
          </p:cNvSpPr>
          <p:nvPr>
            <p:ph type="ctrTitle"/>
          </p:nvPr>
        </p:nvSpPr>
        <p:spPr/>
        <p:txBody>
          <a:bodyPr/>
          <a:lstStyle/>
          <a:p>
            <a:r>
              <a:rPr lang="en-US" dirty="0"/>
              <a:t>Spring Security</a:t>
            </a:r>
          </a:p>
        </p:txBody>
      </p:sp>
      <p:sp>
        <p:nvSpPr>
          <p:cNvPr id="3" name="Subtitle 2">
            <a:extLst>
              <a:ext uri="{FF2B5EF4-FFF2-40B4-BE49-F238E27FC236}">
                <a16:creationId xmlns:a16="http://schemas.microsoft.com/office/drawing/2014/main" id="{E7A4BE67-C896-FE13-3D5A-BD7D2612C81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68693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0C86C-664C-755A-87D1-C0B414499BEE}"/>
              </a:ext>
            </a:extLst>
          </p:cNvPr>
          <p:cNvSpPr>
            <a:spLocks noGrp="1"/>
          </p:cNvSpPr>
          <p:nvPr>
            <p:ph type="title"/>
          </p:nvPr>
        </p:nvSpPr>
        <p:spPr/>
        <p:txBody>
          <a:bodyPr>
            <a:normAutofit/>
          </a:bodyPr>
          <a:lstStyle/>
          <a:p>
            <a:r>
              <a:rPr lang="en-US" sz="3200" b="1" i="0" dirty="0">
                <a:effectLst/>
                <a:highlight>
                  <a:srgbClr val="FFFFFF"/>
                </a:highlight>
              </a:rPr>
              <a:t>What is Spring Security</a:t>
            </a:r>
            <a:r>
              <a:rPr lang="en-US" sz="3200" dirty="0">
                <a:highlight>
                  <a:srgbClr val="FFFFFF"/>
                </a:highlight>
              </a:rPr>
              <a:t>?</a:t>
            </a:r>
            <a:endParaRPr lang="en-US" sz="3200" dirty="0"/>
          </a:p>
        </p:txBody>
      </p:sp>
      <p:sp>
        <p:nvSpPr>
          <p:cNvPr id="3" name="Content Placeholder 2">
            <a:extLst>
              <a:ext uri="{FF2B5EF4-FFF2-40B4-BE49-F238E27FC236}">
                <a16:creationId xmlns:a16="http://schemas.microsoft.com/office/drawing/2014/main" id="{0CD0EFE4-BA54-EF37-E5D7-969AE7DD9FA1}"/>
              </a:ext>
            </a:extLst>
          </p:cNvPr>
          <p:cNvSpPr>
            <a:spLocks noGrp="1"/>
          </p:cNvSpPr>
          <p:nvPr>
            <p:ph idx="1"/>
          </p:nvPr>
        </p:nvSpPr>
        <p:spPr/>
        <p:txBody>
          <a:bodyPr/>
          <a:lstStyle/>
          <a:p>
            <a:r>
              <a:rPr lang="en-US" dirty="0"/>
              <a:t> Spring Security is a security framework that secures J2EE-based enterprise applications, by providing powerful, customizable security features like authentication and authorization.</a:t>
            </a:r>
          </a:p>
          <a:p>
            <a:r>
              <a:rPr lang="en-US" dirty="0"/>
              <a:t>Spring security provides authentication and authorization to our application using simple servlet filters.</a:t>
            </a:r>
          </a:p>
          <a:p>
            <a:endParaRPr lang="en-US" dirty="0"/>
          </a:p>
        </p:txBody>
      </p:sp>
    </p:spTree>
    <p:extLst>
      <p:ext uri="{BB962C8B-B14F-4D97-AF65-F5344CB8AC3E}">
        <p14:creationId xmlns:p14="http://schemas.microsoft.com/office/powerpoint/2010/main" val="314277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DCC5-8019-09D2-0674-AFCC7722ECF8}"/>
              </a:ext>
            </a:extLst>
          </p:cNvPr>
          <p:cNvSpPr>
            <a:spLocks noGrp="1"/>
          </p:cNvSpPr>
          <p:nvPr>
            <p:ph type="title"/>
          </p:nvPr>
        </p:nvSpPr>
        <p:spPr/>
        <p:txBody>
          <a:bodyPr/>
          <a:lstStyle/>
          <a:p>
            <a:r>
              <a:rPr lang="en-US" dirty="0"/>
              <a:t>Core Concepts of Spring Security</a:t>
            </a:r>
          </a:p>
        </p:txBody>
      </p:sp>
      <p:sp>
        <p:nvSpPr>
          <p:cNvPr id="3" name="Content Placeholder 2">
            <a:extLst>
              <a:ext uri="{FF2B5EF4-FFF2-40B4-BE49-F238E27FC236}">
                <a16:creationId xmlns:a16="http://schemas.microsoft.com/office/drawing/2014/main" id="{2F758A20-752E-7C5B-FB51-E491E7414D3B}"/>
              </a:ext>
            </a:extLst>
          </p:cNvPr>
          <p:cNvSpPr>
            <a:spLocks noGrp="1"/>
          </p:cNvSpPr>
          <p:nvPr>
            <p:ph idx="1"/>
          </p:nvPr>
        </p:nvSpPr>
        <p:spPr/>
        <p:txBody>
          <a:bodyPr/>
          <a:lstStyle/>
          <a:p>
            <a:r>
              <a:rPr lang="en-US" dirty="0"/>
              <a:t>Spring security works on the following core concepts</a:t>
            </a:r>
          </a:p>
          <a:p>
            <a:pPr lvl="1"/>
            <a:r>
              <a:rPr lang="en-US" dirty="0"/>
              <a:t>Authentication.</a:t>
            </a:r>
          </a:p>
          <a:p>
            <a:pPr lvl="1"/>
            <a:r>
              <a:rPr lang="en-US" dirty="0"/>
              <a:t>Authorization</a:t>
            </a:r>
          </a:p>
          <a:p>
            <a:pPr lvl="1"/>
            <a:r>
              <a:rPr lang="en-US" dirty="0"/>
              <a:t>Principal </a:t>
            </a:r>
          </a:p>
          <a:p>
            <a:pPr lvl="1"/>
            <a:r>
              <a:rPr lang="en-US" dirty="0"/>
              <a:t>Granted Authority </a:t>
            </a:r>
          </a:p>
          <a:p>
            <a:pPr lvl="1"/>
            <a:r>
              <a:rPr lang="en-US" dirty="0"/>
              <a:t>Security Context and </a:t>
            </a:r>
            <a:r>
              <a:rPr lang="en-US" dirty="0" err="1"/>
              <a:t>SecurityContextHolder</a:t>
            </a:r>
            <a:r>
              <a:rPr lang="en-US" dirty="0"/>
              <a:t> </a:t>
            </a:r>
          </a:p>
          <a:p>
            <a:pPr lvl="1"/>
            <a:r>
              <a:rPr lang="en-US" dirty="0" err="1"/>
              <a:t>UserDetails</a:t>
            </a:r>
            <a:endParaRPr lang="en-US" dirty="0"/>
          </a:p>
          <a:p>
            <a:pPr lvl="1"/>
            <a:r>
              <a:rPr lang="en-US" dirty="0" err="1"/>
              <a:t>UserDetailsService</a:t>
            </a:r>
            <a:endParaRPr lang="en-US" dirty="0"/>
          </a:p>
          <a:p>
            <a:pPr lvl="1"/>
            <a:r>
              <a:rPr lang="en-US" dirty="0" err="1"/>
              <a:t>AuthenticationManager</a:t>
            </a:r>
            <a:endParaRPr lang="en-US" dirty="0"/>
          </a:p>
        </p:txBody>
      </p:sp>
    </p:spTree>
    <p:extLst>
      <p:ext uri="{BB962C8B-B14F-4D97-AF65-F5344CB8AC3E}">
        <p14:creationId xmlns:p14="http://schemas.microsoft.com/office/powerpoint/2010/main" val="1065580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834F-80A4-4709-60DC-2CA9778E5EEA}"/>
              </a:ext>
            </a:extLst>
          </p:cNvPr>
          <p:cNvSpPr>
            <a:spLocks noGrp="1"/>
          </p:cNvSpPr>
          <p:nvPr>
            <p:ph type="title"/>
          </p:nvPr>
        </p:nvSpPr>
        <p:spPr/>
        <p:txBody>
          <a:bodyPr/>
          <a:lstStyle/>
          <a:p>
            <a:r>
              <a:rPr lang="en-US" dirty="0"/>
              <a:t>Advantages of Spring security</a:t>
            </a:r>
          </a:p>
        </p:txBody>
      </p:sp>
      <p:sp>
        <p:nvSpPr>
          <p:cNvPr id="3" name="Content Placeholder 2">
            <a:extLst>
              <a:ext uri="{FF2B5EF4-FFF2-40B4-BE49-F238E27FC236}">
                <a16:creationId xmlns:a16="http://schemas.microsoft.com/office/drawing/2014/main" id="{92C7E4BD-07FC-F207-9A24-A56B1F15DB1B}"/>
              </a:ext>
            </a:extLst>
          </p:cNvPr>
          <p:cNvSpPr>
            <a:spLocks noGrp="1"/>
          </p:cNvSpPr>
          <p:nvPr>
            <p:ph idx="1"/>
          </p:nvPr>
        </p:nvSpPr>
        <p:spPr/>
        <p:txBody>
          <a:bodyPr>
            <a:normAutofit lnSpcReduction="10000"/>
          </a:bodyPr>
          <a:lstStyle/>
          <a:p>
            <a:r>
              <a:rPr lang="en-US" dirty="0"/>
              <a:t>Here are some important advantages of Spring Security:</a:t>
            </a:r>
          </a:p>
          <a:p>
            <a:endParaRPr lang="en-US" dirty="0"/>
          </a:p>
          <a:p>
            <a:r>
              <a:rPr lang="en-US" dirty="0"/>
              <a:t>Servlet API integration.</a:t>
            </a:r>
          </a:p>
          <a:p>
            <a:r>
              <a:rPr lang="en-US" dirty="0"/>
              <a:t>Extensible support for both Authentication and Authorization.</a:t>
            </a:r>
          </a:p>
          <a:p>
            <a:r>
              <a:rPr lang="en-US" dirty="0"/>
              <a:t>Protection against attacks like session fixation, click jacking.</a:t>
            </a:r>
          </a:p>
          <a:p>
            <a:r>
              <a:rPr lang="en-US" dirty="0"/>
              <a:t>Spring MVC integration.</a:t>
            </a:r>
          </a:p>
          <a:p>
            <a:r>
              <a:rPr lang="en-US" dirty="0"/>
              <a:t>Ability to secure application against brute force attacks.</a:t>
            </a:r>
          </a:p>
          <a:p>
            <a:r>
              <a:rPr lang="en-US" dirty="0"/>
              <a:t>Portability.</a:t>
            </a:r>
          </a:p>
          <a:p>
            <a:r>
              <a:rPr lang="en-US" dirty="0"/>
              <a:t>Protection against CSRF attacks.</a:t>
            </a:r>
          </a:p>
          <a:p>
            <a:r>
              <a:rPr lang="en-US" dirty="0"/>
              <a:t>Java configuration support</a:t>
            </a:r>
          </a:p>
        </p:txBody>
      </p:sp>
    </p:spTree>
    <p:extLst>
      <p:ext uri="{BB962C8B-B14F-4D97-AF65-F5344CB8AC3E}">
        <p14:creationId xmlns:p14="http://schemas.microsoft.com/office/powerpoint/2010/main" val="3311030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3CE2-2243-BE5F-7B33-865A4D82D0DE}"/>
              </a:ext>
            </a:extLst>
          </p:cNvPr>
          <p:cNvSpPr>
            <a:spLocks noGrp="1"/>
          </p:cNvSpPr>
          <p:nvPr>
            <p:ph type="title"/>
          </p:nvPr>
        </p:nvSpPr>
        <p:spPr/>
        <p:txBody>
          <a:bodyPr/>
          <a:lstStyle/>
          <a:p>
            <a:r>
              <a:rPr lang="en-US" dirty="0"/>
              <a:t>Enable basic Spring security to J2EE applications</a:t>
            </a:r>
          </a:p>
        </p:txBody>
      </p:sp>
      <p:sp>
        <p:nvSpPr>
          <p:cNvPr id="3" name="Content Placeholder 2">
            <a:extLst>
              <a:ext uri="{FF2B5EF4-FFF2-40B4-BE49-F238E27FC236}">
                <a16:creationId xmlns:a16="http://schemas.microsoft.com/office/drawing/2014/main" id="{FCAA5269-E5A3-CFB6-AD8A-F7F859B3A80C}"/>
              </a:ext>
            </a:extLst>
          </p:cNvPr>
          <p:cNvSpPr>
            <a:spLocks noGrp="1"/>
          </p:cNvSpPr>
          <p:nvPr>
            <p:ph idx="1"/>
          </p:nvPr>
        </p:nvSpPr>
        <p:spPr/>
        <p:txBody>
          <a:bodyPr/>
          <a:lstStyle/>
          <a:p>
            <a:r>
              <a:rPr lang="en-US" dirty="0"/>
              <a:t>Add jar files/dependencies</a:t>
            </a:r>
          </a:p>
          <a:p>
            <a:r>
              <a:rPr lang="en-US" dirty="0"/>
              <a:t>Filter declaration to pom.xml</a:t>
            </a:r>
          </a:p>
          <a:p>
            <a:r>
              <a:rPr lang="en-US" dirty="0"/>
              <a:t>Java configuration by using </a:t>
            </a:r>
            <a:r>
              <a:rPr lang="en-US" dirty="0" err="1"/>
              <a:t>SecurityConfiguration</a:t>
            </a:r>
            <a:r>
              <a:rPr lang="en-US" dirty="0"/>
              <a:t> class</a:t>
            </a:r>
          </a:p>
        </p:txBody>
      </p:sp>
    </p:spTree>
    <p:extLst>
      <p:ext uri="{BB962C8B-B14F-4D97-AF65-F5344CB8AC3E}">
        <p14:creationId xmlns:p14="http://schemas.microsoft.com/office/powerpoint/2010/main" val="202170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4F375-8C9B-3F23-EE21-A0985B9981EF}"/>
              </a:ext>
            </a:extLst>
          </p:cNvPr>
          <p:cNvSpPr>
            <a:spLocks noGrp="1"/>
          </p:cNvSpPr>
          <p:nvPr>
            <p:ph type="title"/>
          </p:nvPr>
        </p:nvSpPr>
        <p:spPr/>
        <p:txBody>
          <a:bodyPr/>
          <a:lstStyle/>
          <a:p>
            <a:r>
              <a:rPr lang="en-US" dirty="0">
                <a:highlight>
                  <a:srgbClr val="FFFFFF"/>
                </a:highlight>
                <a:latin typeface="-apple-system"/>
              </a:rPr>
              <a:t>F</a:t>
            </a:r>
            <a:r>
              <a:rPr lang="en-US" i="0" dirty="0">
                <a:effectLst/>
                <a:highlight>
                  <a:srgbClr val="FFFFFF"/>
                </a:highlight>
                <a:latin typeface="-apple-system"/>
              </a:rPr>
              <a:t>ew basic terms that are related to spring security</a:t>
            </a:r>
            <a:endParaRPr lang="en-US" dirty="0"/>
          </a:p>
        </p:txBody>
      </p:sp>
      <p:sp>
        <p:nvSpPr>
          <p:cNvPr id="3" name="Content Placeholder 2">
            <a:extLst>
              <a:ext uri="{FF2B5EF4-FFF2-40B4-BE49-F238E27FC236}">
                <a16:creationId xmlns:a16="http://schemas.microsoft.com/office/drawing/2014/main" id="{291E29EB-8D84-18BC-A99C-28255F5A7D6D}"/>
              </a:ext>
            </a:extLst>
          </p:cNvPr>
          <p:cNvSpPr>
            <a:spLocks noGrp="1"/>
          </p:cNvSpPr>
          <p:nvPr>
            <p:ph idx="1"/>
          </p:nvPr>
        </p:nvSpPr>
        <p:spPr/>
        <p:txBody>
          <a:bodyPr>
            <a:normAutofit/>
          </a:bodyPr>
          <a:lstStyle/>
          <a:p>
            <a:r>
              <a:rPr lang="en-US" b="1" dirty="0"/>
              <a:t>Principal</a:t>
            </a:r>
            <a:r>
              <a:rPr lang="en-US" dirty="0"/>
              <a:t>: Currently logged in user.</a:t>
            </a:r>
          </a:p>
          <a:p>
            <a:r>
              <a:rPr lang="en-US" b="1" dirty="0"/>
              <a:t>Authentication</a:t>
            </a:r>
            <a:r>
              <a:rPr lang="en-US" dirty="0"/>
              <a:t>: Confirming truth of credentials.</a:t>
            </a:r>
          </a:p>
          <a:p>
            <a:r>
              <a:rPr lang="en-US" b="1" dirty="0" err="1"/>
              <a:t>Authorisation</a:t>
            </a:r>
            <a:r>
              <a:rPr lang="en-US" dirty="0"/>
              <a:t>: Defines access policy for the Principal.</a:t>
            </a:r>
          </a:p>
          <a:p>
            <a:r>
              <a:rPr lang="en-US" b="1" dirty="0" err="1"/>
              <a:t>GrantedAuthority</a:t>
            </a:r>
            <a:r>
              <a:rPr lang="en-US" dirty="0"/>
              <a:t>: Permission granted to the principal.</a:t>
            </a:r>
          </a:p>
          <a:p>
            <a:r>
              <a:rPr lang="en-US" b="1" dirty="0" err="1"/>
              <a:t>AuthenticationManager</a:t>
            </a:r>
            <a:r>
              <a:rPr lang="en-US" dirty="0"/>
              <a:t>: Controller in the authentication process. Authenticates user saved in memory via authenticate().</a:t>
            </a:r>
          </a:p>
        </p:txBody>
      </p:sp>
    </p:spTree>
    <p:extLst>
      <p:ext uri="{BB962C8B-B14F-4D97-AF65-F5344CB8AC3E}">
        <p14:creationId xmlns:p14="http://schemas.microsoft.com/office/powerpoint/2010/main" val="2948725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A1DA-D975-5F2E-799B-0094B4C4EB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6C4EAB-7F5B-6064-1139-481A368C2671}"/>
              </a:ext>
            </a:extLst>
          </p:cNvPr>
          <p:cNvSpPr>
            <a:spLocks noGrp="1"/>
          </p:cNvSpPr>
          <p:nvPr>
            <p:ph idx="1"/>
          </p:nvPr>
        </p:nvSpPr>
        <p:spPr/>
        <p:txBody>
          <a:bodyPr/>
          <a:lstStyle/>
          <a:p>
            <a:r>
              <a:rPr lang="en-US" b="1" dirty="0" err="1"/>
              <a:t>AuthenticationProvider</a:t>
            </a:r>
            <a:r>
              <a:rPr lang="en-US" dirty="0"/>
              <a:t>: Interface that maps to a data store that stores your data.</a:t>
            </a:r>
          </a:p>
          <a:p>
            <a:r>
              <a:rPr lang="en-US" b="1" dirty="0"/>
              <a:t>Authentication Object</a:t>
            </a:r>
            <a:r>
              <a:rPr lang="en-US" dirty="0"/>
              <a:t>: Object that is created upon authentication. It holds the login credentials. It is an internal spring security interface.</a:t>
            </a:r>
          </a:p>
          <a:p>
            <a:r>
              <a:rPr lang="en-US" b="1" dirty="0" err="1"/>
              <a:t>UserDetails</a:t>
            </a:r>
            <a:r>
              <a:rPr lang="en-US" dirty="0"/>
              <a:t>: Data object that contains the user credentials but also the role of that user.</a:t>
            </a:r>
          </a:p>
          <a:p>
            <a:r>
              <a:rPr lang="en-US" b="1" dirty="0" err="1"/>
              <a:t>UserDetailsService</a:t>
            </a:r>
            <a:r>
              <a:rPr lang="en-US" b="1" dirty="0"/>
              <a:t>: </a:t>
            </a:r>
            <a:r>
              <a:rPr lang="en-US" dirty="0"/>
              <a:t>Collects the user credentials, authorities (roles) and build an </a:t>
            </a:r>
            <a:r>
              <a:rPr lang="en-US" dirty="0" err="1"/>
              <a:t>UserDetails</a:t>
            </a:r>
            <a:r>
              <a:rPr lang="en-US" dirty="0"/>
              <a:t> object.</a:t>
            </a:r>
          </a:p>
          <a:p>
            <a:endParaRPr lang="en-US" dirty="0"/>
          </a:p>
        </p:txBody>
      </p:sp>
    </p:spTree>
    <p:extLst>
      <p:ext uri="{BB962C8B-B14F-4D97-AF65-F5344CB8AC3E}">
        <p14:creationId xmlns:p14="http://schemas.microsoft.com/office/powerpoint/2010/main" val="164127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BFBA-ACD1-DF83-24D8-5FE4993C1E61}"/>
              </a:ext>
            </a:extLst>
          </p:cNvPr>
          <p:cNvSpPr>
            <a:spLocks noGrp="1"/>
          </p:cNvSpPr>
          <p:nvPr>
            <p:ph type="title"/>
          </p:nvPr>
        </p:nvSpPr>
        <p:spPr/>
        <p:txBody>
          <a:bodyPr/>
          <a:lstStyle/>
          <a:p>
            <a:r>
              <a:rPr lang="en-US" dirty="0"/>
              <a:t>Spring Security Modules</a:t>
            </a:r>
          </a:p>
        </p:txBody>
      </p:sp>
      <p:sp>
        <p:nvSpPr>
          <p:cNvPr id="3" name="Content Placeholder 2">
            <a:extLst>
              <a:ext uri="{FF2B5EF4-FFF2-40B4-BE49-F238E27FC236}">
                <a16:creationId xmlns:a16="http://schemas.microsoft.com/office/drawing/2014/main" id="{66D25D2A-D3D6-7536-6FFA-8CC09A787956}"/>
              </a:ext>
            </a:extLst>
          </p:cNvPr>
          <p:cNvSpPr>
            <a:spLocks noGrp="1"/>
          </p:cNvSpPr>
          <p:nvPr>
            <p:ph idx="1"/>
          </p:nvPr>
        </p:nvSpPr>
        <p:spPr/>
        <p:txBody>
          <a:bodyPr/>
          <a:lstStyle/>
          <a:p>
            <a:r>
              <a:rPr lang="en-US" dirty="0"/>
              <a:t>In Spring Security,  the Security module comprises separate jar files based on its functionality.</a:t>
            </a:r>
          </a:p>
          <a:p>
            <a:pPr lvl="1"/>
            <a:r>
              <a:rPr lang="en-US" dirty="0"/>
              <a:t>spring-security-core.jar</a:t>
            </a:r>
          </a:p>
          <a:p>
            <a:pPr lvl="1"/>
            <a:r>
              <a:rPr lang="en-US" dirty="0"/>
              <a:t>spring-security-web.jar</a:t>
            </a:r>
          </a:p>
          <a:p>
            <a:pPr lvl="1"/>
            <a:r>
              <a:rPr lang="en-US" dirty="0"/>
              <a:t>spring-security-config.jar</a:t>
            </a:r>
          </a:p>
          <a:p>
            <a:pPr lvl="1"/>
            <a:r>
              <a:rPr lang="en-US" dirty="0"/>
              <a:t>LDAP</a:t>
            </a:r>
          </a:p>
          <a:p>
            <a:pPr lvl="1"/>
            <a:r>
              <a:rPr lang="en-US" dirty="0"/>
              <a:t>OAuth 2.0 Core</a:t>
            </a:r>
          </a:p>
          <a:p>
            <a:pPr lvl="1"/>
            <a:r>
              <a:rPr lang="en-US" dirty="0"/>
              <a:t>OAuth 2.0 Client</a:t>
            </a:r>
          </a:p>
          <a:p>
            <a:r>
              <a:rPr lang="en-US" dirty="0"/>
              <a:t> To add security to our Spring Boot application, we need to add the security starter dependency.</a:t>
            </a:r>
          </a:p>
          <a:p>
            <a:endParaRPr lang="en-US" dirty="0"/>
          </a:p>
          <a:p>
            <a:pPr marL="0" indent="0">
              <a:buNone/>
            </a:pPr>
            <a:endParaRPr lang="en-US" dirty="0"/>
          </a:p>
        </p:txBody>
      </p:sp>
    </p:spTree>
    <p:extLst>
      <p:ext uri="{BB962C8B-B14F-4D97-AF65-F5344CB8AC3E}">
        <p14:creationId xmlns:p14="http://schemas.microsoft.com/office/powerpoint/2010/main" val="83467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3DCE-F91E-C576-119E-679AC44169CC}"/>
              </a:ext>
            </a:extLst>
          </p:cNvPr>
          <p:cNvSpPr>
            <a:spLocks noGrp="1"/>
          </p:cNvSpPr>
          <p:nvPr>
            <p:ph type="title"/>
          </p:nvPr>
        </p:nvSpPr>
        <p:spPr/>
        <p:txBody>
          <a:bodyPr/>
          <a:lstStyle/>
          <a:p>
            <a:r>
              <a:rPr lang="en-US" dirty="0"/>
              <a:t>Difference between Authentication and Authorization ?</a:t>
            </a:r>
          </a:p>
        </p:txBody>
      </p:sp>
      <p:sp>
        <p:nvSpPr>
          <p:cNvPr id="3" name="Content Placeholder 2">
            <a:extLst>
              <a:ext uri="{FF2B5EF4-FFF2-40B4-BE49-F238E27FC236}">
                <a16:creationId xmlns:a16="http://schemas.microsoft.com/office/drawing/2014/main" id="{F909465A-B701-F423-FB97-60D5514373F6}"/>
              </a:ext>
            </a:extLst>
          </p:cNvPr>
          <p:cNvSpPr>
            <a:spLocks noGrp="1"/>
          </p:cNvSpPr>
          <p:nvPr>
            <p:ph idx="1"/>
          </p:nvPr>
        </p:nvSpPr>
        <p:spPr/>
        <p:txBody>
          <a:bodyPr/>
          <a:lstStyle/>
          <a:p>
            <a:r>
              <a:rPr lang="en-US" dirty="0"/>
              <a:t>Authorization is the second stage of security whereas the first stage is Authentication.</a:t>
            </a:r>
          </a:p>
          <a:p>
            <a:r>
              <a:rPr lang="en-US" dirty="0"/>
              <a:t>Authentication answers — Who is this user? whereas, Authorization answers — Are they allowed to do this?</a:t>
            </a:r>
          </a:p>
          <a:p>
            <a:r>
              <a:rPr lang="en-US" dirty="0"/>
              <a:t>To reach authorization, you need authentication first. You have to make sure who the user is in order to decide what role the user is allowed to do or not allowed to do.</a:t>
            </a:r>
          </a:p>
          <a:p>
            <a:r>
              <a:rPr lang="en-US" dirty="0"/>
              <a:t>This is how authentication and authorization work in spring security.</a:t>
            </a:r>
          </a:p>
        </p:txBody>
      </p:sp>
    </p:spTree>
    <p:extLst>
      <p:ext uri="{BB962C8B-B14F-4D97-AF65-F5344CB8AC3E}">
        <p14:creationId xmlns:p14="http://schemas.microsoft.com/office/powerpoint/2010/main" val="19043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86C07-8D12-3B64-AA12-503B706BDBA5}"/>
              </a:ext>
            </a:extLst>
          </p:cNvPr>
          <p:cNvSpPr>
            <a:spLocks noGrp="1"/>
          </p:cNvSpPr>
          <p:nvPr>
            <p:ph type="title"/>
          </p:nvPr>
        </p:nvSpPr>
        <p:spPr/>
        <p:txBody>
          <a:bodyPr>
            <a:normAutofit/>
          </a:bodyPr>
          <a:lstStyle/>
          <a:p>
            <a:r>
              <a:rPr lang="en-US" sz="3200" i="0" dirty="0">
                <a:effectLst/>
                <a:highlight>
                  <a:srgbClr val="FFFFFF"/>
                </a:highlight>
              </a:rPr>
              <a:t>Spring Security Flow</a:t>
            </a:r>
            <a:endParaRPr lang="en-US" sz="3200" dirty="0"/>
          </a:p>
        </p:txBody>
      </p:sp>
      <p:pic>
        <p:nvPicPr>
          <p:cNvPr id="5" name="Content Placeholder 4">
            <a:extLst>
              <a:ext uri="{FF2B5EF4-FFF2-40B4-BE49-F238E27FC236}">
                <a16:creationId xmlns:a16="http://schemas.microsoft.com/office/drawing/2014/main" id="{8EB698C4-E809-7313-D8AF-9D657D85CCE1}"/>
              </a:ext>
            </a:extLst>
          </p:cNvPr>
          <p:cNvPicPr>
            <a:picLocks noGrp="1" noChangeAspect="1"/>
          </p:cNvPicPr>
          <p:nvPr>
            <p:ph idx="1"/>
          </p:nvPr>
        </p:nvPicPr>
        <p:blipFill>
          <a:blip r:embed="rId2"/>
          <a:stretch>
            <a:fillRect/>
          </a:stretch>
        </p:blipFill>
        <p:spPr>
          <a:xfrm>
            <a:off x="1940561" y="1825625"/>
            <a:ext cx="8310877" cy="4351338"/>
          </a:xfrm>
          <a:prstGeom prst="rect">
            <a:avLst/>
          </a:prstGeom>
        </p:spPr>
      </p:pic>
    </p:spTree>
    <p:extLst>
      <p:ext uri="{BB962C8B-B14F-4D97-AF65-F5344CB8AC3E}">
        <p14:creationId xmlns:p14="http://schemas.microsoft.com/office/powerpoint/2010/main" val="596320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C73AE3-039E-09BD-4D07-4B4FB502F6DC}"/>
              </a:ext>
            </a:extLst>
          </p:cNvPr>
          <p:cNvSpPr>
            <a:spLocks noGrp="1"/>
          </p:cNvSpPr>
          <p:nvPr>
            <p:ph type="title"/>
          </p:nvPr>
        </p:nvSpPr>
        <p:spPr>
          <a:xfrm>
            <a:off x="838200" y="2433763"/>
            <a:ext cx="10515600" cy="1325563"/>
          </a:xfrm>
        </p:spPr>
        <p:txBody>
          <a:bodyPr>
            <a:normAutofit/>
          </a:bodyPr>
          <a:lstStyle/>
          <a:p>
            <a:r>
              <a:rPr lang="en-US" sz="3200" b="1" dirty="0">
                <a:latin typeface="+mn-lt"/>
              </a:rPr>
              <a:t>Example for Spring Security Basic Authentication</a:t>
            </a:r>
          </a:p>
        </p:txBody>
      </p:sp>
    </p:spTree>
    <p:extLst>
      <p:ext uri="{BB962C8B-B14F-4D97-AF65-F5344CB8AC3E}">
        <p14:creationId xmlns:p14="http://schemas.microsoft.com/office/powerpoint/2010/main" val="2307804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749BB-19D3-EF5A-1594-CCD064409605}"/>
              </a:ext>
            </a:extLst>
          </p:cNvPr>
          <p:cNvSpPr>
            <a:spLocks noGrp="1"/>
          </p:cNvSpPr>
          <p:nvPr>
            <p:ph type="title"/>
          </p:nvPr>
        </p:nvSpPr>
        <p:spPr>
          <a:xfrm>
            <a:off x="838200" y="2553685"/>
            <a:ext cx="10515600" cy="1325563"/>
          </a:xfrm>
        </p:spPr>
        <p:txBody>
          <a:bodyPr/>
          <a:lstStyle/>
          <a:p>
            <a:r>
              <a:rPr lang="en-US" dirty="0"/>
              <a:t>Spring Security Filters Chain</a:t>
            </a:r>
          </a:p>
        </p:txBody>
      </p:sp>
    </p:spTree>
    <p:extLst>
      <p:ext uri="{BB962C8B-B14F-4D97-AF65-F5344CB8AC3E}">
        <p14:creationId xmlns:p14="http://schemas.microsoft.com/office/powerpoint/2010/main" val="267005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70B9-2E56-06D5-E8F2-32C3F13EFE95}"/>
              </a:ext>
            </a:extLst>
          </p:cNvPr>
          <p:cNvSpPr>
            <a:spLocks noGrp="1"/>
          </p:cNvSpPr>
          <p:nvPr>
            <p:ph type="title"/>
          </p:nvPr>
        </p:nvSpPr>
        <p:spPr/>
        <p:txBody>
          <a:bodyPr/>
          <a:lstStyle/>
          <a:p>
            <a:r>
              <a:rPr lang="en-US" dirty="0"/>
              <a:t>About Spring Security Filters Chain</a:t>
            </a:r>
          </a:p>
        </p:txBody>
      </p:sp>
      <p:sp>
        <p:nvSpPr>
          <p:cNvPr id="3" name="Content Placeholder 2">
            <a:extLst>
              <a:ext uri="{FF2B5EF4-FFF2-40B4-BE49-F238E27FC236}">
                <a16:creationId xmlns:a16="http://schemas.microsoft.com/office/drawing/2014/main" id="{FEA20422-4294-81E5-5B7D-A82BCE65D615}"/>
              </a:ext>
            </a:extLst>
          </p:cNvPr>
          <p:cNvSpPr>
            <a:spLocks noGrp="1"/>
          </p:cNvSpPr>
          <p:nvPr>
            <p:ph idx="1"/>
          </p:nvPr>
        </p:nvSpPr>
        <p:spPr/>
        <p:txBody>
          <a:bodyPr/>
          <a:lstStyle/>
          <a:p>
            <a:r>
              <a:rPr lang="en-US" b="0" i="0" dirty="0">
                <a:solidFill>
                  <a:srgbClr val="222222"/>
                </a:solidFill>
                <a:effectLst/>
                <a:highlight>
                  <a:srgbClr val="FFFFFF"/>
                </a:highlight>
                <a:latin typeface="-apple-system"/>
              </a:rPr>
              <a:t>In a web application, we drive Spring security through the servlet filters. </a:t>
            </a:r>
          </a:p>
          <a:p>
            <a:r>
              <a:rPr lang="en-US" b="0" i="0" dirty="0">
                <a:solidFill>
                  <a:srgbClr val="222222"/>
                </a:solidFill>
                <a:effectLst/>
                <a:highlight>
                  <a:srgbClr val="FFFFFF"/>
                </a:highlight>
                <a:latin typeface="-apple-system"/>
              </a:rPr>
              <a:t>Servlet filters works by intercepting the request before it reaches to the actual resource (e.g. Spring controller). </a:t>
            </a:r>
            <a:endParaRPr lang="en-US" dirty="0"/>
          </a:p>
        </p:txBody>
      </p:sp>
    </p:spTree>
    <p:extLst>
      <p:ext uri="{BB962C8B-B14F-4D97-AF65-F5344CB8AC3E}">
        <p14:creationId xmlns:p14="http://schemas.microsoft.com/office/powerpoint/2010/main" val="752566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A920-F296-82DE-3070-FA5173B14725}"/>
              </a:ext>
            </a:extLst>
          </p:cNvPr>
          <p:cNvSpPr>
            <a:spLocks noGrp="1"/>
          </p:cNvSpPr>
          <p:nvPr>
            <p:ph type="title"/>
          </p:nvPr>
        </p:nvSpPr>
        <p:spPr/>
        <p:txBody>
          <a:bodyPr/>
          <a:lstStyle/>
          <a:p>
            <a:r>
              <a:rPr lang="en-US" dirty="0"/>
              <a:t>How filters work in a web application</a:t>
            </a:r>
          </a:p>
        </p:txBody>
      </p:sp>
      <p:pic>
        <p:nvPicPr>
          <p:cNvPr id="5" name="Picture 4" descr="A diagram of a security system&#10;&#10;Description automatically generated">
            <a:extLst>
              <a:ext uri="{FF2B5EF4-FFF2-40B4-BE49-F238E27FC236}">
                <a16:creationId xmlns:a16="http://schemas.microsoft.com/office/drawing/2014/main" id="{F8582D50-8B04-1B07-537F-A63F693C6D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542" y="1520031"/>
            <a:ext cx="7172325" cy="4962525"/>
          </a:xfrm>
          <a:prstGeom prst="rect">
            <a:avLst/>
          </a:prstGeom>
        </p:spPr>
      </p:pic>
    </p:spTree>
    <p:extLst>
      <p:ext uri="{BB962C8B-B14F-4D97-AF65-F5344CB8AC3E}">
        <p14:creationId xmlns:p14="http://schemas.microsoft.com/office/powerpoint/2010/main" val="3252064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D1C02E-1B32-769A-86DE-22F2C2DD092A}"/>
              </a:ext>
            </a:extLst>
          </p:cNvPr>
          <p:cNvPicPr>
            <a:picLocks noGrp="1" noChangeAspect="1"/>
          </p:cNvPicPr>
          <p:nvPr>
            <p:ph idx="1"/>
          </p:nvPr>
        </p:nvPicPr>
        <p:blipFill>
          <a:blip r:embed="rId2"/>
          <a:stretch>
            <a:fillRect/>
          </a:stretch>
        </p:blipFill>
        <p:spPr>
          <a:xfrm>
            <a:off x="1663908" y="884420"/>
            <a:ext cx="8904158" cy="5292543"/>
          </a:xfrm>
          <a:prstGeom prst="rect">
            <a:avLst/>
          </a:prstGeom>
        </p:spPr>
      </p:pic>
    </p:spTree>
    <p:extLst>
      <p:ext uri="{BB962C8B-B14F-4D97-AF65-F5344CB8AC3E}">
        <p14:creationId xmlns:p14="http://schemas.microsoft.com/office/powerpoint/2010/main" val="896636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20FB-26DE-D007-4A31-AF1D1B6CA700}"/>
              </a:ext>
            </a:extLst>
          </p:cNvPr>
          <p:cNvSpPr>
            <a:spLocks noGrp="1"/>
          </p:cNvSpPr>
          <p:nvPr>
            <p:ph type="title"/>
          </p:nvPr>
        </p:nvSpPr>
        <p:spPr/>
        <p:txBody>
          <a:bodyPr/>
          <a:lstStyle/>
          <a:p>
            <a:r>
              <a:rPr lang="en-US" b="1" i="0" dirty="0" err="1">
                <a:solidFill>
                  <a:srgbClr val="222222"/>
                </a:solidFill>
                <a:effectLst/>
                <a:highlight>
                  <a:srgbClr val="FFFFFF"/>
                </a:highlight>
              </a:rPr>
              <a:t>DelegatingFilterProxy</a:t>
            </a:r>
            <a:endParaRPr lang="en-US" dirty="0"/>
          </a:p>
        </p:txBody>
      </p:sp>
      <p:sp>
        <p:nvSpPr>
          <p:cNvPr id="3" name="Content Placeholder 2">
            <a:extLst>
              <a:ext uri="{FF2B5EF4-FFF2-40B4-BE49-F238E27FC236}">
                <a16:creationId xmlns:a16="http://schemas.microsoft.com/office/drawing/2014/main" id="{9EA51D6F-02F5-342A-863B-1563E68A0A9D}"/>
              </a:ext>
            </a:extLst>
          </p:cNvPr>
          <p:cNvSpPr>
            <a:spLocks noGrp="1"/>
          </p:cNvSpPr>
          <p:nvPr>
            <p:ph idx="1"/>
          </p:nvPr>
        </p:nvSpPr>
        <p:spPr/>
        <p:txBody>
          <a:bodyPr/>
          <a:lstStyle/>
          <a:p>
            <a:pPr algn="l"/>
            <a:r>
              <a:rPr lang="en-US" b="0" i="0" dirty="0">
                <a:solidFill>
                  <a:srgbClr val="222222"/>
                </a:solidFill>
                <a:effectLst/>
                <a:highlight>
                  <a:srgbClr val="FFFFFF"/>
                </a:highlight>
                <a:latin typeface="-apple-system"/>
              </a:rPr>
              <a:t>The </a:t>
            </a:r>
            <a:r>
              <a:rPr lang="en-US" b="0" i="0" dirty="0" err="1">
                <a:solidFill>
                  <a:srgbClr val="222222"/>
                </a:solidFill>
                <a:effectLst/>
                <a:highlight>
                  <a:srgbClr val="FFFFFF"/>
                </a:highlight>
                <a:latin typeface="-apple-system"/>
              </a:rPr>
              <a:t>DelegatingFilterProxy</a:t>
            </a:r>
            <a:r>
              <a:rPr lang="en-US" b="0" i="0" dirty="0">
                <a:solidFill>
                  <a:srgbClr val="222222"/>
                </a:solidFill>
                <a:effectLst/>
                <a:highlight>
                  <a:srgbClr val="FFFFFF"/>
                </a:highlight>
                <a:latin typeface="-apple-system"/>
              </a:rPr>
              <a:t>  is a filter which works as a bridge between Servlet container’s life-cycle and Spring’s Application Context. </a:t>
            </a:r>
          </a:p>
          <a:p>
            <a:pPr algn="l"/>
            <a:r>
              <a:rPr lang="en-US" b="0" i="0" dirty="0">
                <a:solidFill>
                  <a:srgbClr val="222222"/>
                </a:solidFill>
                <a:effectLst/>
                <a:highlight>
                  <a:srgbClr val="FFFFFF"/>
                </a:highlight>
                <a:latin typeface="-apple-system"/>
              </a:rPr>
              <a:t>Servlet container does not have any information about the Spring’s application context, but spring security needs security filters to execute the task.</a:t>
            </a:r>
          </a:p>
          <a:p>
            <a:pPr lvl="1"/>
            <a:r>
              <a:rPr lang="en-US" b="0" i="0" dirty="0">
                <a:solidFill>
                  <a:srgbClr val="222222"/>
                </a:solidFill>
                <a:effectLst/>
                <a:highlight>
                  <a:srgbClr val="FFFFFF"/>
                </a:highlight>
                <a:latin typeface="-apple-system"/>
              </a:rPr>
              <a:t>Since </a:t>
            </a:r>
            <a:r>
              <a:rPr lang="en-US" b="0" i="0" dirty="0" err="1">
                <a:solidFill>
                  <a:srgbClr val="222222"/>
                </a:solidFill>
                <a:effectLst/>
                <a:highlight>
                  <a:srgbClr val="FFFFFF"/>
                </a:highlight>
                <a:latin typeface="-apple-system"/>
              </a:rPr>
              <a:t>DelegatingFilterProxy</a:t>
            </a:r>
            <a:r>
              <a:rPr lang="en-US" b="0" i="0" dirty="0">
                <a:solidFill>
                  <a:srgbClr val="222222"/>
                </a:solidFill>
                <a:effectLst/>
                <a:highlight>
                  <a:srgbClr val="FFFFFF"/>
                </a:highlight>
                <a:latin typeface="-apple-system"/>
              </a:rPr>
              <a:t> is a servlet filter, the application server register it as a normal filter in the context.</a:t>
            </a:r>
          </a:p>
          <a:p>
            <a:pPr lvl="1"/>
            <a:r>
              <a:rPr lang="en-US" b="0" i="0" dirty="0">
                <a:solidFill>
                  <a:srgbClr val="222222"/>
                </a:solidFill>
                <a:effectLst/>
                <a:highlight>
                  <a:srgbClr val="FFFFFF"/>
                </a:highlight>
                <a:latin typeface="-apple-system"/>
              </a:rPr>
              <a:t>The </a:t>
            </a:r>
            <a:r>
              <a:rPr lang="en-US" b="0" i="0" dirty="0" err="1">
                <a:solidFill>
                  <a:srgbClr val="222222"/>
                </a:solidFill>
                <a:effectLst/>
                <a:highlight>
                  <a:srgbClr val="FFFFFF"/>
                </a:highlight>
                <a:latin typeface="-apple-system"/>
              </a:rPr>
              <a:t>DelegatingFilterProxy</a:t>
            </a:r>
            <a:r>
              <a:rPr lang="en-US" b="0" i="0" dirty="0">
                <a:solidFill>
                  <a:srgbClr val="222222"/>
                </a:solidFill>
                <a:effectLst/>
                <a:highlight>
                  <a:srgbClr val="FFFFFF"/>
                </a:highlight>
                <a:latin typeface="-apple-system"/>
              </a:rPr>
              <a:t> as name suggests, delegates the work to the spring bean to start the security flow.</a:t>
            </a:r>
          </a:p>
          <a:p>
            <a:pPr marL="0" indent="0">
              <a:buNone/>
            </a:pPr>
            <a:endParaRPr lang="en-US" dirty="0"/>
          </a:p>
        </p:txBody>
      </p:sp>
    </p:spTree>
    <p:extLst>
      <p:ext uri="{BB962C8B-B14F-4D97-AF65-F5344CB8AC3E}">
        <p14:creationId xmlns:p14="http://schemas.microsoft.com/office/powerpoint/2010/main" val="592810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619F-3F40-D288-D2BA-96010EC39B3D}"/>
              </a:ext>
            </a:extLst>
          </p:cNvPr>
          <p:cNvSpPr>
            <a:spLocks noGrp="1"/>
          </p:cNvSpPr>
          <p:nvPr>
            <p:ph type="title"/>
          </p:nvPr>
        </p:nvSpPr>
        <p:spPr/>
        <p:txBody>
          <a:bodyPr/>
          <a:lstStyle/>
          <a:p>
            <a:r>
              <a:rPr lang="en-US" dirty="0" err="1"/>
              <a:t>FilterChainProxy</a:t>
            </a:r>
            <a:endParaRPr lang="en-US" dirty="0"/>
          </a:p>
        </p:txBody>
      </p:sp>
      <p:sp>
        <p:nvSpPr>
          <p:cNvPr id="3" name="Content Placeholder 2">
            <a:extLst>
              <a:ext uri="{FF2B5EF4-FFF2-40B4-BE49-F238E27FC236}">
                <a16:creationId xmlns:a16="http://schemas.microsoft.com/office/drawing/2014/main" id="{08616159-C38F-64BE-B24B-D4052F6AEAD3}"/>
              </a:ext>
            </a:extLst>
          </p:cNvPr>
          <p:cNvSpPr>
            <a:spLocks noGrp="1"/>
          </p:cNvSpPr>
          <p:nvPr>
            <p:ph idx="1"/>
          </p:nvPr>
        </p:nvSpPr>
        <p:spPr/>
        <p:txBody>
          <a:bodyPr>
            <a:normAutofit/>
          </a:bodyPr>
          <a:lstStyle/>
          <a:p>
            <a:r>
              <a:rPr lang="en-US" dirty="0"/>
              <a:t>This filter contains all the details about the different security filters available through the security filter chain. Let’s understand few important points about the </a:t>
            </a:r>
            <a:r>
              <a:rPr lang="en-US" dirty="0" err="1"/>
              <a:t>FilterChainProxy</a:t>
            </a:r>
            <a:r>
              <a:rPr lang="en-US" dirty="0"/>
              <a:t>:</a:t>
            </a:r>
          </a:p>
          <a:p>
            <a:r>
              <a:rPr lang="en-US" dirty="0"/>
              <a:t>The </a:t>
            </a:r>
            <a:r>
              <a:rPr lang="en-US" dirty="0" err="1"/>
              <a:t>FilterChainProxy</a:t>
            </a:r>
            <a:r>
              <a:rPr lang="en-US" dirty="0"/>
              <a:t> contains information about the different security filter chains and it delegates the task to the chain based on the URI’s mapping or using the </a:t>
            </a:r>
            <a:r>
              <a:rPr lang="en-US" dirty="0" err="1"/>
              <a:t>RequestMatcher</a:t>
            </a:r>
            <a:r>
              <a:rPr lang="en-US" dirty="0"/>
              <a:t> interface.</a:t>
            </a:r>
          </a:p>
          <a:p>
            <a:r>
              <a:rPr lang="en-US" dirty="0"/>
              <a:t>It’s not executed directly but started by the </a:t>
            </a:r>
            <a:r>
              <a:rPr lang="en-US" dirty="0" err="1"/>
              <a:t>DelegatingFilterProxy</a:t>
            </a:r>
            <a:r>
              <a:rPr lang="en-US" dirty="0"/>
              <a:t> filter</a:t>
            </a:r>
          </a:p>
        </p:txBody>
      </p:sp>
    </p:spTree>
    <p:extLst>
      <p:ext uri="{BB962C8B-B14F-4D97-AF65-F5344CB8AC3E}">
        <p14:creationId xmlns:p14="http://schemas.microsoft.com/office/powerpoint/2010/main" val="3951904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263B1-36DC-F010-1EC6-469E9FD58FAE}"/>
              </a:ext>
            </a:extLst>
          </p:cNvPr>
          <p:cNvSpPr>
            <a:spLocks noGrp="1"/>
          </p:cNvSpPr>
          <p:nvPr>
            <p:ph type="title"/>
          </p:nvPr>
        </p:nvSpPr>
        <p:spPr/>
        <p:txBody>
          <a:bodyPr/>
          <a:lstStyle/>
          <a:p>
            <a:r>
              <a:rPr lang="en-US" dirty="0" err="1"/>
              <a:t>SecurityFilterChain</a:t>
            </a:r>
            <a:endParaRPr lang="en-US" dirty="0"/>
          </a:p>
        </p:txBody>
      </p:sp>
      <p:sp>
        <p:nvSpPr>
          <p:cNvPr id="3" name="Content Placeholder 2">
            <a:extLst>
              <a:ext uri="{FF2B5EF4-FFF2-40B4-BE49-F238E27FC236}">
                <a16:creationId xmlns:a16="http://schemas.microsoft.com/office/drawing/2014/main" id="{B25AC786-F2CA-0ACD-C786-3A129FD2E637}"/>
              </a:ext>
            </a:extLst>
          </p:cNvPr>
          <p:cNvSpPr>
            <a:spLocks noGrp="1"/>
          </p:cNvSpPr>
          <p:nvPr>
            <p:ph idx="1"/>
          </p:nvPr>
        </p:nvSpPr>
        <p:spPr/>
        <p:txBody>
          <a:bodyPr/>
          <a:lstStyle/>
          <a:p>
            <a:r>
              <a:rPr lang="en-US" dirty="0"/>
              <a:t>We can have multiple </a:t>
            </a:r>
            <a:r>
              <a:rPr lang="en-US" dirty="0" err="1"/>
              <a:t>SecurityFilterChain</a:t>
            </a:r>
            <a:r>
              <a:rPr lang="en-US" dirty="0"/>
              <a:t> configured in our application.</a:t>
            </a:r>
          </a:p>
          <a:p>
            <a:pPr lvl="1"/>
            <a:r>
              <a:rPr lang="en-US" dirty="0"/>
              <a:t>Filter chain for our REST API starting with /</a:t>
            </a:r>
            <a:r>
              <a:rPr lang="en-US" dirty="0" err="1"/>
              <a:t>api</a:t>
            </a:r>
            <a:r>
              <a:rPr lang="en-US" dirty="0"/>
              <a:t>/v2/**.</a:t>
            </a:r>
          </a:p>
          <a:p>
            <a:pPr lvl="1"/>
            <a:r>
              <a:rPr lang="en-US" dirty="0"/>
              <a:t>Filter chain for the internal communication /enterprise/**.</a:t>
            </a:r>
          </a:p>
          <a:p>
            <a:pPr lvl="1"/>
            <a:r>
              <a:rPr lang="en-US" dirty="0"/>
              <a:t>Security chain for other applications /**.</a:t>
            </a:r>
          </a:p>
          <a:p>
            <a:pPr lvl="1"/>
            <a:r>
              <a:rPr lang="en-US" dirty="0"/>
              <a:t>Spring security filter chain can contain multiple filters and registered with the </a:t>
            </a:r>
            <a:r>
              <a:rPr lang="en-US" dirty="0" err="1"/>
              <a:t>FilterChainProxy</a:t>
            </a:r>
            <a:r>
              <a:rPr lang="en-US" dirty="0"/>
              <a:t>.</a:t>
            </a:r>
          </a:p>
          <a:p>
            <a:pPr lvl="1"/>
            <a:r>
              <a:rPr lang="en-US" dirty="0"/>
              <a:t>Each security filter can be configured uniquely.</a:t>
            </a:r>
          </a:p>
          <a:p>
            <a:pPr marL="0" indent="0">
              <a:buNone/>
            </a:pPr>
            <a:r>
              <a:rPr lang="en-US" dirty="0"/>
              <a:t>The </a:t>
            </a:r>
            <a:r>
              <a:rPr lang="en-US" dirty="0" err="1"/>
              <a:t>FilterChainProxy</a:t>
            </a:r>
            <a:r>
              <a:rPr lang="en-US" dirty="0"/>
              <a:t> determines which </a:t>
            </a:r>
            <a:r>
              <a:rPr lang="en-US" dirty="0" err="1"/>
              <a:t>SecurityFilterChain</a:t>
            </a:r>
            <a:r>
              <a:rPr lang="en-US" dirty="0"/>
              <a:t> will be invoked for an incoming request.</a:t>
            </a:r>
          </a:p>
        </p:txBody>
      </p:sp>
    </p:spTree>
    <p:extLst>
      <p:ext uri="{BB962C8B-B14F-4D97-AF65-F5344CB8AC3E}">
        <p14:creationId xmlns:p14="http://schemas.microsoft.com/office/powerpoint/2010/main" val="2928264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3C02-5E3F-B333-411E-6DC48A03E5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402978-D183-4633-38A9-E8DFD31FDE24}"/>
              </a:ext>
            </a:extLst>
          </p:cNvPr>
          <p:cNvSpPr>
            <a:spLocks noGrp="1"/>
          </p:cNvSpPr>
          <p:nvPr>
            <p:ph idx="1"/>
          </p:nvPr>
        </p:nvSpPr>
        <p:spPr/>
        <p:txBody>
          <a:bodyPr/>
          <a:lstStyle/>
          <a:p>
            <a:r>
              <a:rPr lang="en-US" dirty="0"/>
              <a:t>There are several benefits of this architecture :</a:t>
            </a:r>
          </a:p>
          <a:p>
            <a:pPr lvl="1"/>
            <a:r>
              <a:rPr lang="en-US" dirty="0"/>
              <a:t>It provides a centralized approach to start the process. There are no multiple entry points to the security stack.</a:t>
            </a:r>
          </a:p>
          <a:p>
            <a:pPr lvl="1"/>
            <a:r>
              <a:rPr lang="en-US" dirty="0"/>
              <a:t>Make it more easy to debug an application. We know where to start (</a:t>
            </a:r>
            <a:r>
              <a:rPr lang="en-US" dirty="0" err="1"/>
              <a:t>FilterChainProxy</a:t>
            </a:r>
            <a:r>
              <a:rPr lang="en-US" dirty="0"/>
              <a:t> is a prominent place to star).</a:t>
            </a:r>
          </a:p>
          <a:p>
            <a:pPr lvl="1"/>
            <a:r>
              <a:rPr lang="en-US" dirty="0"/>
              <a:t>Security is not an optional task, it’s a central point to start the process.</a:t>
            </a:r>
          </a:p>
          <a:p>
            <a:pPr lvl="1"/>
            <a:r>
              <a:rPr lang="en-US" dirty="0"/>
              <a:t>Clearing out the security context on logout is not optional and having one entry point make it easy to execute it.</a:t>
            </a:r>
          </a:p>
        </p:txBody>
      </p:sp>
    </p:spTree>
    <p:extLst>
      <p:ext uri="{BB962C8B-B14F-4D97-AF65-F5344CB8AC3E}">
        <p14:creationId xmlns:p14="http://schemas.microsoft.com/office/powerpoint/2010/main" val="221803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using Spring Security Filters Chain</a:t>
            </a:r>
          </a:p>
        </p:txBody>
      </p:sp>
    </p:spTree>
    <p:extLst>
      <p:ext uri="{BB962C8B-B14F-4D97-AF65-F5344CB8AC3E}">
        <p14:creationId xmlns:p14="http://schemas.microsoft.com/office/powerpoint/2010/main" val="3288044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022DA-FAA5-FEC5-7F30-2B7D06150486}"/>
              </a:ext>
            </a:extLst>
          </p:cNvPr>
          <p:cNvSpPr>
            <a:spLocks noGrp="1"/>
          </p:cNvSpPr>
          <p:nvPr>
            <p:ph type="title"/>
          </p:nvPr>
        </p:nvSpPr>
        <p:spPr/>
        <p:txBody>
          <a:bodyPr/>
          <a:lstStyle/>
          <a:p>
            <a:r>
              <a:rPr lang="en-US" dirty="0"/>
              <a:t>Spring Security Authentication</a:t>
            </a:r>
          </a:p>
        </p:txBody>
      </p:sp>
      <p:sp>
        <p:nvSpPr>
          <p:cNvPr id="3" name="Content Placeholder 2">
            <a:extLst>
              <a:ext uri="{FF2B5EF4-FFF2-40B4-BE49-F238E27FC236}">
                <a16:creationId xmlns:a16="http://schemas.microsoft.com/office/drawing/2014/main" id="{23CD302D-EEDE-9802-4B4A-1FEFF6496EF5}"/>
              </a:ext>
            </a:extLst>
          </p:cNvPr>
          <p:cNvSpPr>
            <a:spLocks noGrp="1"/>
          </p:cNvSpPr>
          <p:nvPr>
            <p:ph idx="1"/>
          </p:nvPr>
        </p:nvSpPr>
        <p:spPr/>
        <p:txBody>
          <a:bodyPr/>
          <a:lstStyle/>
          <a:p>
            <a:r>
              <a:rPr lang="en-US" dirty="0"/>
              <a:t>One of the core aim for any security framework is to verify the caller’s claim, the caller is who they claim to be. Authentication is the process to validate credentials and caller’s claim.</a:t>
            </a:r>
          </a:p>
        </p:txBody>
      </p:sp>
    </p:spTree>
    <p:extLst>
      <p:ext uri="{BB962C8B-B14F-4D97-AF65-F5344CB8AC3E}">
        <p14:creationId xmlns:p14="http://schemas.microsoft.com/office/powerpoint/2010/main" val="1801359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A2EB-3FB0-A7DF-2626-C70A6FBC90E5}"/>
              </a:ext>
            </a:extLst>
          </p:cNvPr>
          <p:cNvSpPr>
            <a:spLocks noGrp="1"/>
          </p:cNvSpPr>
          <p:nvPr>
            <p:ph type="title"/>
          </p:nvPr>
        </p:nvSpPr>
        <p:spPr/>
        <p:txBody>
          <a:bodyPr/>
          <a:lstStyle/>
          <a:p>
            <a:r>
              <a:rPr lang="en-US" dirty="0"/>
              <a:t>Spring Security Authentication Flow</a:t>
            </a:r>
          </a:p>
        </p:txBody>
      </p:sp>
      <p:pic>
        <p:nvPicPr>
          <p:cNvPr id="5" name="Content Placeholder 4" descr="A diagram of a company&#10;&#10;Description automatically generated">
            <a:extLst>
              <a:ext uri="{FF2B5EF4-FFF2-40B4-BE49-F238E27FC236}">
                <a16:creationId xmlns:a16="http://schemas.microsoft.com/office/drawing/2014/main" id="{6699ADFB-7A11-04CB-EFFF-ACA62BA31A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6638" y="1825625"/>
            <a:ext cx="7338724" cy="4351338"/>
          </a:xfrm>
        </p:spPr>
      </p:pic>
    </p:spTree>
    <p:extLst>
      <p:ext uri="{BB962C8B-B14F-4D97-AF65-F5344CB8AC3E}">
        <p14:creationId xmlns:p14="http://schemas.microsoft.com/office/powerpoint/2010/main" val="630737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F193-F51E-CBFF-99AE-A3CEEBD8FAF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56DE8F6-A2BC-A6BA-AF70-703029EB4293}"/>
              </a:ext>
            </a:extLst>
          </p:cNvPr>
          <p:cNvSpPr>
            <a:spLocks noGrp="1"/>
          </p:cNvSpPr>
          <p:nvPr>
            <p:ph idx="1"/>
          </p:nvPr>
        </p:nvSpPr>
        <p:spPr/>
        <p:txBody>
          <a:bodyPr/>
          <a:lstStyle/>
          <a:p>
            <a:r>
              <a:rPr lang="en-US" dirty="0"/>
              <a:t>Spring security comes with a set of security filters. Each request to the server is intercepted by these filters. These filters will process the request based on the logic and will pass or reject the incoming request.</a:t>
            </a:r>
          </a:p>
          <a:p>
            <a:endParaRPr lang="en-US" dirty="0"/>
          </a:p>
        </p:txBody>
      </p:sp>
    </p:spTree>
    <p:extLst>
      <p:ext uri="{BB962C8B-B14F-4D97-AF65-F5344CB8AC3E}">
        <p14:creationId xmlns:p14="http://schemas.microsoft.com/office/powerpoint/2010/main" val="3695859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7FA73-B880-E701-5620-C56D004C455D}"/>
              </a:ext>
            </a:extLst>
          </p:cNvPr>
          <p:cNvSpPr>
            <a:spLocks noGrp="1"/>
          </p:cNvSpPr>
          <p:nvPr>
            <p:ph type="title"/>
          </p:nvPr>
        </p:nvSpPr>
        <p:spPr/>
        <p:txBody>
          <a:bodyPr/>
          <a:lstStyle/>
          <a:p>
            <a:r>
              <a:rPr lang="en-US" dirty="0"/>
              <a:t>Incoming HTTP Request</a:t>
            </a:r>
          </a:p>
        </p:txBody>
      </p:sp>
      <p:sp>
        <p:nvSpPr>
          <p:cNvPr id="3" name="Content Placeholder 2">
            <a:extLst>
              <a:ext uri="{FF2B5EF4-FFF2-40B4-BE49-F238E27FC236}">
                <a16:creationId xmlns:a16="http://schemas.microsoft.com/office/drawing/2014/main" id="{2A822B15-1173-AA30-E429-D3AEF0A2D301}"/>
              </a:ext>
            </a:extLst>
          </p:cNvPr>
          <p:cNvSpPr>
            <a:spLocks noGrp="1"/>
          </p:cNvSpPr>
          <p:nvPr>
            <p:ph idx="1"/>
          </p:nvPr>
        </p:nvSpPr>
        <p:spPr/>
        <p:txBody>
          <a:bodyPr>
            <a:normAutofit/>
          </a:bodyPr>
          <a:lstStyle/>
          <a:p>
            <a:r>
              <a:rPr lang="en-US" dirty="0"/>
              <a:t>Each incoming request will go through a chain of filters for authentication and authorization process. </a:t>
            </a:r>
          </a:p>
          <a:p>
            <a:pPr lvl="1"/>
            <a:r>
              <a:rPr lang="en-US" dirty="0"/>
              <a:t>Each request will pass through the filters until it reaches relevant authentication filter.</a:t>
            </a:r>
          </a:p>
          <a:p>
            <a:pPr lvl="1"/>
            <a:r>
              <a:rPr lang="en-US" dirty="0"/>
              <a:t>Each request can go through a distinct set of security filters. We can configure filters by request patterns or even based on the request headers.</a:t>
            </a:r>
          </a:p>
          <a:p>
            <a:pPr lvl="1"/>
            <a:r>
              <a:rPr lang="en-US" dirty="0"/>
              <a:t>In above diagram, login request goes through the filter chains and reaches to the </a:t>
            </a:r>
            <a:r>
              <a:rPr lang="en-US" dirty="0" err="1"/>
              <a:t>UsernamePasswordAuthenticationFilter</a:t>
            </a:r>
            <a:r>
              <a:rPr lang="en-US" dirty="0"/>
              <a:t>.</a:t>
            </a:r>
          </a:p>
          <a:p>
            <a:pPr lvl="1"/>
            <a:r>
              <a:rPr lang="en-US" dirty="0"/>
              <a:t>Similarly, a basic authentication request goes through the chains of filters until it reaches </a:t>
            </a:r>
            <a:r>
              <a:rPr lang="en-US" dirty="0" err="1"/>
              <a:t>BasicAuthenticationFilter</a:t>
            </a:r>
            <a:r>
              <a:rPr lang="en-US" dirty="0"/>
              <a:t>.</a:t>
            </a:r>
          </a:p>
        </p:txBody>
      </p:sp>
    </p:spTree>
    <p:extLst>
      <p:ext uri="{BB962C8B-B14F-4D97-AF65-F5344CB8AC3E}">
        <p14:creationId xmlns:p14="http://schemas.microsoft.com/office/powerpoint/2010/main" val="692572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FE52-F898-12FE-7DF0-DAF6BC189322}"/>
              </a:ext>
            </a:extLst>
          </p:cNvPr>
          <p:cNvSpPr>
            <a:spLocks noGrp="1"/>
          </p:cNvSpPr>
          <p:nvPr>
            <p:ph type="title"/>
          </p:nvPr>
        </p:nvSpPr>
        <p:spPr/>
        <p:txBody>
          <a:bodyPr/>
          <a:lstStyle/>
          <a:p>
            <a:r>
              <a:rPr lang="en-US" dirty="0"/>
              <a:t>Authentication Token Based on User Credentials</a:t>
            </a:r>
          </a:p>
        </p:txBody>
      </p:sp>
      <p:sp>
        <p:nvSpPr>
          <p:cNvPr id="3" name="Content Placeholder 2">
            <a:extLst>
              <a:ext uri="{FF2B5EF4-FFF2-40B4-BE49-F238E27FC236}">
                <a16:creationId xmlns:a16="http://schemas.microsoft.com/office/drawing/2014/main" id="{7E4E5899-F423-23F4-4684-F660B581CCA2}"/>
              </a:ext>
            </a:extLst>
          </p:cNvPr>
          <p:cNvSpPr>
            <a:spLocks noGrp="1"/>
          </p:cNvSpPr>
          <p:nvPr>
            <p:ph idx="1"/>
          </p:nvPr>
        </p:nvSpPr>
        <p:spPr/>
        <p:txBody>
          <a:bodyPr/>
          <a:lstStyle/>
          <a:p>
            <a:r>
              <a:rPr lang="en-US" dirty="0"/>
              <a:t>For the user login, once the authentication request reached the authentication filter, it will extract the username and password from the request payload. </a:t>
            </a:r>
          </a:p>
          <a:p>
            <a:r>
              <a:rPr lang="en-US" dirty="0"/>
              <a:t>Spring security will create an Authentication object based on the username and password</a:t>
            </a:r>
          </a:p>
        </p:txBody>
      </p:sp>
    </p:spTree>
    <p:extLst>
      <p:ext uri="{BB962C8B-B14F-4D97-AF65-F5344CB8AC3E}">
        <p14:creationId xmlns:p14="http://schemas.microsoft.com/office/powerpoint/2010/main" val="153671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D9B6B-14CC-2642-C16F-0E0E1C5CF4F4}"/>
              </a:ext>
            </a:extLst>
          </p:cNvPr>
          <p:cNvSpPr>
            <a:spLocks noGrp="1"/>
          </p:cNvSpPr>
          <p:nvPr>
            <p:ph type="title"/>
          </p:nvPr>
        </p:nvSpPr>
        <p:spPr/>
        <p:txBody>
          <a:bodyPr/>
          <a:lstStyle/>
          <a:p>
            <a:r>
              <a:rPr lang="en-US" dirty="0"/>
              <a:t>Authentication Manager</a:t>
            </a:r>
          </a:p>
        </p:txBody>
      </p:sp>
      <p:sp>
        <p:nvSpPr>
          <p:cNvPr id="3" name="Content Placeholder 2">
            <a:extLst>
              <a:ext uri="{FF2B5EF4-FFF2-40B4-BE49-F238E27FC236}">
                <a16:creationId xmlns:a16="http://schemas.microsoft.com/office/drawing/2014/main" id="{59207F39-B1BB-2764-E955-A4E770C84650}"/>
              </a:ext>
            </a:extLst>
          </p:cNvPr>
          <p:cNvSpPr>
            <a:spLocks noGrp="1"/>
          </p:cNvSpPr>
          <p:nvPr>
            <p:ph idx="1"/>
          </p:nvPr>
        </p:nvSpPr>
        <p:spPr/>
        <p:txBody>
          <a:bodyPr/>
          <a:lstStyle/>
          <a:p>
            <a:r>
              <a:rPr lang="en-US" dirty="0"/>
              <a:t>Authentication Manager is the core for the Spring security authentication process. </a:t>
            </a:r>
            <a:r>
              <a:rPr lang="en-US" dirty="0" err="1"/>
              <a:t>AuthenticationManager</a:t>
            </a:r>
            <a:r>
              <a:rPr lang="en-US" dirty="0"/>
              <a:t> is the API that defines how Spring Security’s Filters perform authentication.</a:t>
            </a:r>
          </a:p>
        </p:txBody>
      </p:sp>
    </p:spTree>
    <p:extLst>
      <p:ext uri="{BB962C8B-B14F-4D97-AF65-F5344CB8AC3E}">
        <p14:creationId xmlns:p14="http://schemas.microsoft.com/office/powerpoint/2010/main" val="1299072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5D46-239D-BB8B-FBDF-BE8867D2FA21}"/>
              </a:ext>
            </a:extLst>
          </p:cNvPr>
          <p:cNvSpPr>
            <a:spLocks noGrp="1"/>
          </p:cNvSpPr>
          <p:nvPr>
            <p:ph type="title"/>
          </p:nvPr>
        </p:nvSpPr>
        <p:spPr/>
        <p:txBody>
          <a:bodyPr/>
          <a:lstStyle/>
          <a:p>
            <a:r>
              <a:rPr lang="en-US" dirty="0" err="1"/>
              <a:t>AuthenticationProviders</a:t>
            </a:r>
            <a:endParaRPr lang="en-US" dirty="0"/>
          </a:p>
        </p:txBody>
      </p:sp>
      <p:sp>
        <p:nvSpPr>
          <p:cNvPr id="3" name="Content Placeholder 2">
            <a:extLst>
              <a:ext uri="{FF2B5EF4-FFF2-40B4-BE49-F238E27FC236}">
                <a16:creationId xmlns:a16="http://schemas.microsoft.com/office/drawing/2014/main" id="{7FF3B567-CD04-1AB5-BE6D-60F8078EAF12}"/>
              </a:ext>
            </a:extLst>
          </p:cNvPr>
          <p:cNvSpPr>
            <a:spLocks noGrp="1"/>
          </p:cNvSpPr>
          <p:nvPr>
            <p:ph idx="1"/>
          </p:nvPr>
        </p:nvSpPr>
        <p:spPr/>
        <p:txBody>
          <a:bodyPr/>
          <a:lstStyle/>
          <a:p>
            <a:r>
              <a:rPr lang="en-US" dirty="0"/>
              <a:t>The </a:t>
            </a:r>
            <a:r>
              <a:rPr lang="en-US" dirty="0" err="1"/>
              <a:t>AuthenticationProvider</a:t>
            </a:r>
            <a:r>
              <a:rPr lang="en-US" dirty="0"/>
              <a:t> are responsible to process the request and perform a specific authentication. It provides a mechanism for getting the user details with which we can perform authentication</a:t>
            </a:r>
          </a:p>
        </p:txBody>
      </p:sp>
    </p:spTree>
    <p:extLst>
      <p:ext uri="{BB962C8B-B14F-4D97-AF65-F5344CB8AC3E}">
        <p14:creationId xmlns:p14="http://schemas.microsoft.com/office/powerpoint/2010/main" val="3768203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CCDDF-E9EE-9CA4-AA9F-E47F80DFE0CC}"/>
              </a:ext>
            </a:extLst>
          </p:cNvPr>
          <p:cNvSpPr>
            <a:spLocks noGrp="1"/>
          </p:cNvSpPr>
          <p:nvPr>
            <p:ph type="title"/>
          </p:nvPr>
        </p:nvSpPr>
        <p:spPr/>
        <p:txBody>
          <a:bodyPr/>
          <a:lstStyle/>
          <a:p>
            <a:r>
              <a:rPr lang="en-US" dirty="0"/>
              <a:t>Custom Authentication Provider</a:t>
            </a:r>
          </a:p>
        </p:txBody>
      </p:sp>
      <p:sp>
        <p:nvSpPr>
          <p:cNvPr id="3" name="Content Placeholder 2">
            <a:extLst>
              <a:ext uri="{FF2B5EF4-FFF2-40B4-BE49-F238E27FC236}">
                <a16:creationId xmlns:a16="http://schemas.microsoft.com/office/drawing/2014/main" id="{F5732E70-EBE2-46D9-867D-62C624C5F273}"/>
              </a:ext>
            </a:extLst>
          </p:cNvPr>
          <p:cNvSpPr>
            <a:spLocks noGrp="1"/>
          </p:cNvSpPr>
          <p:nvPr>
            <p:ph idx="1"/>
          </p:nvPr>
        </p:nvSpPr>
        <p:spPr/>
        <p:txBody>
          <a:bodyPr/>
          <a:lstStyle/>
          <a:p>
            <a:r>
              <a:rPr lang="en-US" dirty="0"/>
              <a:t>For some enterprise applications, we may need a custom authentication provider. Implement the </a:t>
            </a:r>
            <a:r>
              <a:rPr lang="en-US" dirty="0" err="1"/>
              <a:t>AuthenticationProvider</a:t>
            </a:r>
            <a:r>
              <a:rPr lang="en-US" dirty="0"/>
              <a:t> interface to create a custom authentication provider for your application.</a:t>
            </a:r>
          </a:p>
        </p:txBody>
      </p:sp>
    </p:spTree>
    <p:extLst>
      <p:ext uri="{BB962C8B-B14F-4D97-AF65-F5344CB8AC3E}">
        <p14:creationId xmlns:p14="http://schemas.microsoft.com/office/powerpoint/2010/main" val="3858448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AB8FE-3622-F164-EDDE-8D1A1488D083}"/>
              </a:ext>
            </a:extLst>
          </p:cNvPr>
          <p:cNvSpPr>
            <a:spLocks noGrp="1"/>
          </p:cNvSpPr>
          <p:nvPr>
            <p:ph type="title"/>
          </p:nvPr>
        </p:nvSpPr>
        <p:spPr/>
        <p:txBody>
          <a:bodyPr/>
          <a:lstStyle/>
          <a:p>
            <a:r>
              <a:rPr lang="en-US" dirty="0"/>
              <a:t>Spring Security </a:t>
            </a:r>
            <a:r>
              <a:rPr lang="en-US" dirty="0" err="1"/>
              <a:t>UserDetailsService</a:t>
            </a:r>
            <a:endParaRPr lang="en-US" dirty="0"/>
          </a:p>
        </p:txBody>
      </p:sp>
      <p:sp>
        <p:nvSpPr>
          <p:cNvPr id="3" name="Content Placeholder 2">
            <a:extLst>
              <a:ext uri="{FF2B5EF4-FFF2-40B4-BE49-F238E27FC236}">
                <a16:creationId xmlns:a16="http://schemas.microsoft.com/office/drawing/2014/main" id="{FE29D92F-F515-ED3A-FB40-19035FEC9750}"/>
              </a:ext>
            </a:extLst>
          </p:cNvPr>
          <p:cNvSpPr>
            <a:spLocks noGrp="1"/>
          </p:cNvSpPr>
          <p:nvPr>
            <p:ph idx="1"/>
          </p:nvPr>
        </p:nvSpPr>
        <p:spPr/>
        <p:txBody>
          <a:bodyPr/>
          <a:lstStyle/>
          <a:p>
            <a:r>
              <a:rPr lang="en-US" dirty="0"/>
              <a:t>Not all, but few authentication provider may need </a:t>
            </a:r>
            <a:r>
              <a:rPr lang="en-US" dirty="0" err="1"/>
              <a:t>UserDetailsService</a:t>
            </a:r>
            <a:r>
              <a:rPr lang="en-US" dirty="0"/>
              <a:t> to get the user details stored in the database by username                                                      (e.g. </a:t>
            </a:r>
            <a:r>
              <a:rPr lang="en-US" dirty="0" err="1"/>
              <a:t>DaoAuthenticationProvider</a:t>
            </a:r>
            <a:r>
              <a:rPr lang="en-US" dirty="0"/>
              <a:t>). </a:t>
            </a:r>
          </a:p>
          <a:p>
            <a:r>
              <a:rPr lang="en-US" dirty="0"/>
              <a:t>Most of the standard web application may use the </a:t>
            </a:r>
            <a:r>
              <a:rPr lang="en-US" dirty="0" err="1"/>
              <a:t>UserDetailsService</a:t>
            </a:r>
            <a:r>
              <a:rPr lang="en-US" dirty="0"/>
              <a:t> to get user information during login process.</a:t>
            </a:r>
          </a:p>
        </p:txBody>
      </p:sp>
    </p:spTree>
    <p:extLst>
      <p:ext uri="{BB962C8B-B14F-4D97-AF65-F5344CB8AC3E}">
        <p14:creationId xmlns:p14="http://schemas.microsoft.com/office/powerpoint/2010/main" val="218706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ED25-D0B4-E915-26E3-58FBB63E39EB}"/>
              </a:ext>
            </a:extLst>
          </p:cNvPr>
          <p:cNvSpPr>
            <a:spLocks noGrp="1"/>
          </p:cNvSpPr>
          <p:nvPr>
            <p:ph type="title"/>
          </p:nvPr>
        </p:nvSpPr>
        <p:spPr/>
        <p:txBody>
          <a:bodyPr/>
          <a:lstStyle/>
          <a:p>
            <a:r>
              <a:rPr lang="en-US" dirty="0"/>
              <a:t>Authentication and Authentication Exception</a:t>
            </a:r>
          </a:p>
        </p:txBody>
      </p:sp>
      <p:sp>
        <p:nvSpPr>
          <p:cNvPr id="3" name="Content Placeholder 2">
            <a:extLst>
              <a:ext uri="{FF2B5EF4-FFF2-40B4-BE49-F238E27FC236}">
                <a16:creationId xmlns:a16="http://schemas.microsoft.com/office/drawing/2014/main" id="{C01B8121-F649-8281-2364-9E6D263B5BEA}"/>
              </a:ext>
            </a:extLst>
          </p:cNvPr>
          <p:cNvSpPr>
            <a:spLocks noGrp="1"/>
          </p:cNvSpPr>
          <p:nvPr>
            <p:ph idx="1"/>
          </p:nvPr>
        </p:nvSpPr>
        <p:spPr/>
        <p:txBody>
          <a:bodyPr/>
          <a:lstStyle/>
          <a:p>
            <a:r>
              <a:rPr lang="en-US" dirty="0"/>
              <a:t>During the authentication process, if the user authentication is successful, we will send a fully initialized Authentication object back. For failed authentication, </a:t>
            </a:r>
            <a:r>
              <a:rPr lang="en-US" dirty="0" err="1"/>
              <a:t>AuthenticationException</a:t>
            </a:r>
            <a:r>
              <a:rPr lang="en-US" dirty="0"/>
              <a:t> will be thrown. A fully populated authentication object carries the following details:</a:t>
            </a:r>
          </a:p>
          <a:p>
            <a:pPr lvl="1"/>
            <a:r>
              <a:rPr lang="en-US" dirty="0"/>
              <a:t>User credentials.</a:t>
            </a:r>
          </a:p>
          <a:p>
            <a:pPr lvl="1"/>
            <a:r>
              <a:rPr lang="en-US" dirty="0"/>
              <a:t>List of granted authorities (for authorization).</a:t>
            </a:r>
          </a:p>
          <a:p>
            <a:pPr lvl="1"/>
            <a:r>
              <a:rPr lang="en-US" dirty="0"/>
              <a:t>Authentication flag.</a:t>
            </a:r>
          </a:p>
        </p:txBody>
      </p:sp>
    </p:spTree>
    <p:extLst>
      <p:ext uri="{BB962C8B-B14F-4D97-AF65-F5344CB8AC3E}">
        <p14:creationId xmlns:p14="http://schemas.microsoft.com/office/powerpoint/2010/main" val="2362873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F6695-743A-A003-418A-4C564A90E7A0}"/>
              </a:ext>
            </a:extLst>
          </p:cNvPr>
          <p:cNvSpPr>
            <a:spLocks noGrp="1"/>
          </p:cNvSpPr>
          <p:nvPr>
            <p:ph type="title"/>
          </p:nvPr>
        </p:nvSpPr>
        <p:spPr/>
        <p:txBody>
          <a:bodyPr/>
          <a:lstStyle/>
          <a:p>
            <a:r>
              <a:rPr lang="en-US" dirty="0"/>
              <a:t>Setting Authentication </a:t>
            </a:r>
            <a:r>
              <a:rPr lang="en-US" dirty="0" err="1"/>
              <a:t>SecurityContext</a:t>
            </a:r>
            <a:endParaRPr lang="en-US" dirty="0"/>
          </a:p>
        </p:txBody>
      </p:sp>
      <p:sp>
        <p:nvSpPr>
          <p:cNvPr id="3" name="Content Placeholder 2">
            <a:extLst>
              <a:ext uri="{FF2B5EF4-FFF2-40B4-BE49-F238E27FC236}">
                <a16:creationId xmlns:a16="http://schemas.microsoft.com/office/drawing/2014/main" id="{97C342DE-A8E6-EE22-42B6-16111922039D}"/>
              </a:ext>
            </a:extLst>
          </p:cNvPr>
          <p:cNvSpPr>
            <a:spLocks noGrp="1"/>
          </p:cNvSpPr>
          <p:nvPr>
            <p:ph idx="1"/>
          </p:nvPr>
        </p:nvSpPr>
        <p:spPr/>
        <p:txBody>
          <a:bodyPr/>
          <a:lstStyle/>
          <a:p>
            <a:r>
              <a:rPr lang="en-US" dirty="0"/>
              <a:t>The last step on the successful authentication is setting up the authentication object in the </a:t>
            </a:r>
            <a:r>
              <a:rPr lang="en-US" dirty="0" err="1"/>
              <a:t>SecurityContext</a:t>
            </a:r>
            <a:r>
              <a:rPr lang="en-US" dirty="0"/>
              <a:t>. It wraps the </a:t>
            </a:r>
            <a:r>
              <a:rPr lang="en-US" dirty="0" err="1"/>
              <a:t>SecurityContext</a:t>
            </a:r>
            <a:r>
              <a:rPr lang="en-US" dirty="0"/>
              <a:t> around the </a:t>
            </a:r>
            <a:r>
              <a:rPr lang="en-US" dirty="0" err="1"/>
              <a:t>SecurityContextHolder</a:t>
            </a:r>
            <a:r>
              <a:rPr lang="en-US" dirty="0"/>
              <a:t>.</a:t>
            </a:r>
          </a:p>
          <a:p>
            <a:pPr lvl="1"/>
            <a:r>
              <a:rPr lang="en-US" dirty="0"/>
              <a:t>The </a:t>
            </a:r>
            <a:r>
              <a:rPr lang="en-US" dirty="0" err="1"/>
              <a:t>SecurityContextHolder</a:t>
            </a:r>
            <a:r>
              <a:rPr lang="en-US" dirty="0"/>
              <a:t> is where Spring Security stores the details about authenticated users.</a:t>
            </a:r>
          </a:p>
          <a:p>
            <a:pPr lvl="1"/>
            <a:r>
              <a:rPr lang="en-US" dirty="0"/>
              <a:t>Spring security will not validate how the </a:t>
            </a:r>
            <a:r>
              <a:rPr lang="en-US" dirty="0" err="1"/>
              <a:t>SecurityContextHolder</a:t>
            </a:r>
            <a:r>
              <a:rPr lang="en-US" dirty="0"/>
              <a:t> is populated.</a:t>
            </a:r>
          </a:p>
          <a:p>
            <a:pPr lvl="1"/>
            <a:r>
              <a:rPr lang="en-US" dirty="0"/>
              <a:t>If it finds values in the </a:t>
            </a:r>
            <a:r>
              <a:rPr lang="en-US" dirty="0" err="1"/>
              <a:t>SecurityContextHolder</a:t>
            </a:r>
            <a:r>
              <a:rPr lang="en-US" dirty="0"/>
              <a:t>, it assumes that current user is an authenticated user.</a:t>
            </a:r>
          </a:p>
        </p:txBody>
      </p:sp>
    </p:spTree>
    <p:extLst>
      <p:ext uri="{BB962C8B-B14F-4D97-AF65-F5344CB8AC3E}">
        <p14:creationId xmlns:p14="http://schemas.microsoft.com/office/powerpoint/2010/main" val="3707151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Authentication</a:t>
            </a:r>
          </a:p>
        </p:txBody>
      </p:sp>
    </p:spTree>
    <p:extLst>
      <p:ext uri="{BB962C8B-B14F-4D97-AF65-F5344CB8AC3E}">
        <p14:creationId xmlns:p14="http://schemas.microsoft.com/office/powerpoint/2010/main" val="1766002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18D91-1D6A-04D6-9C59-088C1BD0DEB7}"/>
              </a:ext>
            </a:extLst>
          </p:cNvPr>
          <p:cNvSpPr>
            <a:spLocks noGrp="1"/>
          </p:cNvSpPr>
          <p:nvPr>
            <p:ph type="title"/>
          </p:nvPr>
        </p:nvSpPr>
        <p:spPr/>
        <p:txBody>
          <a:bodyPr/>
          <a:lstStyle/>
          <a:p>
            <a:r>
              <a:rPr lang="en-US" dirty="0"/>
              <a:t>Spring Security Password Encoder</a:t>
            </a:r>
          </a:p>
        </p:txBody>
      </p:sp>
      <p:sp>
        <p:nvSpPr>
          <p:cNvPr id="3" name="Content Placeholder 2">
            <a:extLst>
              <a:ext uri="{FF2B5EF4-FFF2-40B4-BE49-F238E27FC236}">
                <a16:creationId xmlns:a16="http://schemas.microsoft.com/office/drawing/2014/main" id="{C027F144-BB22-4EF0-0B73-57AC9534F322}"/>
              </a:ext>
            </a:extLst>
          </p:cNvPr>
          <p:cNvSpPr>
            <a:spLocks noGrp="1"/>
          </p:cNvSpPr>
          <p:nvPr>
            <p:ph idx="1"/>
          </p:nvPr>
        </p:nvSpPr>
        <p:spPr/>
        <p:txBody>
          <a:bodyPr/>
          <a:lstStyle/>
          <a:p>
            <a:r>
              <a:rPr lang="en-US" dirty="0"/>
              <a:t>Spring Boot provides different password encoding implementation with the flexibility to choose a certain encoder based on our need. </a:t>
            </a:r>
          </a:p>
          <a:p>
            <a:r>
              <a:rPr lang="en-US" dirty="0"/>
              <a:t>Spring Security 5.0 introduces </a:t>
            </a:r>
            <a:r>
              <a:rPr lang="en-US" b="1" dirty="0" err="1"/>
              <a:t>DelegatingPasswordEncoder</a:t>
            </a:r>
            <a:r>
              <a:rPr lang="en-US" dirty="0"/>
              <a:t> as the new encoder to address following issues:</a:t>
            </a:r>
          </a:p>
          <a:p>
            <a:pPr lvl="1"/>
            <a:r>
              <a:rPr lang="en-US" dirty="0"/>
              <a:t>Encode password using latest storage recommendations.</a:t>
            </a:r>
          </a:p>
          <a:p>
            <a:pPr lvl="1"/>
            <a:r>
              <a:rPr lang="en-US" dirty="0"/>
              <a:t>Allowing for upgrading the encoding.</a:t>
            </a:r>
          </a:p>
        </p:txBody>
      </p:sp>
    </p:spTree>
    <p:extLst>
      <p:ext uri="{BB962C8B-B14F-4D97-AF65-F5344CB8AC3E}">
        <p14:creationId xmlns:p14="http://schemas.microsoft.com/office/powerpoint/2010/main" val="1411081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Authentication and </a:t>
            </a:r>
            <a:r>
              <a:rPr lang="en-US" dirty="0" err="1"/>
              <a:t>Bcrypt</a:t>
            </a:r>
            <a:r>
              <a:rPr lang="en-US" dirty="0"/>
              <a:t> Password encoder</a:t>
            </a:r>
          </a:p>
        </p:txBody>
      </p:sp>
    </p:spTree>
    <p:extLst>
      <p:ext uri="{BB962C8B-B14F-4D97-AF65-F5344CB8AC3E}">
        <p14:creationId xmlns:p14="http://schemas.microsoft.com/office/powerpoint/2010/main" val="710845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06CC7-1954-D102-56C2-174DE119B2FC}"/>
              </a:ext>
            </a:extLst>
          </p:cNvPr>
          <p:cNvSpPr>
            <a:spLocks noGrp="1"/>
          </p:cNvSpPr>
          <p:nvPr>
            <p:ph type="title"/>
          </p:nvPr>
        </p:nvSpPr>
        <p:spPr/>
        <p:txBody>
          <a:bodyPr/>
          <a:lstStyle/>
          <a:p>
            <a:r>
              <a:rPr lang="en-US" dirty="0"/>
              <a:t>How </a:t>
            </a:r>
            <a:r>
              <a:rPr lang="en-US" dirty="0" err="1"/>
              <a:t>BCrypt</a:t>
            </a:r>
            <a:r>
              <a:rPr lang="en-US" dirty="0"/>
              <a:t> Works</a:t>
            </a:r>
          </a:p>
        </p:txBody>
      </p:sp>
      <p:sp>
        <p:nvSpPr>
          <p:cNvPr id="3" name="Content Placeholder 2">
            <a:extLst>
              <a:ext uri="{FF2B5EF4-FFF2-40B4-BE49-F238E27FC236}">
                <a16:creationId xmlns:a16="http://schemas.microsoft.com/office/drawing/2014/main" id="{4F1C07F0-F021-C3F8-38B9-D9E2F4690DE6}"/>
              </a:ext>
            </a:extLst>
          </p:cNvPr>
          <p:cNvSpPr>
            <a:spLocks noGrp="1"/>
          </p:cNvSpPr>
          <p:nvPr>
            <p:ph idx="1"/>
          </p:nvPr>
        </p:nvSpPr>
        <p:spPr/>
        <p:txBody>
          <a:bodyPr>
            <a:normAutofit/>
          </a:bodyPr>
          <a:lstStyle/>
          <a:p>
            <a:r>
              <a:rPr lang="en-US" dirty="0"/>
              <a:t>Before we move to the next section, Let’s answer one important question about the </a:t>
            </a:r>
            <a:r>
              <a:rPr lang="en-US" dirty="0" err="1"/>
              <a:t>BCrypt</a:t>
            </a:r>
            <a:r>
              <a:rPr lang="en-US" dirty="0"/>
              <a:t> algorithm – “If salt is random when encoding is called, how can </a:t>
            </a:r>
            <a:r>
              <a:rPr lang="en-US" dirty="0" err="1"/>
              <a:t>BCrypt</a:t>
            </a:r>
            <a:r>
              <a:rPr lang="en-US" dirty="0"/>
              <a:t> check if password submitted by user matches with the store one?“. </a:t>
            </a:r>
          </a:p>
          <a:p>
            <a:endParaRPr lang="en-US" dirty="0"/>
          </a:p>
          <a:p>
            <a:r>
              <a:rPr lang="en-US" dirty="0" err="1"/>
              <a:t>BCrypt</a:t>
            </a:r>
            <a:r>
              <a:rPr lang="en-US" dirty="0"/>
              <a:t> generates the salt internally (we need not pass it).</a:t>
            </a:r>
          </a:p>
          <a:p>
            <a:r>
              <a:rPr lang="en-US" dirty="0"/>
              <a:t>It stores contacts with the cost and the cipher in a single field delimited by $.</a:t>
            </a:r>
          </a:p>
          <a:p>
            <a:r>
              <a:rPr lang="en-US" dirty="0"/>
              <a:t>When the user tries to login, it uses it on authentication. </a:t>
            </a:r>
          </a:p>
          <a:p>
            <a:r>
              <a:rPr lang="en-US" dirty="0"/>
              <a:t>To understand it better, let’s look at the encoded password:</a:t>
            </a:r>
          </a:p>
          <a:p>
            <a:endParaRPr lang="en-US" dirty="0"/>
          </a:p>
          <a:p>
            <a:r>
              <a:rPr lang="en-US" b="1" dirty="0">
                <a:highlight>
                  <a:srgbClr val="FFFF00"/>
                </a:highlight>
              </a:rPr>
              <a:t>$2a$10$96AvWDbaCiJlfzZ1fwZej.GSXFkAmPjqj12uSMa/RyB6zsIvsgNy.</a:t>
            </a:r>
          </a:p>
          <a:p>
            <a:endParaRPr lang="en-US" b="1" dirty="0"/>
          </a:p>
          <a:p>
            <a:endParaRPr lang="en-US" dirty="0"/>
          </a:p>
        </p:txBody>
      </p:sp>
    </p:spTree>
    <p:extLst>
      <p:ext uri="{BB962C8B-B14F-4D97-AF65-F5344CB8AC3E}">
        <p14:creationId xmlns:p14="http://schemas.microsoft.com/office/powerpoint/2010/main" val="996784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7B6FC-72C2-D37E-4C3E-72A488FC6F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805C09-7C5A-EDFA-F1AE-10D7F48E1D6C}"/>
              </a:ext>
            </a:extLst>
          </p:cNvPr>
          <p:cNvSpPr>
            <a:spLocks noGrp="1"/>
          </p:cNvSpPr>
          <p:nvPr>
            <p:ph idx="1"/>
          </p:nvPr>
        </p:nvSpPr>
        <p:spPr/>
        <p:txBody>
          <a:bodyPr/>
          <a:lstStyle/>
          <a:p>
            <a:r>
              <a:rPr lang="en-US" dirty="0"/>
              <a:t>The first part represents the version ($2a, $2b, $2y) – in our case it is $2a$.</a:t>
            </a:r>
          </a:p>
          <a:p>
            <a:r>
              <a:rPr lang="en-US" dirty="0"/>
              <a:t>The second part is the strength – $10$ for our example.</a:t>
            </a:r>
          </a:p>
          <a:p>
            <a:r>
              <a:rPr lang="en-US" dirty="0"/>
              <a:t>The next 22 characters are the salt for the password (96AvWDbaCiJlfzZ1fwZej.).</a:t>
            </a:r>
          </a:p>
          <a:p>
            <a:r>
              <a:rPr lang="en-US" dirty="0"/>
              <a:t>Remaining section is the hashed password.</a:t>
            </a:r>
          </a:p>
          <a:p>
            <a:r>
              <a:rPr lang="en-US" dirty="0"/>
              <a:t>Here is the breakdown for better clarity:</a:t>
            </a:r>
          </a:p>
        </p:txBody>
      </p:sp>
      <p:pic>
        <p:nvPicPr>
          <p:cNvPr id="4" name="Picture 3">
            <a:extLst>
              <a:ext uri="{FF2B5EF4-FFF2-40B4-BE49-F238E27FC236}">
                <a16:creationId xmlns:a16="http://schemas.microsoft.com/office/drawing/2014/main" id="{079F7A3D-2BF2-4322-66ED-E11DC7C3C111}"/>
              </a:ext>
            </a:extLst>
          </p:cNvPr>
          <p:cNvPicPr>
            <a:picLocks noChangeAspect="1"/>
          </p:cNvPicPr>
          <p:nvPr/>
        </p:nvPicPr>
        <p:blipFill>
          <a:blip r:embed="rId2"/>
          <a:stretch>
            <a:fillRect/>
          </a:stretch>
        </p:blipFill>
        <p:spPr>
          <a:xfrm>
            <a:off x="3432748" y="4348163"/>
            <a:ext cx="4876800" cy="1828800"/>
          </a:xfrm>
          <a:prstGeom prst="rect">
            <a:avLst/>
          </a:prstGeom>
        </p:spPr>
      </p:pic>
    </p:spTree>
    <p:extLst>
      <p:ext uri="{BB962C8B-B14F-4D97-AF65-F5344CB8AC3E}">
        <p14:creationId xmlns:p14="http://schemas.microsoft.com/office/powerpoint/2010/main" val="2908779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18D93-6332-BF2A-4C4A-D0D12AE6637C}"/>
              </a:ext>
            </a:extLst>
          </p:cNvPr>
          <p:cNvSpPr>
            <a:spLocks noGrp="1"/>
          </p:cNvSpPr>
          <p:nvPr>
            <p:ph type="title"/>
          </p:nvPr>
        </p:nvSpPr>
        <p:spPr/>
        <p:txBody>
          <a:bodyPr/>
          <a:lstStyle/>
          <a:p>
            <a:r>
              <a:rPr lang="en-US" dirty="0"/>
              <a:t>Other </a:t>
            </a:r>
            <a:r>
              <a:rPr lang="en-US" dirty="0" err="1"/>
              <a:t>PasswordEncoders</a:t>
            </a:r>
            <a:endParaRPr lang="en-US" dirty="0"/>
          </a:p>
        </p:txBody>
      </p:sp>
      <p:sp>
        <p:nvSpPr>
          <p:cNvPr id="3" name="Content Placeholder 2">
            <a:extLst>
              <a:ext uri="{FF2B5EF4-FFF2-40B4-BE49-F238E27FC236}">
                <a16:creationId xmlns:a16="http://schemas.microsoft.com/office/drawing/2014/main" id="{1B124841-19F9-5438-7778-81195488EB44}"/>
              </a:ext>
            </a:extLst>
          </p:cNvPr>
          <p:cNvSpPr>
            <a:spLocks noGrp="1"/>
          </p:cNvSpPr>
          <p:nvPr>
            <p:ph idx="1"/>
          </p:nvPr>
        </p:nvSpPr>
        <p:spPr/>
        <p:txBody>
          <a:bodyPr/>
          <a:lstStyle/>
          <a:p>
            <a:r>
              <a:rPr lang="en-US" dirty="0"/>
              <a:t>Pbkdf2PasswordEncoder</a:t>
            </a:r>
          </a:p>
          <a:p>
            <a:r>
              <a:rPr lang="en-US" dirty="0" err="1"/>
              <a:t>SCryptPasswordEncoder</a:t>
            </a:r>
            <a:endParaRPr lang="en-US" dirty="0"/>
          </a:p>
          <a:p>
            <a:r>
              <a:rPr lang="en-US" dirty="0"/>
              <a:t>Argon2PasswordEncoder</a:t>
            </a:r>
          </a:p>
        </p:txBody>
      </p:sp>
    </p:spTree>
    <p:extLst>
      <p:ext uri="{BB962C8B-B14F-4D97-AF65-F5344CB8AC3E}">
        <p14:creationId xmlns:p14="http://schemas.microsoft.com/office/powerpoint/2010/main" val="2863970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Register and Login</a:t>
            </a:r>
          </a:p>
        </p:txBody>
      </p:sp>
    </p:spTree>
    <p:extLst>
      <p:ext uri="{BB962C8B-B14F-4D97-AF65-F5344CB8AC3E}">
        <p14:creationId xmlns:p14="http://schemas.microsoft.com/office/powerpoint/2010/main" val="3792895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66A6-D044-FAD3-275A-A195613D8CA8}"/>
              </a:ext>
            </a:extLst>
          </p:cNvPr>
          <p:cNvSpPr>
            <a:spLocks noGrp="1"/>
          </p:cNvSpPr>
          <p:nvPr>
            <p:ph type="title"/>
          </p:nvPr>
        </p:nvSpPr>
        <p:spPr/>
        <p:txBody>
          <a:bodyPr/>
          <a:lstStyle/>
          <a:p>
            <a:r>
              <a:rPr lang="en-US" dirty="0" err="1"/>
              <a:t>DaoAuthenticationProvider</a:t>
            </a:r>
            <a:r>
              <a:rPr lang="en-US" dirty="0"/>
              <a:t> </a:t>
            </a:r>
          </a:p>
        </p:txBody>
      </p:sp>
      <p:sp>
        <p:nvSpPr>
          <p:cNvPr id="3" name="Content Placeholder 2">
            <a:extLst>
              <a:ext uri="{FF2B5EF4-FFF2-40B4-BE49-F238E27FC236}">
                <a16:creationId xmlns:a16="http://schemas.microsoft.com/office/drawing/2014/main" id="{C18AAC56-576F-60AD-C222-83CD6443FFC2}"/>
              </a:ext>
            </a:extLst>
          </p:cNvPr>
          <p:cNvSpPr>
            <a:spLocks noGrp="1"/>
          </p:cNvSpPr>
          <p:nvPr>
            <p:ph idx="1"/>
          </p:nvPr>
        </p:nvSpPr>
        <p:spPr/>
        <p:txBody>
          <a:bodyPr/>
          <a:lstStyle/>
          <a:p>
            <a:r>
              <a:rPr lang="en-US" dirty="0"/>
              <a:t>For a standard login process, Spring security needs the customer information. Every project is unique in terms of the data model and how the customer data stored in the system.</a:t>
            </a:r>
          </a:p>
          <a:p>
            <a:r>
              <a:rPr lang="en-US" dirty="0"/>
              <a:t>Some application can use email id as unique and login id.</a:t>
            </a:r>
          </a:p>
          <a:p>
            <a:r>
              <a:rPr lang="en-US" dirty="0"/>
              <a:t>Other application design can let customer choose login id of their choice. For an intranet application, your employee id is your login id.</a:t>
            </a:r>
          </a:p>
          <a:p>
            <a:r>
              <a:rPr lang="en-US" dirty="0"/>
              <a:t>There should be a way to feed this information to the Spring security. In this article, we will look at the  </a:t>
            </a:r>
            <a:r>
              <a:rPr lang="en-US" dirty="0" err="1"/>
              <a:t>DaoAuthenticationProvider</a:t>
            </a:r>
            <a:r>
              <a:rPr lang="en-US" dirty="0"/>
              <a:t> to authenticate customer using username and password. </a:t>
            </a:r>
          </a:p>
          <a:p>
            <a:r>
              <a:rPr lang="en-US" dirty="0"/>
              <a:t>You can also use the JDBC authentication. </a:t>
            </a:r>
            <a:r>
              <a:rPr lang="en-US" dirty="0" err="1"/>
              <a:t>DaoAuthenticationProvider</a:t>
            </a:r>
            <a:r>
              <a:rPr lang="en-US" dirty="0"/>
              <a:t> use the </a:t>
            </a:r>
            <a:r>
              <a:rPr lang="en-US" dirty="0" err="1"/>
              <a:t>UserDetailsService</a:t>
            </a:r>
            <a:r>
              <a:rPr lang="en-US" dirty="0"/>
              <a:t> to authenticate a username and password.</a:t>
            </a:r>
          </a:p>
        </p:txBody>
      </p:sp>
    </p:spTree>
    <p:extLst>
      <p:ext uri="{BB962C8B-B14F-4D97-AF65-F5344CB8AC3E}">
        <p14:creationId xmlns:p14="http://schemas.microsoft.com/office/powerpoint/2010/main" val="110428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72B3-5C74-3632-9ACB-75D297F14DA8}"/>
              </a:ext>
            </a:extLst>
          </p:cNvPr>
          <p:cNvSpPr>
            <a:spLocks noGrp="1"/>
          </p:cNvSpPr>
          <p:nvPr>
            <p:ph type="title"/>
          </p:nvPr>
        </p:nvSpPr>
        <p:spPr/>
        <p:txBody>
          <a:bodyPr/>
          <a:lstStyle/>
          <a:p>
            <a:r>
              <a:rPr lang="en-US"/>
              <a:t>DaoAuthenticationProvider Workflow</a:t>
            </a:r>
            <a:endParaRPr lang="en-US" dirty="0"/>
          </a:p>
        </p:txBody>
      </p:sp>
      <p:pic>
        <p:nvPicPr>
          <p:cNvPr id="5" name="Content Placeholder 4" descr="A diagram of a server&#10;&#10;Description automatically generated">
            <a:extLst>
              <a:ext uri="{FF2B5EF4-FFF2-40B4-BE49-F238E27FC236}">
                <a16:creationId xmlns:a16="http://schemas.microsoft.com/office/drawing/2014/main" id="{E7676264-8A7A-93DA-8B62-FBAA8FD471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9375" y="1981994"/>
            <a:ext cx="6953250" cy="4038600"/>
          </a:xfrm>
        </p:spPr>
      </p:pic>
    </p:spTree>
    <p:extLst>
      <p:ext uri="{BB962C8B-B14F-4D97-AF65-F5344CB8AC3E}">
        <p14:creationId xmlns:p14="http://schemas.microsoft.com/office/powerpoint/2010/main" val="2851510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B6400-84D3-F1E7-C87A-10486A08C8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0314E8-E996-634C-C7FC-5EB78326C7F3}"/>
              </a:ext>
            </a:extLst>
          </p:cNvPr>
          <p:cNvSpPr>
            <a:spLocks noGrp="1"/>
          </p:cNvSpPr>
          <p:nvPr>
            <p:ph idx="1"/>
          </p:nvPr>
        </p:nvSpPr>
        <p:spPr/>
        <p:txBody>
          <a:bodyPr/>
          <a:lstStyle/>
          <a:p>
            <a:r>
              <a:rPr lang="en-US" dirty="0"/>
              <a:t>We create an </a:t>
            </a:r>
            <a:r>
              <a:rPr lang="en-US" dirty="0" err="1"/>
              <a:t>UsernamePasswordAuthenticationTokem</a:t>
            </a:r>
            <a:r>
              <a:rPr lang="en-US" dirty="0"/>
              <a:t> from the supplied username and password.</a:t>
            </a:r>
          </a:p>
          <a:p>
            <a:r>
              <a:rPr lang="en-US" dirty="0"/>
              <a:t>We pass this token to the authentication manager.</a:t>
            </a:r>
          </a:p>
          <a:p>
            <a:r>
              <a:rPr lang="en-US" dirty="0"/>
              <a:t>The provider manager will delegate the authentication to the </a:t>
            </a:r>
            <a:r>
              <a:rPr lang="en-US" dirty="0" err="1"/>
              <a:t>DaoAuthenticationProvider</a:t>
            </a:r>
            <a:r>
              <a:rPr lang="en-US" dirty="0"/>
              <a:t> including the authentication token.</a:t>
            </a:r>
          </a:p>
          <a:p>
            <a:r>
              <a:rPr lang="en-US" dirty="0"/>
              <a:t>The </a:t>
            </a:r>
            <a:r>
              <a:rPr lang="en-US" dirty="0" err="1"/>
              <a:t>DaoAuthenticationProvider</a:t>
            </a:r>
            <a:r>
              <a:rPr lang="en-US" dirty="0"/>
              <a:t> use the custom </a:t>
            </a:r>
            <a:r>
              <a:rPr lang="en-US" dirty="0" err="1"/>
              <a:t>UserDetailsService</a:t>
            </a:r>
            <a:r>
              <a:rPr lang="en-US" dirty="0"/>
              <a:t> service to get the customer information from the database.</a:t>
            </a:r>
          </a:p>
          <a:p>
            <a:r>
              <a:rPr lang="en-US" dirty="0"/>
              <a:t>On successful authentication, the authentication object will contain the fully populated object including the authorities details.</a:t>
            </a:r>
          </a:p>
          <a:p>
            <a:r>
              <a:rPr lang="en-US" dirty="0"/>
              <a:t>The returned </a:t>
            </a:r>
            <a:r>
              <a:rPr lang="en-US" dirty="0" err="1"/>
              <a:t>UsernamePasswordAuthenticationToken</a:t>
            </a:r>
            <a:r>
              <a:rPr lang="en-US" dirty="0"/>
              <a:t> will be set on the </a:t>
            </a:r>
            <a:r>
              <a:rPr lang="en-US" dirty="0" err="1"/>
              <a:t>SecurityContextHolder</a:t>
            </a:r>
            <a:r>
              <a:rPr lang="en-US" dirty="0"/>
              <a:t> by the authentication Filter.</a:t>
            </a:r>
          </a:p>
        </p:txBody>
      </p:sp>
    </p:spTree>
    <p:extLst>
      <p:ext uri="{BB962C8B-B14F-4D97-AF65-F5344CB8AC3E}">
        <p14:creationId xmlns:p14="http://schemas.microsoft.com/office/powerpoint/2010/main" val="3598204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Login using Dao Authentication</a:t>
            </a:r>
          </a:p>
        </p:txBody>
      </p:sp>
    </p:spTree>
    <p:extLst>
      <p:ext uri="{BB962C8B-B14F-4D97-AF65-F5344CB8AC3E}">
        <p14:creationId xmlns:p14="http://schemas.microsoft.com/office/powerpoint/2010/main" val="3092629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C12B1-A651-E666-8B0E-9B13030426F9}"/>
              </a:ext>
            </a:extLst>
          </p:cNvPr>
          <p:cNvSpPr>
            <a:spLocks noGrp="1"/>
          </p:cNvSpPr>
          <p:nvPr>
            <p:ph type="title"/>
          </p:nvPr>
        </p:nvSpPr>
        <p:spPr/>
        <p:txBody>
          <a:bodyPr/>
          <a:lstStyle/>
          <a:p>
            <a:r>
              <a:rPr lang="en-US" b="1" i="0" dirty="0">
                <a:solidFill>
                  <a:srgbClr val="222222"/>
                </a:solidFill>
                <a:effectLst/>
                <a:highlight>
                  <a:srgbClr val="FFFFFF"/>
                </a:highlight>
                <a:latin typeface="Source Sans Pro" panose="020B0503030403020204" pitchFamily="34" charset="0"/>
              </a:rPr>
              <a:t>Spring Security Login- Error Handling and Localization</a:t>
            </a:r>
            <a:endParaRPr lang="en-US" dirty="0"/>
          </a:p>
        </p:txBody>
      </p:sp>
      <p:sp>
        <p:nvSpPr>
          <p:cNvPr id="3" name="Content Placeholder 2">
            <a:extLst>
              <a:ext uri="{FF2B5EF4-FFF2-40B4-BE49-F238E27FC236}">
                <a16:creationId xmlns:a16="http://schemas.microsoft.com/office/drawing/2014/main" id="{C8C97B44-069C-0C10-F4AD-640DE1181A62}"/>
              </a:ext>
            </a:extLst>
          </p:cNvPr>
          <p:cNvSpPr>
            <a:spLocks noGrp="1"/>
          </p:cNvSpPr>
          <p:nvPr>
            <p:ph idx="1"/>
          </p:nvPr>
        </p:nvSpPr>
        <p:spPr/>
        <p:txBody>
          <a:bodyPr/>
          <a:lstStyle/>
          <a:p>
            <a:r>
              <a:rPr lang="en-US" dirty="0"/>
              <a:t>With login, it’s very important to provide the correct error message information to the user. </a:t>
            </a:r>
          </a:p>
          <a:p>
            <a:r>
              <a:rPr lang="en-US" dirty="0"/>
              <a:t>For a simple application, we can work by providing some pre-defined error messages. </a:t>
            </a:r>
          </a:p>
          <a:p>
            <a:r>
              <a:rPr lang="en-US" dirty="0"/>
              <a:t>For enterprise applications, we have to give the error messages in the user preferred language. We don’t want to show English message to a German customer.</a:t>
            </a:r>
          </a:p>
        </p:txBody>
      </p:sp>
    </p:spTree>
    <p:extLst>
      <p:ext uri="{BB962C8B-B14F-4D97-AF65-F5344CB8AC3E}">
        <p14:creationId xmlns:p14="http://schemas.microsoft.com/office/powerpoint/2010/main" val="1976887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CEA4-2081-4914-1B02-551B47F2B3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355007-9532-892A-2D69-785B9B4F11B0}"/>
              </a:ext>
            </a:extLst>
          </p:cNvPr>
          <p:cNvSpPr>
            <a:spLocks noGrp="1"/>
          </p:cNvSpPr>
          <p:nvPr>
            <p:ph idx="1"/>
          </p:nvPr>
        </p:nvSpPr>
        <p:spPr/>
        <p:txBody>
          <a:bodyPr/>
          <a:lstStyle/>
          <a:p>
            <a:r>
              <a:rPr lang="en-US" dirty="0"/>
              <a:t>Spring security by default will show login error in case customer provides invalid username or password. </a:t>
            </a:r>
          </a:p>
          <a:p>
            <a:r>
              <a:rPr lang="en-US" dirty="0"/>
              <a:t>Spring security internally uses the Spring framework resource bundle feature to show customize error messages to the customer.</a:t>
            </a:r>
          </a:p>
        </p:txBody>
      </p:sp>
    </p:spTree>
    <p:extLst>
      <p:ext uri="{BB962C8B-B14F-4D97-AF65-F5344CB8AC3E}">
        <p14:creationId xmlns:p14="http://schemas.microsoft.com/office/powerpoint/2010/main" val="33202718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a:t>
            </a:r>
            <a:r>
              <a:rPr lang="en-US" b="1" i="0" dirty="0">
                <a:solidFill>
                  <a:srgbClr val="222222"/>
                </a:solidFill>
                <a:effectLst/>
                <a:highlight>
                  <a:srgbClr val="FFFFFF"/>
                </a:highlight>
                <a:latin typeface="Source Sans Pro" panose="020B0503030403020204" pitchFamily="34" charset="0"/>
              </a:rPr>
              <a:t>Error Handling and Localization</a:t>
            </a:r>
            <a:endParaRPr lang="en-US" dirty="0"/>
          </a:p>
        </p:txBody>
      </p:sp>
    </p:spTree>
    <p:extLst>
      <p:ext uri="{BB962C8B-B14F-4D97-AF65-F5344CB8AC3E}">
        <p14:creationId xmlns:p14="http://schemas.microsoft.com/office/powerpoint/2010/main" val="3971540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8804-04BA-A081-DD09-D58F6A427174}"/>
              </a:ext>
            </a:extLst>
          </p:cNvPr>
          <p:cNvSpPr>
            <a:spLocks noGrp="1"/>
          </p:cNvSpPr>
          <p:nvPr>
            <p:ph type="title"/>
          </p:nvPr>
        </p:nvSpPr>
        <p:spPr/>
        <p:txBody>
          <a:bodyPr/>
          <a:lstStyle/>
          <a:p>
            <a:r>
              <a:rPr lang="en-US" dirty="0"/>
              <a:t>Spring Security Remember Me Authentication</a:t>
            </a:r>
          </a:p>
        </p:txBody>
      </p:sp>
      <p:sp>
        <p:nvSpPr>
          <p:cNvPr id="3" name="Content Placeholder 2">
            <a:extLst>
              <a:ext uri="{FF2B5EF4-FFF2-40B4-BE49-F238E27FC236}">
                <a16:creationId xmlns:a16="http://schemas.microsoft.com/office/drawing/2014/main" id="{9761A893-DC8B-9A0B-3CD0-945EBCEE066A}"/>
              </a:ext>
            </a:extLst>
          </p:cNvPr>
          <p:cNvSpPr>
            <a:spLocks noGrp="1"/>
          </p:cNvSpPr>
          <p:nvPr>
            <p:ph idx="1"/>
          </p:nvPr>
        </p:nvSpPr>
        <p:spPr/>
        <p:txBody>
          <a:bodyPr>
            <a:normAutofit/>
          </a:bodyPr>
          <a:lstStyle/>
          <a:p>
            <a:r>
              <a:rPr lang="en-US" dirty="0"/>
              <a:t>Remember me is a feature for any web application where it remember the user between different visits and will automatically log you in if it finds the correct information. </a:t>
            </a:r>
          </a:p>
          <a:p>
            <a:r>
              <a:rPr lang="en-US" dirty="0"/>
              <a:t>You must have seen this while using Gmail or Amazon etc. where once you login, it will keep you login (if you select remember me option) and when you visit these sites next time, it will do an auto login for you. Spring security provides services to enable this feature.</a:t>
            </a:r>
          </a:p>
          <a:p>
            <a:endParaRPr lang="en-US" dirty="0"/>
          </a:p>
        </p:txBody>
      </p:sp>
    </p:spTree>
    <p:extLst>
      <p:ext uri="{BB962C8B-B14F-4D97-AF65-F5344CB8AC3E}">
        <p14:creationId xmlns:p14="http://schemas.microsoft.com/office/powerpoint/2010/main" val="29479949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96A4-DEF4-3A91-FB85-C0714FC5BF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9B7760-F639-22A8-57E3-08E8BC01F357}"/>
              </a:ext>
            </a:extLst>
          </p:cNvPr>
          <p:cNvSpPr>
            <a:spLocks noGrp="1"/>
          </p:cNvSpPr>
          <p:nvPr>
            <p:ph idx="1"/>
          </p:nvPr>
        </p:nvSpPr>
        <p:spPr/>
        <p:txBody>
          <a:bodyPr/>
          <a:lstStyle/>
          <a:p>
            <a:r>
              <a:rPr lang="en-US" dirty="0"/>
              <a:t>Technically, this feature works with the help of browser cookies. Once you select the remember me option during your initial login, system will perform the following operations:</a:t>
            </a:r>
          </a:p>
          <a:p>
            <a:endParaRPr lang="en-US" dirty="0"/>
          </a:p>
          <a:p>
            <a:r>
              <a:rPr lang="en-US" dirty="0"/>
              <a:t>Create a remember me cookie with the help of username and password. (Cookie will have expiration period)</a:t>
            </a:r>
          </a:p>
          <a:p>
            <a:r>
              <a:rPr lang="en-US" dirty="0"/>
              <a:t>Hash the cookie and send it back to the browser.</a:t>
            </a:r>
          </a:p>
          <a:p>
            <a:r>
              <a:rPr lang="en-US" dirty="0"/>
              <a:t>In next visit, if the cookie is detected and if its valid, system will perform an auto login for you.</a:t>
            </a:r>
          </a:p>
          <a:p>
            <a:endParaRPr lang="en-US" dirty="0"/>
          </a:p>
        </p:txBody>
      </p:sp>
    </p:spTree>
    <p:extLst>
      <p:ext uri="{BB962C8B-B14F-4D97-AF65-F5344CB8AC3E}">
        <p14:creationId xmlns:p14="http://schemas.microsoft.com/office/powerpoint/2010/main" val="448299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30A27-F8CD-9A46-DE98-5E8A2A1BDE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944E11-A327-54E4-95F8-288220AC31FF}"/>
              </a:ext>
            </a:extLst>
          </p:cNvPr>
          <p:cNvSpPr>
            <a:spLocks noGrp="1"/>
          </p:cNvSpPr>
          <p:nvPr>
            <p:ph idx="1"/>
          </p:nvPr>
        </p:nvSpPr>
        <p:spPr/>
        <p:txBody>
          <a:bodyPr/>
          <a:lstStyle/>
          <a:p>
            <a:r>
              <a:rPr lang="en-US" dirty="0"/>
              <a:t>Spring security remember me authentication provides the support for the following 2 options :</a:t>
            </a:r>
          </a:p>
          <a:p>
            <a:pPr lvl="1"/>
            <a:r>
              <a:rPr lang="en-US" dirty="0"/>
              <a:t>Remember me authentication using cookie.</a:t>
            </a:r>
          </a:p>
          <a:p>
            <a:pPr lvl="1"/>
            <a:r>
              <a:rPr lang="en-US" dirty="0"/>
              <a:t>Token based remember me authentication</a:t>
            </a:r>
          </a:p>
          <a:p>
            <a:endParaRPr lang="en-US" dirty="0"/>
          </a:p>
        </p:txBody>
      </p:sp>
    </p:spTree>
    <p:extLst>
      <p:ext uri="{BB962C8B-B14F-4D97-AF65-F5344CB8AC3E}">
        <p14:creationId xmlns:p14="http://schemas.microsoft.com/office/powerpoint/2010/main" val="26956976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a:t>
            </a:r>
            <a:r>
              <a:rPr lang="en-US" b="1" i="0" dirty="0">
                <a:solidFill>
                  <a:srgbClr val="222222"/>
                </a:solidFill>
                <a:effectLst/>
                <a:highlight>
                  <a:srgbClr val="FFFFFF"/>
                </a:highlight>
                <a:latin typeface="Source Sans Pro" panose="020B0503030403020204" pitchFamily="34" charset="0"/>
              </a:rPr>
              <a:t>Login Using Remember me</a:t>
            </a:r>
            <a:endParaRPr lang="en-US" dirty="0"/>
          </a:p>
        </p:txBody>
      </p:sp>
    </p:spTree>
    <p:extLst>
      <p:ext uri="{BB962C8B-B14F-4D97-AF65-F5344CB8AC3E}">
        <p14:creationId xmlns:p14="http://schemas.microsoft.com/office/powerpoint/2010/main" val="33912219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D070-E3C5-78E1-8BA1-7D80CB9DB832}"/>
              </a:ext>
            </a:extLst>
          </p:cNvPr>
          <p:cNvSpPr>
            <a:spLocks noGrp="1"/>
          </p:cNvSpPr>
          <p:nvPr>
            <p:ph type="title"/>
          </p:nvPr>
        </p:nvSpPr>
        <p:spPr/>
        <p:txBody>
          <a:bodyPr/>
          <a:lstStyle/>
          <a:p>
            <a:r>
              <a:rPr lang="en-US" dirty="0"/>
              <a:t>Spring Security and Session Management</a:t>
            </a:r>
          </a:p>
        </p:txBody>
      </p:sp>
      <p:sp>
        <p:nvSpPr>
          <p:cNvPr id="3" name="Content Placeholder 2">
            <a:extLst>
              <a:ext uri="{FF2B5EF4-FFF2-40B4-BE49-F238E27FC236}">
                <a16:creationId xmlns:a16="http://schemas.microsoft.com/office/drawing/2014/main" id="{B0B8EBF4-A5BD-C07B-4951-BBCB81CDD16C}"/>
              </a:ext>
            </a:extLst>
          </p:cNvPr>
          <p:cNvSpPr>
            <a:spLocks noGrp="1"/>
          </p:cNvSpPr>
          <p:nvPr>
            <p:ph idx="1"/>
          </p:nvPr>
        </p:nvSpPr>
        <p:spPr/>
        <p:txBody>
          <a:bodyPr/>
          <a:lstStyle/>
          <a:p>
            <a:r>
              <a:rPr lang="en-US" dirty="0"/>
              <a:t>Spring security session management helps us to control the HTTP sessions.</a:t>
            </a:r>
          </a:p>
          <a:p>
            <a:r>
              <a:rPr lang="en-US" dirty="0"/>
              <a:t>Spring security use the following options to control the HTTP session functionalities:</a:t>
            </a:r>
          </a:p>
          <a:p>
            <a:pPr lvl="1"/>
            <a:r>
              <a:rPr lang="en-US" dirty="0" err="1"/>
              <a:t>SessionManagementFilter</a:t>
            </a:r>
            <a:r>
              <a:rPr lang="en-US" dirty="0"/>
              <a:t>.</a:t>
            </a:r>
          </a:p>
          <a:p>
            <a:pPr lvl="1"/>
            <a:r>
              <a:rPr lang="en-US" dirty="0" err="1"/>
              <a:t>SessionAuthneticationStrategy</a:t>
            </a:r>
            <a:endParaRPr lang="en-US" dirty="0"/>
          </a:p>
        </p:txBody>
      </p:sp>
    </p:spTree>
    <p:extLst>
      <p:ext uri="{BB962C8B-B14F-4D97-AF65-F5344CB8AC3E}">
        <p14:creationId xmlns:p14="http://schemas.microsoft.com/office/powerpoint/2010/main" val="3107430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8D629-5DB8-6447-4970-ABF0E6F6A3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A05B55-3DAA-DEFF-914F-3D8453571D02}"/>
              </a:ext>
            </a:extLst>
          </p:cNvPr>
          <p:cNvSpPr>
            <a:spLocks noGrp="1"/>
          </p:cNvSpPr>
          <p:nvPr>
            <p:ph idx="1"/>
          </p:nvPr>
        </p:nvSpPr>
        <p:spPr/>
        <p:txBody>
          <a:bodyPr/>
          <a:lstStyle/>
          <a:p>
            <a:r>
              <a:rPr lang="en-US" dirty="0"/>
              <a:t>These 2 helps spring security to manage the following options in the security session:</a:t>
            </a:r>
          </a:p>
          <a:p>
            <a:r>
              <a:rPr lang="en-US" dirty="0"/>
              <a:t>Session Timeout detection and handling.</a:t>
            </a:r>
          </a:p>
          <a:p>
            <a:r>
              <a:rPr lang="en-US" dirty="0"/>
              <a:t>Concurrent sessions (how many sessions an authenticated user may have open concurrently).</a:t>
            </a:r>
          </a:p>
          <a:p>
            <a:r>
              <a:rPr lang="en-US" dirty="0"/>
              <a:t>Session-fixation – handle the session</a:t>
            </a:r>
          </a:p>
        </p:txBody>
      </p:sp>
    </p:spTree>
    <p:extLst>
      <p:ext uri="{BB962C8B-B14F-4D97-AF65-F5344CB8AC3E}">
        <p14:creationId xmlns:p14="http://schemas.microsoft.com/office/powerpoint/2010/main" val="12295966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D7BF9-D430-E86A-96F1-0FE1665C5FDD}"/>
              </a:ext>
            </a:extLst>
          </p:cNvPr>
          <p:cNvSpPr>
            <a:spLocks noGrp="1"/>
          </p:cNvSpPr>
          <p:nvPr>
            <p:ph type="title"/>
          </p:nvPr>
        </p:nvSpPr>
        <p:spPr/>
        <p:txBody>
          <a:bodyPr/>
          <a:lstStyle/>
          <a:p>
            <a:r>
              <a:rPr lang="en-US" dirty="0"/>
              <a:t>When Is Session Created</a:t>
            </a:r>
          </a:p>
        </p:txBody>
      </p:sp>
      <p:sp>
        <p:nvSpPr>
          <p:cNvPr id="3" name="Content Placeholder 2">
            <a:extLst>
              <a:ext uri="{FF2B5EF4-FFF2-40B4-BE49-F238E27FC236}">
                <a16:creationId xmlns:a16="http://schemas.microsoft.com/office/drawing/2014/main" id="{F8E167DF-AF44-2A6A-960A-FD1827072878}"/>
              </a:ext>
            </a:extLst>
          </p:cNvPr>
          <p:cNvSpPr>
            <a:spLocks noGrp="1"/>
          </p:cNvSpPr>
          <p:nvPr>
            <p:ph idx="1"/>
          </p:nvPr>
        </p:nvSpPr>
        <p:spPr>
          <a:xfrm>
            <a:off x="838200" y="1690688"/>
            <a:ext cx="10515600" cy="4486275"/>
          </a:xfrm>
        </p:spPr>
        <p:txBody>
          <a:bodyPr>
            <a:normAutofit fontScale="92500"/>
          </a:bodyPr>
          <a:lstStyle/>
          <a:p>
            <a:r>
              <a:rPr lang="en-US" dirty="0"/>
              <a:t>Spring security provides different option to control the session creation. It provides us option to configure when the session will be created and how we can interact with the session. Here are the option available in the security which can help us configure and control the session creation.</a:t>
            </a:r>
          </a:p>
          <a:p>
            <a:endParaRPr lang="en-US" dirty="0"/>
          </a:p>
          <a:p>
            <a:r>
              <a:rPr lang="en-US" b="1" dirty="0" err="1"/>
              <a:t>SessionCreationPolicy.ALWAYS</a:t>
            </a:r>
            <a:r>
              <a:rPr lang="en-US" b="1" dirty="0"/>
              <a:t> </a:t>
            </a:r>
            <a:r>
              <a:rPr lang="en-US" dirty="0"/>
              <a:t>– Session will always be created (if it does not exist).</a:t>
            </a:r>
          </a:p>
          <a:p>
            <a:r>
              <a:rPr lang="en-US" b="1" dirty="0" err="1"/>
              <a:t>SessionCreationPolicy.NEVER</a:t>
            </a:r>
            <a:r>
              <a:rPr lang="en-US" b="1" dirty="0"/>
              <a:t> </a:t>
            </a:r>
            <a:r>
              <a:rPr lang="en-US" dirty="0"/>
              <a:t>– Spring Security will never create a </a:t>
            </a:r>
            <a:r>
              <a:rPr lang="en-US" dirty="0" err="1"/>
              <a:t>HttpSession</a:t>
            </a:r>
            <a:r>
              <a:rPr lang="en-US" dirty="0"/>
              <a:t>, but will use the </a:t>
            </a:r>
            <a:r>
              <a:rPr lang="en-US" dirty="0" err="1"/>
              <a:t>HttpSession</a:t>
            </a:r>
            <a:r>
              <a:rPr lang="en-US" dirty="0"/>
              <a:t> if it already exists (available through application server)</a:t>
            </a:r>
          </a:p>
          <a:p>
            <a:r>
              <a:rPr lang="en-US" b="1" dirty="0" err="1"/>
              <a:t>SessionCreationPolicy.IF_REQUIRED</a:t>
            </a:r>
            <a:r>
              <a:rPr lang="en-US" b="1" dirty="0"/>
              <a:t> </a:t>
            </a:r>
            <a:r>
              <a:rPr lang="en-US" dirty="0"/>
              <a:t>– Spring Security will only create a </a:t>
            </a:r>
            <a:r>
              <a:rPr lang="en-US" dirty="0" err="1"/>
              <a:t>HttpSession</a:t>
            </a:r>
            <a:r>
              <a:rPr lang="en-US" dirty="0"/>
              <a:t> if required (default configuration. If you don’t specify, Spring security will use this option)</a:t>
            </a:r>
          </a:p>
          <a:p>
            <a:r>
              <a:rPr lang="en-US" b="1" dirty="0" err="1"/>
              <a:t>SessionCreationPolicy.STATELESS</a:t>
            </a:r>
            <a:r>
              <a:rPr lang="en-US" b="1" dirty="0"/>
              <a:t> </a:t>
            </a:r>
            <a:r>
              <a:rPr lang="en-US" dirty="0"/>
              <a:t>– Spring Security will never create a </a:t>
            </a:r>
            <a:r>
              <a:rPr lang="en-US" dirty="0" err="1"/>
              <a:t>HttpSession</a:t>
            </a:r>
            <a:r>
              <a:rPr lang="en-US" dirty="0"/>
              <a:t> and it will never use it to get the </a:t>
            </a:r>
            <a:r>
              <a:rPr lang="en-US" dirty="0" err="1"/>
              <a:t>SecurityContext</a:t>
            </a:r>
            <a:r>
              <a:rPr lang="en-US" dirty="0"/>
              <a:t>.</a:t>
            </a:r>
          </a:p>
        </p:txBody>
      </p:sp>
    </p:spTree>
    <p:extLst>
      <p:ext uri="{BB962C8B-B14F-4D97-AF65-F5344CB8AC3E}">
        <p14:creationId xmlns:p14="http://schemas.microsoft.com/office/powerpoint/2010/main" val="34312127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7910-24B7-CF86-19B7-FE65E45932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07B595-F721-5307-5AE5-B69DB4C57D15}"/>
              </a:ext>
            </a:extLst>
          </p:cNvPr>
          <p:cNvSpPr>
            <a:spLocks noGrp="1"/>
          </p:cNvSpPr>
          <p:nvPr>
            <p:ph idx="1"/>
          </p:nvPr>
        </p:nvSpPr>
        <p:spPr/>
        <p:txBody>
          <a:bodyPr/>
          <a:lstStyle/>
          <a:p>
            <a:r>
              <a:rPr lang="en-US" dirty="0"/>
              <a:t>For login based, application </a:t>
            </a:r>
            <a:r>
              <a:rPr lang="en-US" dirty="0" err="1"/>
              <a:t>SessionCreationPolicy</a:t>
            </a:r>
            <a:r>
              <a:rPr lang="en-US" dirty="0"/>
              <a:t>. IF_REQUIRED works for most cases and is also the default in Spring security.</a:t>
            </a:r>
          </a:p>
          <a:p>
            <a:r>
              <a:rPr lang="en-US" dirty="0"/>
              <a:t>For a typical web </a:t>
            </a:r>
            <a:r>
              <a:rPr lang="en-US" dirty="0" err="1"/>
              <a:t>application.To</a:t>
            </a:r>
            <a:r>
              <a:rPr lang="en-US" dirty="0"/>
              <a:t> change the session creation policy in Spring security, we can override the configure method by overriding the </a:t>
            </a:r>
            <a:r>
              <a:rPr lang="en-US" dirty="0" err="1"/>
              <a:t>WebSecurityConfigurerAdapter</a:t>
            </a:r>
            <a:r>
              <a:rPr lang="en-US" dirty="0"/>
              <a:t>.</a:t>
            </a:r>
          </a:p>
        </p:txBody>
      </p:sp>
    </p:spTree>
    <p:extLst>
      <p:ext uri="{BB962C8B-B14F-4D97-AF65-F5344CB8AC3E}">
        <p14:creationId xmlns:p14="http://schemas.microsoft.com/office/powerpoint/2010/main" val="13370534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B520-445A-C55D-2BB3-75E556B324CE}"/>
              </a:ext>
            </a:extLst>
          </p:cNvPr>
          <p:cNvSpPr>
            <a:spLocks noGrp="1"/>
          </p:cNvSpPr>
          <p:nvPr>
            <p:ph type="title"/>
          </p:nvPr>
        </p:nvSpPr>
        <p:spPr/>
        <p:txBody>
          <a:bodyPr/>
          <a:lstStyle/>
          <a:p>
            <a:r>
              <a:rPr lang="en-US" dirty="0"/>
              <a:t>Points to be noted</a:t>
            </a:r>
          </a:p>
        </p:txBody>
      </p:sp>
      <p:sp>
        <p:nvSpPr>
          <p:cNvPr id="3" name="Content Placeholder 2">
            <a:extLst>
              <a:ext uri="{FF2B5EF4-FFF2-40B4-BE49-F238E27FC236}">
                <a16:creationId xmlns:a16="http://schemas.microsoft.com/office/drawing/2014/main" id="{82744812-3AAE-F9DE-C016-5E2A6390CF35}"/>
              </a:ext>
            </a:extLst>
          </p:cNvPr>
          <p:cNvSpPr>
            <a:spLocks noGrp="1"/>
          </p:cNvSpPr>
          <p:nvPr>
            <p:ph idx="1"/>
          </p:nvPr>
        </p:nvSpPr>
        <p:spPr/>
        <p:txBody>
          <a:bodyPr/>
          <a:lstStyle/>
          <a:p>
            <a:r>
              <a:rPr lang="en-US" dirty="0"/>
              <a:t>These configurations only control Spring security behavior but not your application. Your application might use different session creation configurations.</a:t>
            </a:r>
          </a:p>
          <a:p>
            <a:r>
              <a:rPr lang="en-US" dirty="0"/>
              <a:t>By default, Spring security will create session when required. It can use the session created by your application outside of Spring security context. (remember sessions are created by application server).</a:t>
            </a:r>
          </a:p>
          <a:p>
            <a:r>
              <a:rPr lang="en-US" dirty="0"/>
              <a:t>The STATELESS will ensure no session is created by Spring security, however that does not mean that your application will not create any session. This policy only applies to Spring security context. You might still see JSESIONID in your application, so don’t think that spring security configurations are not working</a:t>
            </a:r>
          </a:p>
        </p:txBody>
      </p:sp>
    </p:spTree>
    <p:extLst>
      <p:ext uri="{BB962C8B-B14F-4D97-AF65-F5344CB8AC3E}">
        <p14:creationId xmlns:p14="http://schemas.microsoft.com/office/powerpoint/2010/main" val="1578593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normAutofit/>
          </a:bodyPr>
          <a:lstStyle/>
          <a:p>
            <a:r>
              <a:rPr lang="en-US" dirty="0"/>
              <a:t>Example on Spring Security </a:t>
            </a:r>
            <a:r>
              <a:rPr lang="en-US" b="1" i="0" dirty="0">
                <a:solidFill>
                  <a:srgbClr val="222222"/>
                </a:solidFill>
                <a:effectLst/>
                <a:highlight>
                  <a:srgbClr val="FFFFFF"/>
                </a:highlight>
                <a:latin typeface="Source Sans Pro" panose="020B0503030403020204" pitchFamily="34" charset="0"/>
              </a:rPr>
              <a:t>and Session Management</a:t>
            </a:r>
            <a:endParaRPr lang="en-US" dirty="0"/>
          </a:p>
        </p:txBody>
      </p:sp>
    </p:spTree>
    <p:extLst>
      <p:ext uri="{BB962C8B-B14F-4D97-AF65-F5344CB8AC3E}">
        <p14:creationId xmlns:p14="http://schemas.microsoft.com/office/powerpoint/2010/main" val="11873492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normAutofit/>
          </a:bodyPr>
          <a:lstStyle/>
          <a:p>
            <a:r>
              <a:rPr lang="en-US" dirty="0"/>
              <a:t>Example on </a:t>
            </a:r>
            <a:r>
              <a:rPr lang="en-US" i="0" u="none" strike="noStrike" dirty="0">
                <a:solidFill>
                  <a:srgbClr val="333333"/>
                </a:solidFill>
                <a:effectLst/>
              </a:rPr>
              <a:t>Registration and Login using Spring Boot, Spring Security, Spring Data JPA, Hibernate, H2, JSP, and Bootstrap</a:t>
            </a:r>
            <a:r>
              <a:rPr lang="en-US" dirty="0"/>
              <a:t> </a:t>
            </a:r>
          </a:p>
        </p:txBody>
      </p:sp>
    </p:spTree>
    <p:extLst>
      <p:ext uri="{BB962C8B-B14F-4D97-AF65-F5344CB8AC3E}">
        <p14:creationId xmlns:p14="http://schemas.microsoft.com/office/powerpoint/2010/main" val="2485405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A26AE-0607-0620-500C-1D23E3EED935}"/>
              </a:ext>
            </a:extLst>
          </p:cNvPr>
          <p:cNvSpPr>
            <a:spLocks noGrp="1"/>
          </p:cNvSpPr>
          <p:nvPr>
            <p:ph type="title"/>
          </p:nvPr>
        </p:nvSpPr>
        <p:spPr/>
        <p:txBody>
          <a:bodyPr/>
          <a:lstStyle/>
          <a:p>
            <a:r>
              <a:rPr lang="en-US" dirty="0"/>
              <a:t>What is JWT(JSON Web Token)?</a:t>
            </a:r>
          </a:p>
        </p:txBody>
      </p:sp>
      <p:sp>
        <p:nvSpPr>
          <p:cNvPr id="3" name="Content Placeholder 2">
            <a:extLst>
              <a:ext uri="{FF2B5EF4-FFF2-40B4-BE49-F238E27FC236}">
                <a16:creationId xmlns:a16="http://schemas.microsoft.com/office/drawing/2014/main" id="{34A0F6DC-8172-3787-2B20-B53804ABCD09}"/>
              </a:ext>
            </a:extLst>
          </p:cNvPr>
          <p:cNvSpPr>
            <a:spLocks noGrp="1"/>
          </p:cNvSpPr>
          <p:nvPr>
            <p:ph idx="1"/>
          </p:nvPr>
        </p:nvSpPr>
        <p:spPr/>
        <p:txBody>
          <a:bodyPr/>
          <a:lstStyle/>
          <a:p>
            <a:r>
              <a:rPr lang="en-US" dirty="0"/>
              <a:t>JSON Web Token (JWT) is an open standard (RFC 7519) that defines a compact and self-contained way for securely transmitting information between parties as a JSON object.</a:t>
            </a:r>
          </a:p>
          <a:p>
            <a:r>
              <a:rPr lang="en-US" dirty="0"/>
              <a:t>This information can be verified and trusted because it is digitally signed. The client will need to authenticate with the server using the credentials only once.</a:t>
            </a:r>
          </a:p>
          <a:p>
            <a:r>
              <a:rPr lang="en-US" dirty="0"/>
              <a:t>During this time the server validates the credentials and returns the client a JSON Web Token(JWT). </a:t>
            </a:r>
          </a:p>
          <a:p>
            <a:r>
              <a:rPr lang="en-US" dirty="0"/>
              <a:t>For all future requests the client can authenticate itself to the server using this JSON Web Token(JWT) and so does not need to send the credentials like username and password.</a:t>
            </a:r>
          </a:p>
        </p:txBody>
      </p:sp>
    </p:spTree>
    <p:extLst>
      <p:ext uri="{BB962C8B-B14F-4D97-AF65-F5344CB8AC3E}">
        <p14:creationId xmlns:p14="http://schemas.microsoft.com/office/powerpoint/2010/main" val="2620640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33728-4F50-2ED2-6872-10D1C9B3A4D0}"/>
              </a:ext>
            </a:extLst>
          </p:cNvPr>
          <p:cNvSpPr>
            <a:spLocks noGrp="1"/>
          </p:cNvSpPr>
          <p:nvPr>
            <p:ph type="title"/>
          </p:nvPr>
        </p:nvSpPr>
        <p:spPr/>
        <p:txBody>
          <a:bodyPr/>
          <a:lstStyle/>
          <a:p>
            <a:r>
              <a:rPr lang="en-US" dirty="0"/>
              <a:t>Workflow of how JWT is used?</a:t>
            </a:r>
          </a:p>
        </p:txBody>
      </p:sp>
      <p:pic>
        <p:nvPicPr>
          <p:cNvPr id="3074" name="Picture 2" descr="JWT Workflow">
            <a:extLst>
              <a:ext uri="{FF2B5EF4-FFF2-40B4-BE49-F238E27FC236}">
                <a16:creationId xmlns:a16="http://schemas.microsoft.com/office/drawing/2014/main" id="{0031C669-FF7E-F0E1-E955-ED5E822AE9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57525" y="1858169"/>
            <a:ext cx="60769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0901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40507-8772-9C01-D44A-91946E61FF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A4B3F9-313B-31D3-DFFB-6E35F8B23148}"/>
              </a:ext>
            </a:extLst>
          </p:cNvPr>
          <p:cNvSpPr>
            <a:spLocks noGrp="1"/>
          </p:cNvSpPr>
          <p:nvPr>
            <p:ph idx="1"/>
          </p:nvPr>
        </p:nvSpPr>
        <p:spPr/>
        <p:txBody>
          <a:bodyPr>
            <a:normAutofit lnSpcReduction="10000"/>
          </a:bodyPr>
          <a:lstStyle/>
          <a:p>
            <a:r>
              <a:rPr lang="en-US" dirty="0"/>
              <a:t>During the first request the client sends a POST request with username and password. </a:t>
            </a:r>
          </a:p>
          <a:p>
            <a:r>
              <a:rPr lang="en-US" dirty="0"/>
              <a:t>Upon successful authentication the server generates the JWT sends this JWT to the client.</a:t>
            </a:r>
          </a:p>
          <a:p>
            <a:r>
              <a:rPr lang="en-US" dirty="0"/>
              <a:t> This JWT can contain a payload of data. On all subsequent requests the client sends this JWT token in the header. </a:t>
            </a:r>
          </a:p>
          <a:p>
            <a:r>
              <a:rPr lang="en-US" dirty="0"/>
              <a:t>Using this token the server authenticates the user. So we don't need the client to send the username and password to the server during each request for authentication, but only once after which the server issues a JWT to the client. </a:t>
            </a:r>
          </a:p>
          <a:p>
            <a:r>
              <a:rPr lang="en-US" dirty="0"/>
              <a:t>A JWT payload can contain things like user ID so that when the client again sends the JWT, you can be sure that it is issued by you, and you can see to whom it was issued.</a:t>
            </a:r>
          </a:p>
        </p:txBody>
      </p:sp>
    </p:spTree>
    <p:extLst>
      <p:ext uri="{BB962C8B-B14F-4D97-AF65-F5344CB8AC3E}">
        <p14:creationId xmlns:p14="http://schemas.microsoft.com/office/powerpoint/2010/main" val="18580918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963B9-CC32-32DA-CAF2-45B1CEC41387}"/>
              </a:ext>
            </a:extLst>
          </p:cNvPr>
          <p:cNvSpPr>
            <a:spLocks noGrp="1"/>
          </p:cNvSpPr>
          <p:nvPr>
            <p:ph type="title"/>
          </p:nvPr>
        </p:nvSpPr>
        <p:spPr/>
        <p:txBody>
          <a:bodyPr/>
          <a:lstStyle/>
          <a:p>
            <a:r>
              <a:rPr lang="en-US" dirty="0"/>
              <a:t>Structure of JWT</a:t>
            </a:r>
          </a:p>
        </p:txBody>
      </p:sp>
      <p:sp>
        <p:nvSpPr>
          <p:cNvPr id="3" name="Content Placeholder 2">
            <a:extLst>
              <a:ext uri="{FF2B5EF4-FFF2-40B4-BE49-F238E27FC236}">
                <a16:creationId xmlns:a16="http://schemas.microsoft.com/office/drawing/2014/main" id="{3953CDF1-965D-2355-D675-5E38B15497E2}"/>
              </a:ext>
            </a:extLst>
          </p:cNvPr>
          <p:cNvSpPr>
            <a:spLocks noGrp="1"/>
          </p:cNvSpPr>
          <p:nvPr>
            <p:ph idx="1"/>
          </p:nvPr>
        </p:nvSpPr>
        <p:spPr/>
        <p:txBody>
          <a:bodyPr/>
          <a:lstStyle/>
          <a:p>
            <a:r>
              <a:rPr lang="en-US" dirty="0"/>
              <a:t>JWT has the following format -</a:t>
            </a:r>
            <a:r>
              <a:rPr lang="en-US" dirty="0" err="1"/>
              <a:t>header.payload.signature</a:t>
            </a:r>
            <a:endParaRPr lang="en-US" dirty="0"/>
          </a:p>
          <a:p>
            <a:endParaRPr lang="en-US" dirty="0"/>
          </a:p>
        </p:txBody>
      </p:sp>
      <p:pic>
        <p:nvPicPr>
          <p:cNvPr id="4" name="Picture 3">
            <a:extLst>
              <a:ext uri="{FF2B5EF4-FFF2-40B4-BE49-F238E27FC236}">
                <a16:creationId xmlns:a16="http://schemas.microsoft.com/office/drawing/2014/main" id="{8D2101C6-B2B0-44E2-B2B2-0A62E99AE6F0}"/>
              </a:ext>
            </a:extLst>
          </p:cNvPr>
          <p:cNvPicPr>
            <a:picLocks noChangeAspect="1"/>
          </p:cNvPicPr>
          <p:nvPr/>
        </p:nvPicPr>
        <p:blipFill>
          <a:blip r:embed="rId2"/>
          <a:stretch>
            <a:fillRect/>
          </a:stretch>
        </p:blipFill>
        <p:spPr>
          <a:xfrm>
            <a:off x="3270744" y="2204361"/>
            <a:ext cx="6010275" cy="3972602"/>
          </a:xfrm>
          <a:prstGeom prst="rect">
            <a:avLst/>
          </a:prstGeom>
        </p:spPr>
      </p:pic>
    </p:spTree>
    <p:extLst>
      <p:ext uri="{BB962C8B-B14F-4D97-AF65-F5344CB8AC3E}">
        <p14:creationId xmlns:p14="http://schemas.microsoft.com/office/powerpoint/2010/main" val="5091023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A76F-3A96-F228-F832-C077FCFA34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B63B7B-3C6A-9982-4D95-3CB2C96219C0}"/>
              </a:ext>
            </a:extLst>
          </p:cNvPr>
          <p:cNvSpPr>
            <a:spLocks noGrp="1"/>
          </p:cNvSpPr>
          <p:nvPr>
            <p:ph idx="1"/>
          </p:nvPr>
        </p:nvSpPr>
        <p:spPr/>
        <p:txBody>
          <a:bodyPr/>
          <a:lstStyle/>
          <a:p>
            <a:r>
              <a:rPr lang="en-US" dirty="0"/>
              <a:t>An important point to remember about JWT is that the information in the payload of the JWT is visible to everyone. </a:t>
            </a:r>
          </a:p>
          <a:p>
            <a:r>
              <a:rPr lang="en-US" dirty="0"/>
              <a:t>So, we should not pass any sensitive information like passwords in the payload.</a:t>
            </a:r>
          </a:p>
          <a:p>
            <a:r>
              <a:rPr lang="en-US" dirty="0"/>
              <a:t>We can encrypt the payload data if we want to make it more secure. </a:t>
            </a:r>
          </a:p>
          <a:p>
            <a:r>
              <a:rPr lang="en-US" dirty="0"/>
              <a:t>However, we can be sure that no one can tamper and change the payload information. If this is done the server will recognize it.</a:t>
            </a:r>
          </a:p>
        </p:txBody>
      </p:sp>
    </p:spTree>
    <p:extLst>
      <p:ext uri="{BB962C8B-B14F-4D97-AF65-F5344CB8AC3E}">
        <p14:creationId xmlns:p14="http://schemas.microsoft.com/office/powerpoint/2010/main" val="17578721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normAutofit/>
          </a:bodyPr>
          <a:lstStyle/>
          <a:p>
            <a:r>
              <a:rPr lang="en-US" dirty="0"/>
              <a:t>Example on </a:t>
            </a:r>
            <a:r>
              <a:rPr lang="en-US" i="0" u="none" strike="noStrike" dirty="0">
                <a:solidFill>
                  <a:srgbClr val="333333"/>
                </a:solidFill>
                <a:effectLst/>
              </a:rPr>
              <a:t>Spring Boot, Spring Security, JWT</a:t>
            </a:r>
            <a:endParaRPr lang="en-US" dirty="0"/>
          </a:p>
        </p:txBody>
      </p:sp>
    </p:spTree>
    <p:extLst>
      <p:ext uri="{BB962C8B-B14F-4D97-AF65-F5344CB8AC3E}">
        <p14:creationId xmlns:p14="http://schemas.microsoft.com/office/powerpoint/2010/main" val="7581768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6964-B3E6-A135-D3F6-061A7F606944}"/>
              </a:ext>
            </a:extLst>
          </p:cNvPr>
          <p:cNvSpPr>
            <a:spLocks noGrp="1"/>
          </p:cNvSpPr>
          <p:nvPr>
            <p:ph type="title"/>
          </p:nvPr>
        </p:nvSpPr>
        <p:spPr/>
        <p:txBody>
          <a:bodyPr/>
          <a:lstStyle/>
          <a:p>
            <a:r>
              <a:rPr lang="en-US" dirty="0"/>
              <a:t>Introduction to OAuth</a:t>
            </a:r>
          </a:p>
        </p:txBody>
      </p:sp>
      <p:sp>
        <p:nvSpPr>
          <p:cNvPr id="3" name="Content Placeholder 2">
            <a:extLst>
              <a:ext uri="{FF2B5EF4-FFF2-40B4-BE49-F238E27FC236}">
                <a16:creationId xmlns:a16="http://schemas.microsoft.com/office/drawing/2014/main" id="{DB27901D-931F-36B6-AA4F-8DE8C436C5FA}"/>
              </a:ext>
            </a:extLst>
          </p:cNvPr>
          <p:cNvSpPr>
            <a:spLocks noGrp="1"/>
          </p:cNvSpPr>
          <p:nvPr>
            <p:ph idx="1"/>
          </p:nvPr>
        </p:nvSpPr>
        <p:spPr/>
        <p:txBody>
          <a:bodyPr/>
          <a:lstStyle/>
          <a:p>
            <a:r>
              <a:rPr lang="en-US" b="0" i="0" dirty="0">
                <a:solidFill>
                  <a:srgbClr val="333333"/>
                </a:solidFill>
                <a:effectLst/>
                <a:highlight>
                  <a:srgbClr val="FFFFFF"/>
                </a:highlight>
              </a:rPr>
              <a:t>OAuth (Open Authorization) is a simple way to publish and interact with protected data.</a:t>
            </a:r>
          </a:p>
          <a:p>
            <a:r>
              <a:rPr lang="en-US" b="0" i="0" dirty="0">
                <a:solidFill>
                  <a:srgbClr val="333333"/>
                </a:solidFill>
                <a:effectLst/>
                <a:highlight>
                  <a:srgbClr val="FFFFFF"/>
                </a:highlight>
              </a:rPr>
              <a:t>It is an open standard for token-based authentication and authorization on the Internet. </a:t>
            </a:r>
          </a:p>
          <a:p>
            <a:r>
              <a:rPr lang="en-US" b="0" i="0" dirty="0">
                <a:solidFill>
                  <a:srgbClr val="333333"/>
                </a:solidFill>
                <a:effectLst/>
                <a:highlight>
                  <a:srgbClr val="FFFFFF"/>
                </a:highlight>
              </a:rPr>
              <a:t>It allows an end user's account information to be used by third-party services, such as Facebook, without exposing the user's password.</a:t>
            </a:r>
            <a:endParaRPr lang="en-US" dirty="0"/>
          </a:p>
        </p:txBody>
      </p:sp>
    </p:spTree>
    <p:extLst>
      <p:ext uri="{BB962C8B-B14F-4D97-AF65-F5344CB8AC3E}">
        <p14:creationId xmlns:p14="http://schemas.microsoft.com/office/powerpoint/2010/main" val="18506280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AA3FB-A728-89B5-A888-DA274B600D06}"/>
              </a:ext>
            </a:extLst>
          </p:cNvPr>
          <p:cNvSpPr>
            <a:spLocks noGrp="1"/>
          </p:cNvSpPr>
          <p:nvPr>
            <p:ph type="title"/>
          </p:nvPr>
        </p:nvSpPr>
        <p:spPr/>
        <p:txBody>
          <a:bodyPr/>
          <a:lstStyle/>
          <a:p>
            <a:r>
              <a:rPr lang="en-US" dirty="0"/>
              <a:t>Five grants for acquiring an access token</a:t>
            </a:r>
          </a:p>
        </p:txBody>
      </p:sp>
      <p:sp>
        <p:nvSpPr>
          <p:cNvPr id="3" name="Content Placeholder 2">
            <a:extLst>
              <a:ext uri="{FF2B5EF4-FFF2-40B4-BE49-F238E27FC236}">
                <a16:creationId xmlns:a16="http://schemas.microsoft.com/office/drawing/2014/main" id="{FD98EC82-E91D-86F2-868B-07CCB09D2077}"/>
              </a:ext>
            </a:extLst>
          </p:cNvPr>
          <p:cNvSpPr>
            <a:spLocks noGrp="1"/>
          </p:cNvSpPr>
          <p:nvPr>
            <p:ph idx="1"/>
          </p:nvPr>
        </p:nvSpPr>
        <p:spPr/>
        <p:txBody>
          <a:bodyPr/>
          <a:lstStyle/>
          <a:p>
            <a:r>
              <a:rPr lang="en-US" dirty="0"/>
              <a:t>The OAuth specification describes five grants for acquiring an access token:</a:t>
            </a:r>
          </a:p>
          <a:p>
            <a:r>
              <a:rPr lang="en-US" dirty="0"/>
              <a:t>Authorization code grant</a:t>
            </a:r>
          </a:p>
          <a:p>
            <a:r>
              <a:rPr lang="en-US" dirty="0"/>
              <a:t>Implicit grant</a:t>
            </a:r>
          </a:p>
          <a:p>
            <a:r>
              <a:rPr lang="en-US" dirty="0"/>
              <a:t>Resource owner credentials grant</a:t>
            </a:r>
          </a:p>
          <a:p>
            <a:r>
              <a:rPr lang="en-US" dirty="0"/>
              <a:t>Client credentials grant</a:t>
            </a:r>
          </a:p>
          <a:p>
            <a:r>
              <a:rPr lang="en-US" dirty="0"/>
              <a:t>Refresh token grant</a:t>
            </a:r>
          </a:p>
        </p:txBody>
      </p:sp>
    </p:spTree>
    <p:extLst>
      <p:ext uri="{BB962C8B-B14F-4D97-AF65-F5344CB8AC3E}">
        <p14:creationId xmlns:p14="http://schemas.microsoft.com/office/powerpoint/2010/main" val="17850092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98015-BE0D-9660-C4AE-C9E28FDE0F04}"/>
              </a:ext>
            </a:extLst>
          </p:cNvPr>
          <p:cNvSpPr>
            <a:spLocks noGrp="1"/>
          </p:cNvSpPr>
          <p:nvPr>
            <p:ph type="title"/>
          </p:nvPr>
        </p:nvSpPr>
        <p:spPr/>
        <p:txBody>
          <a:bodyPr/>
          <a:lstStyle/>
          <a:p>
            <a:r>
              <a:rPr lang="en-US" i="0" dirty="0">
                <a:effectLst/>
                <a:highlight>
                  <a:srgbClr val="FFFFFF"/>
                </a:highlight>
              </a:rPr>
              <a:t>What actually is OAuth?</a:t>
            </a:r>
            <a:endParaRPr lang="en-US" dirty="0"/>
          </a:p>
        </p:txBody>
      </p:sp>
      <p:sp>
        <p:nvSpPr>
          <p:cNvPr id="3" name="Content Placeholder 2">
            <a:extLst>
              <a:ext uri="{FF2B5EF4-FFF2-40B4-BE49-F238E27FC236}">
                <a16:creationId xmlns:a16="http://schemas.microsoft.com/office/drawing/2014/main" id="{63EE2C17-B7F3-03FE-3109-AB2C8EF64E55}"/>
              </a:ext>
            </a:extLst>
          </p:cNvPr>
          <p:cNvSpPr>
            <a:spLocks noGrp="1"/>
          </p:cNvSpPr>
          <p:nvPr>
            <p:ph sz="half" idx="1"/>
          </p:nvPr>
        </p:nvSpPr>
        <p:spPr/>
        <p:txBody>
          <a:bodyPr>
            <a:normAutofit lnSpcReduction="10000"/>
          </a:bodyPr>
          <a:lstStyle/>
          <a:p>
            <a:r>
              <a:rPr lang="en-US" sz="2400" dirty="0"/>
              <a:t>Consider the use case of Quora. Go to Quora.com.</a:t>
            </a:r>
          </a:p>
          <a:p>
            <a:r>
              <a:rPr lang="en-US" sz="2400" dirty="0"/>
              <a:t>If you are a new user you need to signup. </a:t>
            </a:r>
          </a:p>
          <a:p>
            <a:r>
              <a:rPr lang="en-US" sz="2400" dirty="0"/>
              <a:t>You can signup using google or </a:t>
            </a:r>
            <a:r>
              <a:rPr lang="en-US" sz="2400" dirty="0" err="1"/>
              <a:t>facebook</a:t>
            </a:r>
            <a:r>
              <a:rPr lang="en-US" sz="2400" dirty="0"/>
              <a:t> account. When doing so you are authorizing Google or Facebook to allow </a:t>
            </a:r>
            <a:r>
              <a:rPr lang="en-US" sz="2400" dirty="0" err="1"/>
              <a:t>quora</a:t>
            </a:r>
            <a:r>
              <a:rPr lang="en-US" sz="2400" dirty="0"/>
              <a:t> to access you profile info with Quora. </a:t>
            </a:r>
          </a:p>
          <a:p>
            <a:r>
              <a:rPr lang="en-US" sz="2400" dirty="0"/>
              <a:t>This authorizing is done using OAuth. Here you have in no way shared your credentials with Quora.</a:t>
            </a:r>
          </a:p>
        </p:txBody>
      </p:sp>
      <p:pic>
        <p:nvPicPr>
          <p:cNvPr id="5" name="Content Placeholder 4">
            <a:extLst>
              <a:ext uri="{FF2B5EF4-FFF2-40B4-BE49-F238E27FC236}">
                <a16:creationId xmlns:a16="http://schemas.microsoft.com/office/drawing/2014/main" id="{89B87A20-D35B-C00F-4E66-130237625F7E}"/>
              </a:ext>
            </a:extLst>
          </p:cNvPr>
          <p:cNvPicPr>
            <a:picLocks noGrp="1" noChangeAspect="1"/>
          </p:cNvPicPr>
          <p:nvPr>
            <p:ph sz="half" idx="2"/>
          </p:nvPr>
        </p:nvPicPr>
        <p:blipFill>
          <a:blip r:embed="rId2"/>
          <a:stretch>
            <a:fillRect/>
          </a:stretch>
        </p:blipFill>
        <p:spPr>
          <a:xfrm>
            <a:off x="6172200" y="1991788"/>
            <a:ext cx="5181600" cy="4019012"/>
          </a:xfrm>
          <a:prstGeom prst="rect">
            <a:avLst/>
          </a:prstGeom>
        </p:spPr>
      </p:pic>
    </p:spTree>
    <p:extLst>
      <p:ext uri="{BB962C8B-B14F-4D97-AF65-F5344CB8AC3E}">
        <p14:creationId xmlns:p14="http://schemas.microsoft.com/office/powerpoint/2010/main" val="10103276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C2207D-1640-C49F-B9FB-5153584F8F71}"/>
              </a:ext>
            </a:extLst>
          </p:cNvPr>
          <p:cNvSpPr>
            <a:spLocks noGrp="1"/>
          </p:cNvSpPr>
          <p:nvPr>
            <p:ph type="title"/>
          </p:nvPr>
        </p:nvSpPr>
        <p:spPr/>
        <p:txBody>
          <a:bodyPr/>
          <a:lstStyle/>
          <a:p>
            <a:r>
              <a:rPr lang="en-US" dirty="0"/>
              <a:t>Actors in Quora</a:t>
            </a:r>
          </a:p>
        </p:txBody>
      </p:sp>
      <p:sp>
        <p:nvSpPr>
          <p:cNvPr id="6" name="Content Placeholder 5">
            <a:extLst>
              <a:ext uri="{FF2B5EF4-FFF2-40B4-BE49-F238E27FC236}">
                <a16:creationId xmlns:a16="http://schemas.microsoft.com/office/drawing/2014/main" id="{6BF8E9D3-2C80-D66F-8D82-2CD274839F22}"/>
              </a:ext>
            </a:extLst>
          </p:cNvPr>
          <p:cNvSpPr>
            <a:spLocks noGrp="1"/>
          </p:cNvSpPr>
          <p:nvPr>
            <p:ph idx="1"/>
          </p:nvPr>
        </p:nvSpPr>
        <p:spPr/>
        <p:txBody>
          <a:bodyPr/>
          <a:lstStyle/>
          <a:p>
            <a:pPr algn="l">
              <a:buFont typeface="Arial" panose="020B0604020202020204" pitchFamily="34" charset="0"/>
              <a:buChar char="•"/>
            </a:pPr>
            <a:r>
              <a:rPr lang="en-US" b="0" i="0" dirty="0">
                <a:solidFill>
                  <a:srgbClr val="333333"/>
                </a:solidFill>
                <a:effectLst/>
                <a:highlight>
                  <a:srgbClr val="FFFFFF"/>
                </a:highlight>
              </a:rPr>
              <a:t>In the above example of Quora, we have 3 actors-</a:t>
            </a:r>
          </a:p>
          <a:p>
            <a:pPr algn="l">
              <a:buFont typeface="Arial" panose="020B0604020202020204" pitchFamily="34" charset="0"/>
              <a:buChar char="•"/>
            </a:pPr>
            <a:r>
              <a:rPr lang="en-US" b="1" i="0" dirty="0">
                <a:solidFill>
                  <a:srgbClr val="333333"/>
                </a:solidFill>
                <a:effectLst/>
                <a:highlight>
                  <a:srgbClr val="FFFFFF"/>
                </a:highlight>
              </a:rPr>
              <a:t>Resource Owner</a:t>
            </a:r>
            <a:r>
              <a:rPr lang="en-US" b="0" i="0" dirty="0">
                <a:solidFill>
                  <a:srgbClr val="333333"/>
                </a:solidFill>
                <a:effectLst/>
                <a:highlight>
                  <a:srgbClr val="FFFFFF"/>
                </a:highlight>
              </a:rPr>
              <a:t> - This is the user who wants to sign up using Quora.</a:t>
            </a:r>
          </a:p>
          <a:p>
            <a:pPr algn="l">
              <a:buFont typeface="Arial" panose="020B0604020202020204" pitchFamily="34" charset="0"/>
              <a:buChar char="•"/>
            </a:pPr>
            <a:r>
              <a:rPr lang="en-US" b="1" i="0" dirty="0">
                <a:solidFill>
                  <a:srgbClr val="333333"/>
                </a:solidFill>
                <a:effectLst/>
                <a:highlight>
                  <a:srgbClr val="FFFFFF"/>
                </a:highlight>
              </a:rPr>
              <a:t>Client Application</a:t>
            </a:r>
            <a:r>
              <a:rPr lang="en-US" b="0" i="0" dirty="0">
                <a:solidFill>
                  <a:srgbClr val="333333"/>
                </a:solidFill>
                <a:effectLst/>
                <a:highlight>
                  <a:srgbClr val="FFFFFF"/>
                </a:highlight>
              </a:rPr>
              <a:t> - This will be Quora</a:t>
            </a:r>
          </a:p>
          <a:p>
            <a:pPr algn="l">
              <a:buFont typeface="Arial" panose="020B0604020202020204" pitchFamily="34" charset="0"/>
              <a:buChar char="•"/>
            </a:pPr>
            <a:r>
              <a:rPr lang="en-US" b="1" i="0" dirty="0">
                <a:solidFill>
                  <a:srgbClr val="333333"/>
                </a:solidFill>
                <a:effectLst/>
                <a:highlight>
                  <a:srgbClr val="FFFFFF"/>
                </a:highlight>
              </a:rPr>
              <a:t>Resource Server</a:t>
            </a:r>
            <a:r>
              <a:rPr lang="en-US" b="0" i="0" dirty="0">
                <a:solidFill>
                  <a:srgbClr val="333333"/>
                </a:solidFill>
                <a:effectLst/>
                <a:highlight>
                  <a:srgbClr val="FFFFFF"/>
                </a:highlight>
              </a:rPr>
              <a:t> - This will be Gmail or Facebook.</a:t>
            </a:r>
          </a:p>
          <a:p>
            <a:pPr algn="l">
              <a:buFont typeface="Arial" panose="020B0604020202020204" pitchFamily="34" charset="0"/>
              <a:buChar char="•"/>
            </a:pPr>
            <a:r>
              <a:rPr lang="en-US" b="1" i="0" dirty="0">
                <a:solidFill>
                  <a:srgbClr val="333333"/>
                </a:solidFill>
                <a:effectLst/>
                <a:highlight>
                  <a:srgbClr val="FFFFFF"/>
                </a:highlight>
              </a:rPr>
              <a:t>Authorization Server</a:t>
            </a:r>
            <a:r>
              <a:rPr lang="en-US" b="0" i="0" dirty="0">
                <a:solidFill>
                  <a:srgbClr val="333333"/>
                </a:solidFill>
                <a:effectLst/>
                <a:highlight>
                  <a:srgbClr val="FFFFFF"/>
                </a:highlight>
              </a:rPr>
              <a:t> - The resource server hosts the protected user accounts, and the authorization server verifies the identity of the user then issues access tokens to the application.</a:t>
            </a:r>
          </a:p>
          <a:p>
            <a:endParaRPr lang="en-US" dirty="0"/>
          </a:p>
        </p:txBody>
      </p:sp>
    </p:spTree>
    <p:extLst>
      <p:ext uri="{BB962C8B-B14F-4D97-AF65-F5344CB8AC3E}">
        <p14:creationId xmlns:p14="http://schemas.microsoft.com/office/powerpoint/2010/main" val="982423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D5EE-4480-842D-A225-CF61B8EEEB0B}"/>
              </a:ext>
            </a:extLst>
          </p:cNvPr>
          <p:cNvSpPr>
            <a:spLocks noGrp="1"/>
          </p:cNvSpPr>
          <p:nvPr>
            <p:ph type="title"/>
          </p:nvPr>
        </p:nvSpPr>
        <p:spPr/>
        <p:txBody>
          <a:bodyPr/>
          <a:lstStyle/>
          <a:p>
            <a:r>
              <a:rPr lang="en-US" dirty="0"/>
              <a:t>How </a:t>
            </a:r>
            <a:r>
              <a:rPr lang="en-US" dirty="0" err="1"/>
              <a:t>Oauth</a:t>
            </a:r>
            <a:r>
              <a:rPr lang="en-US" dirty="0"/>
              <a:t> authorize the resource?</a:t>
            </a:r>
          </a:p>
        </p:txBody>
      </p:sp>
      <p:sp>
        <p:nvSpPr>
          <p:cNvPr id="3" name="Content Placeholder 2">
            <a:extLst>
              <a:ext uri="{FF2B5EF4-FFF2-40B4-BE49-F238E27FC236}">
                <a16:creationId xmlns:a16="http://schemas.microsoft.com/office/drawing/2014/main" id="{0AF1823D-35B2-8753-9C36-CE6B1C6C5492}"/>
              </a:ext>
            </a:extLst>
          </p:cNvPr>
          <p:cNvSpPr>
            <a:spLocks noGrp="1"/>
          </p:cNvSpPr>
          <p:nvPr>
            <p:ph idx="1"/>
          </p:nvPr>
        </p:nvSpPr>
        <p:spPr/>
        <p:txBody>
          <a:bodyPr>
            <a:normAutofit lnSpcReduction="10000"/>
          </a:bodyPr>
          <a:lstStyle/>
          <a:p>
            <a:r>
              <a:rPr lang="en-US" b="0" i="0" dirty="0">
                <a:solidFill>
                  <a:srgbClr val="333333"/>
                </a:solidFill>
                <a:effectLst/>
                <a:highlight>
                  <a:srgbClr val="FFFFFF"/>
                </a:highlight>
              </a:rPr>
              <a:t>The </a:t>
            </a:r>
            <a:r>
              <a:rPr lang="en-US" b="1" i="0" dirty="0">
                <a:solidFill>
                  <a:srgbClr val="333333"/>
                </a:solidFill>
                <a:effectLst/>
                <a:highlight>
                  <a:srgbClr val="FFFFFF"/>
                </a:highlight>
              </a:rPr>
              <a:t>resource owner will then using OAuth authorize the resource server to share data with the client application.</a:t>
            </a:r>
            <a:br>
              <a:rPr lang="en-US" dirty="0"/>
            </a:br>
            <a:r>
              <a:rPr lang="en-US" b="0" i="0" dirty="0">
                <a:solidFill>
                  <a:srgbClr val="333333"/>
                </a:solidFill>
                <a:effectLst/>
                <a:highlight>
                  <a:srgbClr val="FFFFFF"/>
                </a:highlight>
              </a:rPr>
              <a:t>The client application must first register with the authorization server associated with the resource server. </a:t>
            </a:r>
          </a:p>
          <a:p>
            <a:r>
              <a:rPr lang="en-US" b="0" i="0" dirty="0">
                <a:solidFill>
                  <a:srgbClr val="333333"/>
                </a:solidFill>
                <a:effectLst/>
                <a:highlight>
                  <a:srgbClr val="FFFFFF"/>
                </a:highlight>
              </a:rPr>
              <a:t>This is usually a one-time task. Once registered, the registration remains valid, unless the client application registration is revoked. </a:t>
            </a:r>
          </a:p>
          <a:p>
            <a:r>
              <a:rPr lang="en-US" b="0" i="0" dirty="0">
                <a:solidFill>
                  <a:srgbClr val="333333"/>
                </a:solidFill>
                <a:effectLst/>
                <a:highlight>
                  <a:srgbClr val="FFFFFF"/>
                </a:highlight>
              </a:rPr>
              <a:t>At registration the client application is assigned a client ID and a client secret (password) by the authorization server.</a:t>
            </a:r>
          </a:p>
          <a:p>
            <a:r>
              <a:rPr lang="en-US" b="0" i="0" dirty="0">
                <a:solidFill>
                  <a:srgbClr val="333333"/>
                </a:solidFill>
                <a:effectLst/>
                <a:highlight>
                  <a:srgbClr val="FFFFFF"/>
                </a:highlight>
              </a:rPr>
              <a:t> The client ID and secret is unique to the client application on that authorization server.</a:t>
            </a:r>
            <a:br>
              <a:rPr lang="en-US" dirty="0"/>
            </a:br>
            <a:r>
              <a:rPr lang="en-US" b="0" i="0" dirty="0">
                <a:solidFill>
                  <a:srgbClr val="333333"/>
                </a:solidFill>
                <a:effectLst/>
                <a:highlight>
                  <a:srgbClr val="FFFFFF"/>
                </a:highlight>
              </a:rPr>
              <a:t>For example if we click on </a:t>
            </a:r>
            <a:r>
              <a:rPr lang="en-US" b="1" i="0" dirty="0">
                <a:solidFill>
                  <a:srgbClr val="333333"/>
                </a:solidFill>
                <a:effectLst/>
                <a:highlight>
                  <a:srgbClr val="FFFFFF"/>
                </a:highlight>
              </a:rPr>
              <a:t>Continue with Google</a:t>
            </a:r>
            <a:r>
              <a:rPr lang="en-US" b="0" i="0" dirty="0">
                <a:solidFill>
                  <a:srgbClr val="333333"/>
                </a:solidFill>
                <a:effectLst/>
                <a:highlight>
                  <a:srgbClr val="FFFFFF"/>
                </a:highlight>
              </a:rPr>
              <a:t>, we get the following screen. Here we can see Quora client id.</a:t>
            </a:r>
            <a:endParaRPr lang="en-US" dirty="0"/>
          </a:p>
        </p:txBody>
      </p:sp>
    </p:spTree>
    <p:extLst>
      <p:ext uri="{BB962C8B-B14F-4D97-AF65-F5344CB8AC3E}">
        <p14:creationId xmlns:p14="http://schemas.microsoft.com/office/powerpoint/2010/main" val="42196866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77AF-D435-A8FA-DC59-52F28D151E02}"/>
              </a:ext>
            </a:extLst>
          </p:cNvPr>
          <p:cNvSpPr>
            <a:spLocks noGrp="1"/>
          </p:cNvSpPr>
          <p:nvPr>
            <p:ph type="title"/>
          </p:nvPr>
        </p:nvSpPr>
        <p:spPr/>
        <p:txBody>
          <a:bodyPr/>
          <a:lstStyle/>
          <a:p>
            <a:endParaRPr lang="en-US" dirty="0"/>
          </a:p>
        </p:txBody>
      </p:sp>
      <p:pic>
        <p:nvPicPr>
          <p:cNvPr id="1026" name="Picture 2" descr="boot-39_2">
            <a:extLst>
              <a:ext uri="{FF2B5EF4-FFF2-40B4-BE49-F238E27FC236}">
                <a16:creationId xmlns:a16="http://schemas.microsoft.com/office/drawing/2014/main" id="{8955C8AF-FE46-6AB8-5891-4E7A22B5FF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54537" y="1825625"/>
            <a:ext cx="52829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1039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43DAF-D8A4-B405-E436-432DE6119EB5}"/>
              </a:ext>
            </a:extLst>
          </p:cNvPr>
          <p:cNvSpPr>
            <a:spLocks noGrp="1"/>
          </p:cNvSpPr>
          <p:nvPr>
            <p:ph type="title"/>
          </p:nvPr>
        </p:nvSpPr>
        <p:spPr/>
        <p:txBody>
          <a:bodyPr/>
          <a:lstStyle/>
          <a:p>
            <a:endParaRPr lang="en-US" dirty="0"/>
          </a:p>
        </p:txBody>
      </p:sp>
      <p:sp>
        <p:nvSpPr>
          <p:cNvPr id="5" name="Content Placeholder 4">
            <a:extLst>
              <a:ext uri="{FF2B5EF4-FFF2-40B4-BE49-F238E27FC236}">
                <a16:creationId xmlns:a16="http://schemas.microsoft.com/office/drawing/2014/main" id="{01D0A97A-CF26-558D-8A01-E33B30C1E8A1}"/>
              </a:ext>
            </a:extLst>
          </p:cNvPr>
          <p:cNvSpPr>
            <a:spLocks noGrp="1"/>
          </p:cNvSpPr>
          <p:nvPr>
            <p:ph sz="half" idx="1"/>
          </p:nvPr>
        </p:nvSpPr>
        <p:spPr/>
        <p:txBody>
          <a:bodyPr>
            <a:normAutofit/>
          </a:bodyPr>
          <a:lstStyle/>
          <a:p>
            <a:r>
              <a:rPr lang="en-US" sz="2400" b="0" i="0" dirty="0">
                <a:solidFill>
                  <a:srgbClr val="333333"/>
                </a:solidFill>
                <a:effectLst/>
                <a:highlight>
                  <a:srgbClr val="FFFFFF"/>
                </a:highlight>
              </a:rPr>
              <a:t>Quora got this client id and a secret key when it registered with Google.</a:t>
            </a:r>
          </a:p>
          <a:p>
            <a:r>
              <a:rPr lang="en-US" sz="2400" b="0" i="0" dirty="0">
                <a:solidFill>
                  <a:srgbClr val="333333"/>
                </a:solidFill>
                <a:effectLst/>
                <a:highlight>
                  <a:srgbClr val="FFFFFF"/>
                </a:highlight>
              </a:rPr>
              <a:t>The actual authorization process that takes place between Quora and Google using OAuth is as in diagram</a:t>
            </a:r>
            <a:endParaRPr lang="en-US" sz="2400" dirty="0"/>
          </a:p>
        </p:txBody>
      </p:sp>
      <p:pic>
        <p:nvPicPr>
          <p:cNvPr id="2050" name="Picture 2" descr="boot-39_3">
            <a:extLst>
              <a:ext uri="{FF2B5EF4-FFF2-40B4-BE49-F238E27FC236}">
                <a16:creationId xmlns:a16="http://schemas.microsoft.com/office/drawing/2014/main" id="{5A974D9B-FF5E-B1A1-FC41-9493345418B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22280"/>
            <a:ext cx="5181600"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2809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6CE1-C402-08C0-57DB-4F1635BF5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E2405C-D42B-A35C-C8F8-1DEE532EB94A}"/>
              </a:ext>
            </a:extLst>
          </p:cNvPr>
          <p:cNvSpPr>
            <a:spLocks noGrp="1"/>
          </p:cNvSpPr>
          <p:nvPr>
            <p:ph idx="1"/>
          </p:nvPr>
        </p:nvSpPr>
        <p:spPr/>
        <p:txBody>
          <a:bodyPr/>
          <a:lstStyle/>
          <a:p>
            <a:pPr algn="l">
              <a:buFont typeface="Arial" panose="020B0604020202020204" pitchFamily="34" charset="0"/>
              <a:buChar char="•"/>
            </a:pPr>
            <a:r>
              <a:rPr lang="en-US" b="1" i="0" dirty="0">
                <a:solidFill>
                  <a:srgbClr val="333333"/>
                </a:solidFill>
                <a:effectLst/>
                <a:highlight>
                  <a:srgbClr val="FFFFFF"/>
                </a:highlight>
                <a:latin typeface="-apple-system"/>
              </a:rPr>
              <a:t>The flow we will be implementing is as follows :</a:t>
            </a:r>
          </a:p>
          <a:p>
            <a:pPr algn="l">
              <a:buFont typeface="Arial" panose="020B0604020202020204" pitchFamily="34" charset="0"/>
              <a:buChar char="•"/>
            </a:pPr>
            <a:r>
              <a:rPr lang="en-US" b="0" i="0" dirty="0">
                <a:solidFill>
                  <a:srgbClr val="333333"/>
                </a:solidFill>
                <a:effectLst/>
                <a:highlight>
                  <a:srgbClr val="FFFFFF"/>
                </a:highlight>
                <a:latin typeface="-apple-system"/>
              </a:rPr>
              <a:t>The Resource Owner will ask the Client Application to get some data from the Resource Server.</a:t>
            </a:r>
          </a:p>
          <a:p>
            <a:pPr algn="l">
              <a:buFont typeface="Arial" panose="020B0604020202020204" pitchFamily="34" charset="0"/>
              <a:buChar char="•"/>
            </a:pPr>
            <a:r>
              <a:rPr lang="en-US" b="0" i="0" dirty="0">
                <a:solidFill>
                  <a:srgbClr val="333333"/>
                </a:solidFill>
                <a:effectLst/>
                <a:highlight>
                  <a:srgbClr val="FFFFFF"/>
                </a:highlight>
                <a:latin typeface="-apple-system"/>
              </a:rPr>
              <a:t>The Resource Server asks the Resource Owner to authenticate itself and as for authorization to share data.</a:t>
            </a:r>
          </a:p>
          <a:p>
            <a:pPr algn="l">
              <a:buFont typeface="Arial" panose="020B0604020202020204" pitchFamily="34" charset="0"/>
              <a:buChar char="•"/>
            </a:pPr>
            <a:r>
              <a:rPr lang="en-US" b="0" i="0" dirty="0">
                <a:solidFill>
                  <a:srgbClr val="333333"/>
                </a:solidFill>
                <a:effectLst/>
                <a:highlight>
                  <a:srgbClr val="FFFFFF"/>
                </a:highlight>
                <a:latin typeface="-apple-system"/>
              </a:rPr>
              <a:t>After successful authentication the Resource Server shares an authorization code with the client application</a:t>
            </a:r>
          </a:p>
          <a:p>
            <a:endParaRPr lang="en-US" dirty="0"/>
          </a:p>
        </p:txBody>
      </p:sp>
    </p:spTree>
    <p:extLst>
      <p:ext uri="{BB962C8B-B14F-4D97-AF65-F5344CB8AC3E}">
        <p14:creationId xmlns:p14="http://schemas.microsoft.com/office/powerpoint/2010/main" val="139608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FCA11-F0CA-55CC-705B-86A3CFD18BCB}"/>
              </a:ext>
            </a:extLst>
          </p:cNvPr>
          <p:cNvSpPr>
            <a:spLocks noGrp="1"/>
          </p:cNvSpPr>
          <p:nvPr>
            <p:ph type="title"/>
          </p:nvPr>
        </p:nvSpPr>
        <p:spPr/>
        <p:txBody>
          <a:bodyPr/>
          <a:lstStyle/>
          <a:p>
            <a:r>
              <a:rPr lang="en-US" dirty="0"/>
              <a:t>Fetching and using the Access Token</a:t>
            </a:r>
          </a:p>
        </p:txBody>
      </p:sp>
      <p:sp>
        <p:nvSpPr>
          <p:cNvPr id="3" name="Content Placeholder 2">
            <a:extLst>
              <a:ext uri="{FF2B5EF4-FFF2-40B4-BE49-F238E27FC236}">
                <a16:creationId xmlns:a16="http://schemas.microsoft.com/office/drawing/2014/main" id="{E7B1FAE7-062C-0F4D-EB10-C0CB45A64C1B}"/>
              </a:ext>
            </a:extLst>
          </p:cNvPr>
          <p:cNvSpPr>
            <a:spLocks noGrp="1"/>
          </p:cNvSpPr>
          <p:nvPr>
            <p:ph sz="half" idx="1"/>
          </p:nvPr>
        </p:nvSpPr>
        <p:spPr/>
        <p:txBody>
          <a:bodyPr>
            <a:normAutofit/>
          </a:bodyPr>
          <a:lstStyle/>
          <a:p>
            <a:r>
              <a:rPr lang="en-US" sz="2400" dirty="0"/>
              <a:t>The Client Application using the Authorization code and Secret key ask for the Access Token from the Resource Server.</a:t>
            </a:r>
          </a:p>
          <a:p>
            <a:r>
              <a:rPr lang="en-US" sz="2400" dirty="0"/>
              <a:t>The Resource Server shares the Access Token with the Client Application.</a:t>
            </a:r>
          </a:p>
          <a:p>
            <a:r>
              <a:rPr lang="en-US" sz="2400" dirty="0"/>
              <a:t>Using the shared Access Token the Client Application can now get the required JSON data from the Resource Server</a:t>
            </a:r>
          </a:p>
        </p:txBody>
      </p:sp>
      <p:pic>
        <p:nvPicPr>
          <p:cNvPr id="5" name="Content Placeholder 4">
            <a:extLst>
              <a:ext uri="{FF2B5EF4-FFF2-40B4-BE49-F238E27FC236}">
                <a16:creationId xmlns:a16="http://schemas.microsoft.com/office/drawing/2014/main" id="{85030257-8EA4-7B01-4F00-64CD5C095525}"/>
              </a:ext>
            </a:extLst>
          </p:cNvPr>
          <p:cNvPicPr>
            <a:picLocks noGrp="1" noChangeAspect="1"/>
          </p:cNvPicPr>
          <p:nvPr>
            <p:ph sz="half" idx="2"/>
          </p:nvPr>
        </p:nvPicPr>
        <p:blipFill>
          <a:blip r:embed="rId2"/>
          <a:stretch>
            <a:fillRect/>
          </a:stretch>
        </p:blipFill>
        <p:spPr>
          <a:xfrm>
            <a:off x="6172200" y="2382044"/>
            <a:ext cx="5181600" cy="3238500"/>
          </a:xfrm>
          <a:prstGeom prst="rect">
            <a:avLst/>
          </a:prstGeom>
        </p:spPr>
      </p:pic>
    </p:spTree>
    <p:extLst>
      <p:ext uri="{BB962C8B-B14F-4D97-AF65-F5344CB8AC3E}">
        <p14:creationId xmlns:p14="http://schemas.microsoft.com/office/powerpoint/2010/main" val="6510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Security </a:t>
            </a:r>
            <a:r>
              <a:rPr lang="en-US" b="1" i="0" dirty="0">
                <a:solidFill>
                  <a:srgbClr val="222222"/>
                </a:solidFill>
                <a:effectLst/>
                <a:highlight>
                  <a:srgbClr val="FFFFFF"/>
                </a:highlight>
                <a:latin typeface="Source Sans Pro" panose="020B0503030403020204" pitchFamily="34" charset="0"/>
              </a:rPr>
              <a:t>and </a:t>
            </a:r>
            <a:r>
              <a:rPr lang="en-US" b="1" i="0" dirty="0" err="1">
                <a:solidFill>
                  <a:srgbClr val="222222"/>
                </a:solidFill>
                <a:effectLst/>
                <a:highlight>
                  <a:srgbClr val="FFFFFF"/>
                </a:highlight>
                <a:latin typeface="Source Sans Pro" panose="020B0503030403020204" pitchFamily="34" charset="0"/>
              </a:rPr>
              <a:t>Oauth</a:t>
            </a:r>
            <a:endParaRPr lang="en-US" dirty="0"/>
          </a:p>
        </p:txBody>
      </p:sp>
    </p:spTree>
    <p:extLst>
      <p:ext uri="{BB962C8B-B14F-4D97-AF65-F5344CB8AC3E}">
        <p14:creationId xmlns:p14="http://schemas.microsoft.com/office/powerpoint/2010/main" val="13981783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Spring Cloud</a:t>
            </a:r>
          </a:p>
        </p:txBody>
      </p:sp>
    </p:spTree>
    <p:extLst>
      <p:ext uri="{BB962C8B-B14F-4D97-AF65-F5344CB8AC3E}">
        <p14:creationId xmlns:p14="http://schemas.microsoft.com/office/powerpoint/2010/main" val="15857429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DE2C-3496-481F-6F8F-CFB4C48850A1}"/>
              </a:ext>
            </a:extLst>
          </p:cNvPr>
          <p:cNvSpPr>
            <a:spLocks noGrp="1"/>
          </p:cNvSpPr>
          <p:nvPr>
            <p:ph type="title"/>
          </p:nvPr>
        </p:nvSpPr>
        <p:spPr/>
        <p:txBody>
          <a:bodyPr/>
          <a:lstStyle/>
          <a:p>
            <a:r>
              <a:rPr lang="en-US" i="0" dirty="0">
                <a:solidFill>
                  <a:srgbClr val="212529"/>
                </a:solidFill>
                <a:effectLst/>
                <a:highlight>
                  <a:srgbClr val="FFFFFF"/>
                </a:highlight>
              </a:rPr>
              <a:t>What is Spring Cloud?</a:t>
            </a:r>
            <a:endParaRPr lang="en-US" dirty="0"/>
          </a:p>
        </p:txBody>
      </p:sp>
      <p:sp>
        <p:nvSpPr>
          <p:cNvPr id="3" name="Content Placeholder 2">
            <a:extLst>
              <a:ext uri="{FF2B5EF4-FFF2-40B4-BE49-F238E27FC236}">
                <a16:creationId xmlns:a16="http://schemas.microsoft.com/office/drawing/2014/main" id="{87AE2002-33B5-0670-6FE4-0070ABE2A5AC}"/>
              </a:ext>
            </a:extLst>
          </p:cNvPr>
          <p:cNvSpPr>
            <a:spLocks noGrp="1"/>
          </p:cNvSpPr>
          <p:nvPr>
            <p:ph idx="1"/>
          </p:nvPr>
        </p:nvSpPr>
        <p:spPr/>
        <p:txBody>
          <a:bodyPr/>
          <a:lstStyle/>
          <a:p>
            <a:r>
              <a:rPr lang="en-US" dirty="0"/>
              <a:t>Spring Cloud is considered a framework used for developing strong cloud applications. It is also used for building Microservices applications. It is used for developing configuration management, cluster state, a control bus, intelligent routing, etc.</a:t>
            </a:r>
          </a:p>
        </p:txBody>
      </p:sp>
    </p:spTree>
    <p:extLst>
      <p:ext uri="{BB962C8B-B14F-4D97-AF65-F5344CB8AC3E}">
        <p14:creationId xmlns:p14="http://schemas.microsoft.com/office/powerpoint/2010/main" val="31382610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166BD-B9F2-B6B2-B66F-5EA0C6D6FF9D}"/>
              </a:ext>
            </a:extLst>
          </p:cNvPr>
          <p:cNvSpPr>
            <a:spLocks noGrp="1"/>
          </p:cNvSpPr>
          <p:nvPr>
            <p:ph type="title"/>
          </p:nvPr>
        </p:nvSpPr>
        <p:spPr/>
        <p:txBody>
          <a:bodyPr/>
          <a:lstStyle/>
          <a:p>
            <a:r>
              <a:rPr lang="en-US" dirty="0"/>
              <a:t>Spring Cloud Features</a:t>
            </a:r>
          </a:p>
        </p:txBody>
      </p:sp>
      <p:sp>
        <p:nvSpPr>
          <p:cNvPr id="3" name="Content Placeholder 2">
            <a:extLst>
              <a:ext uri="{FF2B5EF4-FFF2-40B4-BE49-F238E27FC236}">
                <a16:creationId xmlns:a16="http://schemas.microsoft.com/office/drawing/2014/main" id="{5132622D-6218-D34C-B644-A9CAAE0D5FA3}"/>
              </a:ext>
            </a:extLst>
          </p:cNvPr>
          <p:cNvSpPr>
            <a:spLocks noGrp="1"/>
          </p:cNvSpPr>
          <p:nvPr>
            <p:ph idx="1"/>
          </p:nvPr>
        </p:nvSpPr>
        <p:spPr/>
        <p:txBody>
          <a:bodyPr>
            <a:normAutofit/>
          </a:bodyPr>
          <a:lstStyle/>
          <a:p>
            <a:r>
              <a:rPr lang="en-US" b="0" i="0" dirty="0">
                <a:effectLst/>
                <a:highlight>
                  <a:srgbClr val="FFFFFF"/>
                </a:highlight>
              </a:rPr>
              <a:t>Service Discovery and intelligent routing</a:t>
            </a:r>
          </a:p>
          <a:p>
            <a:r>
              <a:rPr lang="en-US" b="0" i="0" dirty="0">
                <a:effectLst/>
                <a:highlight>
                  <a:srgbClr val="FFFFFF"/>
                </a:highlight>
              </a:rPr>
              <a:t>Service to Service calls</a:t>
            </a:r>
          </a:p>
          <a:p>
            <a:r>
              <a:rPr lang="en-US" dirty="0"/>
              <a:t>Leadership Election</a:t>
            </a:r>
          </a:p>
          <a:p>
            <a:r>
              <a:rPr lang="en-US" dirty="0"/>
              <a:t>Load balancing</a:t>
            </a:r>
          </a:p>
          <a:p>
            <a:r>
              <a:rPr lang="en-US" dirty="0"/>
              <a:t>Distributed configuration</a:t>
            </a:r>
          </a:p>
          <a:p>
            <a:r>
              <a:rPr lang="en-US" dirty="0"/>
              <a:t>Global Locks</a:t>
            </a:r>
          </a:p>
          <a:p>
            <a:r>
              <a:rPr lang="en-US" dirty="0"/>
              <a:t>Distributed Messaging</a:t>
            </a:r>
          </a:p>
        </p:txBody>
      </p:sp>
    </p:spTree>
    <p:extLst>
      <p:ext uri="{BB962C8B-B14F-4D97-AF65-F5344CB8AC3E}">
        <p14:creationId xmlns:p14="http://schemas.microsoft.com/office/powerpoint/2010/main" val="28478841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D2DD0-1250-3ED4-2DF3-B319D2D52977}"/>
              </a:ext>
            </a:extLst>
          </p:cNvPr>
          <p:cNvSpPr>
            <a:spLocks noGrp="1"/>
          </p:cNvSpPr>
          <p:nvPr>
            <p:ph type="title"/>
          </p:nvPr>
        </p:nvSpPr>
        <p:spPr/>
        <p:txBody>
          <a:bodyPr/>
          <a:lstStyle/>
          <a:p>
            <a:r>
              <a:rPr lang="en-US" dirty="0"/>
              <a:t>Components of Spring Cloud</a:t>
            </a:r>
          </a:p>
        </p:txBody>
      </p:sp>
      <p:sp>
        <p:nvSpPr>
          <p:cNvPr id="3" name="Content Placeholder 2">
            <a:extLst>
              <a:ext uri="{FF2B5EF4-FFF2-40B4-BE49-F238E27FC236}">
                <a16:creationId xmlns:a16="http://schemas.microsoft.com/office/drawing/2014/main" id="{86671C88-D946-F9B9-48E5-CC3ECA36697B}"/>
              </a:ext>
            </a:extLst>
          </p:cNvPr>
          <p:cNvSpPr>
            <a:spLocks noGrp="1"/>
          </p:cNvSpPr>
          <p:nvPr>
            <p:ph idx="1"/>
          </p:nvPr>
        </p:nvSpPr>
        <p:spPr/>
        <p:txBody>
          <a:bodyPr/>
          <a:lstStyle/>
          <a:p>
            <a:r>
              <a:rPr lang="en-US" i="0" dirty="0">
                <a:effectLst/>
                <a:highlight>
                  <a:srgbClr val="FFFFFF"/>
                </a:highlight>
              </a:rPr>
              <a:t>Configuration</a:t>
            </a:r>
          </a:p>
          <a:p>
            <a:r>
              <a:rPr lang="en-US" i="0" dirty="0">
                <a:effectLst/>
                <a:highlight>
                  <a:srgbClr val="FFFFFF"/>
                </a:highlight>
              </a:rPr>
              <a:t>API Gateway</a:t>
            </a:r>
          </a:p>
          <a:p>
            <a:r>
              <a:rPr lang="en-US" i="0" dirty="0">
                <a:effectLst/>
                <a:highlight>
                  <a:srgbClr val="FFFFFF"/>
                </a:highlight>
              </a:rPr>
              <a:t>Tracing</a:t>
            </a:r>
          </a:p>
          <a:p>
            <a:r>
              <a:rPr lang="en-US" i="0" dirty="0">
                <a:effectLst/>
                <a:highlight>
                  <a:srgbClr val="FFFFFF"/>
                </a:highlight>
              </a:rPr>
              <a:t>CI Testing and Pipeline</a:t>
            </a:r>
          </a:p>
          <a:p>
            <a:r>
              <a:rPr lang="en-US" i="0" dirty="0">
                <a:effectLst/>
                <a:highlight>
                  <a:srgbClr val="FFFFFF"/>
                </a:highlight>
              </a:rPr>
              <a:t>Service Discovery</a:t>
            </a:r>
          </a:p>
          <a:p>
            <a:pPr lvl="1"/>
            <a:r>
              <a:rPr lang="en-US" i="0" dirty="0">
                <a:effectLst/>
                <a:highlight>
                  <a:srgbClr val="FFFFFF"/>
                </a:highlight>
              </a:rPr>
              <a:t>Client-side discovery</a:t>
            </a:r>
          </a:p>
          <a:p>
            <a:pPr lvl="1"/>
            <a:r>
              <a:rPr lang="en-US" i="0" dirty="0">
                <a:effectLst/>
                <a:highlight>
                  <a:srgbClr val="FFFFFF"/>
                </a:highlight>
              </a:rPr>
              <a:t>Server-side Discovery</a:t>
            </a:r>
          </a:p>
          <a:p>
            <a:r>
              <a:rPr lang="en-US" b="0" i="0" dirty="0">
                <a:effectLst/>
                <a:highlight>
                  <a:srgbClr val="FFFFFF"/>
                </a:highlight>
              </a:rPr>
              <a:t>Circuit Breakers</a:t>
            </a:r>
          </a:p>
          <a:p>
            <a:r>
              <a:rPr lang="en-US" b="0" i="0" dirty="0">
                <a:effectLst/>
                <a:highlight>
                  <a:srgbClr val="FFFFFF"/>
                </a:highlight>
              </a:rPr>
              <a:t>Routing and Messaging</a:t>
            </a:r>
          </a:p>
          <a:p>
            <a:endParaRPr lang="en-US" dirty="0"/>
          </a:p>
        </p:txBody>
      </p:sp>
    </p:spTree>
    <p:extLst>
      <p:ext uri="{BB962C8B-B14F-4D97-AF65-F5344CB8AC3E}">
        <p14:creationId xmlns:p14="http://schemas.microsoft.com/office/powerpoint/2010/main" val="33418263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4235D-3182-B7F2-9B85-734D1728E0F3}"/>
              </a:ext>
            </a:extLst>
          </p:cNvPr>
          <p:cNvSpPr>
            <a:spLocks noGrp="1"/>
          </p:cNvSpPr>
          <p:nvPr>
            <p:ph type="title"/>
          </p:nvPr>
        </p:nvSpPr>
        <p:spPr/>
        <p:txBody>
          <a:bodyPr/>
          <a:lstStyle/>
          <a:p>
            <a:r>
              <a:rPr lang="en-US" dirty="0"/>
              <a:t>Advantages of Spring Cloud</a:t>
            </a:r>
          </a:p>
        </p:txBody>
      </p:sp>
      <p:sp>
        <p:nvSpPr>
          <p:cNvPr id="3" name="Content Placeholder 2">
            <a:extLst>
              <a:ext uri="{FF2B5EF4-FFF2-40B4-BE49-F238E27FC236}">
                <a16:creationId xmlns:a16="http://schemas.microsoft.com/office/drawing/2014/main" id="{8AAFD117-B137-FCB1-A31F-A8FBFEF4F401}"/>
              </a:ext>
            </a:extLst>
          </p:cNvPr>
          <p:cNvSpPr>
            <a:spLocks noGrp="1"/>
          </p:cNvSpPr>
          <p:nvPr>
            <p:ph idx="1"/>
          </p:nvPr>
        </p:nvSpPr>
        <p:spPr/>
        <p:txBody>
          <a:bodyPr/>
          <a:lstStyle/>
          <a:p>
            <a:r>
              <a:rPr lang="en-US" dirty="0"/>
              <a:t>It allows one service to communicate with another service.</a:t>
            </a:r>
          </a:p>
          <a:p>
            <a:r>
              <a:rPr lang="en-US" dirty="0"/>
              <a:t>It is used to develop applications based on the cloud.</a:t>
            </a:r>
          </a:p>
          <a:p>
            <a:r>
              <a:rPr lang="en-US" dirty="0"/>
              <a:t>Its architecture is designed according to the microservice.</a:t>
            </a:r>
          </a:p>
          <a:p>
            <a:r>
              <a:rPr lang="en-US" dirty="0"/>
              <a:t>It adopts a spring boot model.</a:t>
            </a:r>
          </a:p>
        </p:txBody>
      </p:sp>
    </p:spTree>
    <p:extLst>
      <p:ext uri="{BB962C8B-B14F-4D97-AF65-F5344CB8AC3E}">
        <p14:creationId xmlns:p14="http://schemas.microsoft.com/office/powerpoint/2010/main" val="18490425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3FF0E-04C2-A903-A0B4-F7BDF588B58D}"/>
              </a:ext>
            </a:extLst>
          </p:cNvPr>
          <p:cNvSpPr>
            <a:spLocks noGrp="1"/>
          </p:cNvSpPr>
          <p:nvPr>
            <p:ph type="title"/>
          </p:nvPr>
        </p:nvSpPr>
        <p:spPr/>
        <p:txBody>
          <a:bodyPr/>
          <a:lstStyle/>
          <a:p>
            <a:r>
              <a:rPr lang="en-US" dirty="0"/>
              <a:t>Primary Projects of Spring Cloud</a:t>
            </a:r>
          </a:p>
        </p:txBody>
      </p:sp>
      <p:sp>
        <p:nvSpPr>
          <p:cNvPr id="3" name="Content Placeholder 2">
            <a:extLst>
              <a:ext uri="{FF2B5EF4-FFF2-40B4-BE49-F238E27FC236}">
                <a16:creationId xmlns:a16="http://schemas.microsoft.com/office/drawing/2014/main" id="{AAA82DDF-29A6-1E1F-CC51-5B2CD8F2654D}"/>
              </a:ext>
            </a:extLst>
          </p:cNvPr>
          <p:cNvSpPr>
            <a:spLocks noGrp="1"/>
          </p:cNvSpPr>
          <p:nvPr>
            <p:ph idx="1"/>
          </p:nvPr>
        </p:nvSpPr>
        <p:spPr/>
        <p:txBody>
          <a:bodyPr/>
          <a:lstStyle/>
          <a:p>
            <a:r>
              <a:rPr lang="en-US" dirty="0"/>
              <a:t>Spring Cloud Netflix</a:t>
            </a:r>
          </a:p>
          <a:p>
            <a:r>
              <a:rPr lang="en-US" dirty="0"/>
              <a:t>Spring Cloud Data Flow</a:t>
            </a:r>
          </a:p>
          <a:p>
            <a:r>
              <a:rPr lang="en-US" dirty="0"/>
              <a:t>Spring Cloud AWS</a:t>
            </a:r>
          </a:p>
          <a:p>
            <a:r>
              <a:rPr lang="en-US" dirty="0"/>
              <a:t>Spring Cloud DevOps</a:t>
            </a:r>
          </a:p>
          <a:p>
            <a:pPr marL="0" indent="0">
              <a:buNone/>
            </a:pPr>
            <a:r>
              <a:rPr lang="en-US" dirty="0"/>
              <a:t>    Etc.,</a:t>
            </a:r>
          </a:p>
        </p:txBody>
      </p:sp>
    </p:spTree>
    <p:extLst>
      <p:ext uri="{BB962C8B-B14F-4D97-AF65-F5344CB8AC3E}">
        <p14:creationId xmlns:p14="http://schemas.microsoft.com/office/powerpoint/2010/main" val="1428553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Example on Spring cloud and microservices example</a:t>
            </a:r>
          </a:p>
        </p:txBody>
      </p:sp>
    </p:spTree>
    <p:extLst>
      <p:ext uri="{BB962C8B-B14F-4D97-AF65-F5344CB8AC3E}">
        <p14:creationId xmlns:p14="http://schemas.microsoft.com/office/powerpoint/2010/main" val="39810553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0302-5716-AA13-CBCC-D223E3A9E18C}"/>
              </a:ext>
            </a:extLst>
          </p:cNvPr>
          <p:cNvSpPr>
            <a:spLocks noGrp="1"/>
          </p:cNvSpPr>
          <p:nvPr>
            <p:ph type="title"/>
          </p:nvPr>
        </p:nvSpPr>
        <p:spPr>
          <a:xfrm>
            <a:off x="838200" y="2553685"/>
            <a:ext cx="10515600" cy="1325563"/>
          </a:xfrm>
        </p:spPr>
        <p:txBody>
          <a:bodyPr/>
          <a:lstStyle/>
          <a:p>
            <a:r>
              <a:rPr lang="en-US" dirty="0"/>
              <a:t>Thank You</a:t>
            </a:r>
          </a:p>
        </p:txBody>
      </p:sp>
    </p:spTree>
    <p:extLst>
      <p:ext uri="{BB962C8B-B14F-4D97-AF65-F5344CB8AC3E}">
        <p14:creationId xmlns:p14="http://schemas.microsoft.com/office/powerpoint/2010/main" val="1163524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FF51E8E0C93A43BB6C89431D01AB86" ma:contentTypeVersion="15" ma:contentTypeDescription="Create a new document." ma:contentTypeScope="" ma:versionID="be6974e1478826ccbe2463bccbc21328">
  <xsd:schema xmlns:xsd="http://www.w3.org/2001/XMLSchema" xmlns:xs="http://www.w3.org/2001/XMLSchema" xmlns:p="http://schemas.microsoft.com/office/2006/metadata/properties" xmlns:ns3="3b3a4e9c-374c-4d51-903f-bf789a8fe17d" xmlns:ns4="25ad4363-c25f-4ff1-bd7b-ed438adb3233" targetNamespace="http://schemas.microsoft.com/office/2006/metadata/properties" ma:root="true" ma:fieldsID="7adbc33a6e43f24fc59903ca8d852288" ns3:_="" ns4:_="">
    <xsd:import namespace="3b3a4e9c-374c-4d51-903f-bf789a8fe17d"/>
    <xsd:import namespace="25ad4363-c25f-4ff1-bd7b-ed438adb323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3a4e9c-374c-4d51-903f-bf789a8fe1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ad4363-c25f-4ff1-bd7b-ed438adb323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b3a4e9c-374c-4d51-903f-bf789a8fe17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3979E0-151D-4C7E-B4B8-53A6AAE759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3a4e9c-374c-4d51-903f-bf789a8fe17d"/>
    <ds:schemaRef ds:uri="25ad4363-c25f-4ff1-bd7b-ed438adb32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684224-EBE1-42F6-906E-32A9B9EB8901}">
  <ds:schemaRefs>
    <ds:schemaRef ds:uri="http://schemas.microsoft.com/office/2006/documentManagement/types"/>
    <ds:schemaRef ds:uri="http://purl.org/dc/elements/1.1/"/>
    <ds:schemaRef ds:uri="http://purl.org/dc/dcmitype/"/>
    <ds:schemaRef ds:uri="http://purl.org/dc/terms/"/>
    <ds:schemaRef ds:uri="http://schemas.microsoft.com/office/infopath/2007/PartnerControls"/>
    <ds:schemaRef ds:uri="http://www.w3.org/XML/1998/namespace"/>
    <ds:schemaRef ds:uri="3b3a4e9c-374c-4d51-903f-bf789a8fe17d"/>
    <ds:schemaRef ds:uri="http://schemas.openxmlformats.org/package/2006/metadata/core-properties"/>
    <ds:schemaRef ds:uri="25ad4363-c25f-4ff1-bd7b-ed438adb3233"/>
    <ds:schemaRef ds:uri="http://schemas.microsoft.com/office/2006/metadata/properties"/>
  </ds:schemaRefs>
</ds:datastoreItem>
</file>

<file path=customXml/itemProps3.xml><?xml version="1.0" encoding="utf-8"?>
<ds:datastoreItem xmlns:ds="http://schemas.openxmlformats.org/officeDocument/2006/customXml" ds:itemID="{A145AD68-CAB3-4ED1-98C2-D7841502DD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SQL_BASICS_v1.0</Template>
  <TotalTime>8583</TotalTime>
  <Words>3728</Words>
  <Application>Microsoft Office PowerPoint</Application>
  <PresentationFormat>Widescreen</PresentationFormat>
  <Paragraphs>301</Paragraphs>
  <Slides>80</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-apple-system</vt:lpstr>
      <vt:lpstr>Aptos</vt:lpstr>
      <vt:lpstr>Arial</vt:lpstr>
      <vt:lpstr>Calibri</vt:lpstr>
      <vt:lpstr>Calibri Light</vt:lpstr>
      <vt:lpstr>Century Gothic</vt:lpstr>
      <vt:lpstr>Roboto</vt:lpstr>
      <vt:lpstr>Source Sans Pro</vt:lpstr>
      <vt:lpstr>1_Office Theme</vt:lpstr>
      <vt:lpstr>Spring Security</vt:lpstr>
      <vt:lpstr>What is Spring Security?</vt:lpstr>
      <vt:lpstr>Core Concepts of Spring Security</vt:lpstr>
      <vt:lpstr>Advantages of Spring security</vt:lpstr>
      <vt:lpstr>Enable basic Spring security to J2EE applications</vt:lpstr>
      <vt:lpstr>Few basic terms that are related to spring security</vt:lpstr>
      <vt:lpstr>PowerPoint Presentation</vt:lpstr>
      <vt:lpstr>Spring Security Modules</vt:lpstr>
      <vt:lpstr>Difference between Authentication and Authorization ?</vt:lpstr>
      <vt:lpstr>Spring Security Flow</vt:lpstr>
      <vt:lpstr>Example for Spring Security Basic Authentication</vt:lpstr>
      <vt:lpstr>Spring Security Filters Chain</vt:lpstr>
      <vt:lpstr>About Spring Security Filters Chain</vt:lpstr>
      <vt:lpstr>How filters work in a web application</vt:lpstr>
      <vt:lpstr>PowerPoint Presentation</vt:lpstr>
      <vt:lpstr>DelegatingFilterProxy</vt:lpstr>
      <vt:lpstr>FilterChainProxy</vt:lpstr>
      <vt:lpstr>SecurityFilterChain</vt:lpstr>
      <vt:lpstr>PowerPoint Presentation</vt:lpstr>
      <vt:lpstr>Example using Spring Security Filters Chain</vt:lpstr>
      <vt:lpstr>Spring Security Authentication</vt:lpstr>
      <vt:lpstr>Spring Security Authentication Flow</vt:lpstr>
      <vt:lpstr>PowerPoint Presentation</vt:lpstr>
      <vt:lpstr>Incoming HTTP Request</vt:lpstr>
      <vt:lpstr>Authentication Token Based on User Credentials</vt:lpstr>
      <vt:lpstr>Authentication Manager</vt:lpstr>
      <vt:lpstr>AuthenticationProviders</vt:lpstr>
      <vt:lpstr>Custom Authentication Provider</vt:lpstr>
      <vt:lpstr>Spring Security UserDetailsService</vt:lpstr>
      <vt:lpstr>Authentication and Authentication Exception</vt:lpstr>
      <vt:lpstr>Setting Authentication SecurityContext</vt:lpstr>
      <vt:lpstr>Example on Spring Security Authentication</vt:lpstr>
      <vt:lpstr>Spring Security Password Encoder</vt:lpstr>
      <vt:lpstr>Example on Spring Security Authentication and Bcrypt Password encoder</vt:lpstr>
      <vt:lpstr>How BCrypt Works</vt:lpstr>
      <vt:lpstr>PowerPoint Presentation</vt:lpstr>
      <vt:lpstr>Other PasswordEncoders</vt:lpstr>
      <vt:lpstr>Example on Spring Security Register and Login</vt:lpstr>
      <vt:lpstr>DaoAuthenticationProvider </vt:lpstr>
      <vt:lpstr>DaoAuthenticationProvider Workflow</vt:lpstr>
      <vt:lpstr>PowerPoint Presentation</vt:lpstr>
      <vt:lpstr>Example on Spring Security Login using Dao Authentication</vt:lpstr>
      <vt:lpstr>Spring Security Login- Error Handling and Localization</vt:lpstr>
      <vt:lpstr>PowerPoint Presentation</vt:lpstr>
      <vt:lpstr>Example on Spring Security Error Handling and Localization</vt:lpstr>
      <vt:lpstr>Spring Security Remember Me Authentication</vt:lpstr>
      <vt:lpstr>PowerPoint Presentation</vt:lpstr>
      <vt:lpstr>PowerPoint Presentation</vt:lpstr>
      <vt:lpstr>Example on Spring Security Login Using Remember me</vt:lpstr>
      <vt:lpstr>Spring Security and Session Management</vt:lpstr>
      <vt:lpstr>PowerPoint Presentation</vt:lpstr>
      <vt:lpstr>When Is Session Created</vt:lpstr>
      <vt:lpstr>PowerPoint Presentation</vt:lpstr>
      <vt:lpstr>Points to be noted</vt:lpstr>
      <vt:lpstr>Example on Spring Security and Session Management</vt:lpstr>
      <vt:lpstr>Example on Registration and Login using Spring Boot, Spring Security, Spring Data JPA, Hibernate, H2, JSP, and Bootstrap </vt:lpstr>
      <vt:lpstr>What is JWT(JSON Web Token)?</vt:lpstr>
      <vt:lpstr>Workflow of how JWT is used?</vt:lpstr>
      <vt:lpstr>PowerPoint Presentation</vt:lpstr>
      <vt:lpstr>Structure of JWT</vt:lpstr>
      <vt:lpstr>PowerPoint Presentation</vt:lpstr>
      <vt:lpstr>Example on Spring Boot, Spring Security, JWT</vt:lpstr>
      <vt:lpstr>Introduction to OAuth</vt:lpstr>
      <vt:lpstr>Five grants for acquiring an access token</vt:lpstr>
      <vt:lpstr>What actually is OAuth?</vt:lpstr>
      <vt:lpstr>Actors in Quora</vt:lpstr>
      <vt:lpstr>How Oauth authorize the resource?</vt:lpstr>
      <vt:lpstr>PowerPoint Presentation</vt:lpstr>
      <vt:lpstr>PowerPoint Presentation</vt:lpstr>
      <vt:lpstr>PowerPoint Presentation</vt:lpstr>
      <vt:lpstr>Fetching and using the Access Token</vt:lpstr>
      <vt:lpstr>Example on Spring Security and Oauth</vt:lpstr>
      <vt:lpstr>Spring Cloud</vt:lpstr>
      <vt:lpstr>What is Spring Cloud?</vt:lpstr>
      <vt:lpstr>Spring Cloud Features</vt:lpstr>
      <vt:lpstr>Components of Spring Cloud</vt:lpstr>
      <vt:lpstr>Advantages of Spring Cloud</vt:lpstr>
      <vt:lpstr>Primary Projects of Spring Cloud</vt:lpstr>
      <vt:lpstr>Example on Spring cloud and microservices 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Swapna R</dc:creator>
  <cp:lastModifiedBy>Swapna R</cp:lastModifiedBy>
  <cp:revision>74</cp:revision>
  <dcterms:created xsi:type="dcterms:W3CDTF">2024-04-18T10:36:12Z</dcterms:created>
  <dcterms:modified xsi:type="dcterms:W3CDTF">2026-04-20T10:33:45Z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0x010100BCFF51E8E0C93A43BB6C89431D01AB86</vt:lpwstr>
  </property>
</Properties>
</file>