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0"/>
  </p:notesMasterIdLst>
  <p:sldIdLst>
    <p:sldId id="305" r:id="rId2"/>
    <p:sldId id="360" r:id="rId3"/>
    <p:sldId id="361" r:id="rId4"/>
    <p:sldId id="362" r:id="rId5"/>
    <p:sldId id="363" r:id="rId6"/>
    <p:sldId id="364" r:id="rId7"/>
    <p:sldId id="365" r:id="rId8"/>
    <p:sldId id="366" r:id="rId9"/>
    <p:sldId id="367" r:id="rId10"/>
    <p:sldId id="370" r:id="rId11"/>
    <p:sldId id="368" r:id="rId12"/>
    <p:sldId id="371" r:id="rId13"/>
    <p:sldId id="372" r:id="rId14"/>
    <p:sldId id="373" r:id="rId15"/>
    <p:sldId id="374" r:id="rId16"/>
    <p:sldId id="375" r:id="rId17"/>
    <p:sldId id="376" r:id="rId18"/>
    <p:sldId id="378" r:id="rId19"/>
    <p:sldId id="377" r:id="rId20"/>
    <p:sldId id="379" r:id="rId21"/>
    <p:sldId id="380" r:id="rId22"/>
    <p:sldId id="381" r:id="rId23"/>
    <p:sldId id="382" r:id="rId24"/>
    <p:sldId id="369" r:id="rId25"/>
    <p:sldId id="383" r:id="rId26"/>
    <p:sldId id="384" r:id="rId27"/>
    <p:sldId id="385" r:id="rId28"/>
    <p:sldId id="386" r:id="rId29"/>
    <p:sldId id="387" r:id="rId30"/>
    <p:sldId id="388" r:id="rId31"/>
    <p:sldId id="389" r:id="rId32"/>
    <p:sldId id="390" r:id="rId33"/>
    <p:sldId id="391" r:id="rId34"/>
    <p:sldId id="392" r:id="rId35"/>
    <p:sldId id="393" r:id="rId36"/>
    <p:sldId id="394" r:id="rId37"/>
    <p:sldId id="395" r:id="rId38"/>
    <p:sldId id="396" r:id="rId39"/>
    <p:sldId id="397" r:id="rId40"/>
    <p:sldId id="398" r:id="rId41"/>
    <p:sldId id="400" r:id="rId42"/>
    <p:sldId id="399" r:id="rId43"/>
    <p:sldId id="401" r:id="rId44"/>
    <p:sldId id="402" r:id="rId45"/>
    <p:sldId id="403" r:id="rId46"/>
    <p:sldId id="404" r:id="rId47"/>
    <p:sldId id="405" r:id="rId48"/>
    <p:sldId id="406" r:id="rId49"/>
    <p:sldId id="407" r:id="rId50"/>
    <p:sldId id="408" r:id="rId51"/>
    <p:sldId id="409" r:id="rId52"/>
    <p:sldId id="410" r:id="rId53"/>
    <p:sldId id="411" r:id="rId54"/>
    <p:sldId id="412" r:id="rId55"/>
    <p:sldId id="413" r:id="rId56"/>
    <p:sldId id="414" r:id="rId57"/>
    <p:sldId id="415" r:id="rId58"/>
    <p:sldId id="416" r:id="rId5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EE01B9-D9CE-4694-AB32-476C5AC50031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1D3D56-A24A-482A-81B1-23883AB5A7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0714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AC9BB-B17F-4D1D-AC09-2AD04BE83E80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50502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AC9BB-B17F-4D1D-AC09-2AD04BE83E80}" type="slidenum">
              <a:rPr lang="en-GB" smtClean="0"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34025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AC9BB-B17F-4D1D-AC09-2AD04BE83E80}" type="slidenum">
              <a:rPr lang="en-GB" smtClean="0"/>
              <a:t>24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78368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AC9BB-B17F-4D1D-AC09-2AD04BE83E80}" type="slidenum">
              <a:rPr lang="en-GB" smtClean="0"/>
              <a:t>41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0643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DA6CA-B02E-065B-60B7-F1962848C7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068EA5-35ED-6694-78BC-2F47D1271A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24BA7-1F86-B5C8-3C62-89EB9E390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CDAC5-4F2F-45AB-992D-391868426C59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A3B1C-3B1C-C39C-B01A-9A2B88E48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28B1A8-D642-DD4C-FAFF-BC49FE274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535B2-FA3C-456E-9192-6B103D7072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844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D145B-061A-C8C3-F131-5053413E4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441ED-B7B7-C876-9B6C-463C5F67B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77DA7C-1E47-F76C-ED7D-00DB6C441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CDAC5-4F2F-45AB-992D-391868426C59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214D8-D11A-5452-4132-FB9C8B02C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9CC1D-CD9F-8A4C-E6AB-02B13B2E6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535B2-FA3C-456E-9192-6B103D7072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5497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D588C-27DE-90AC-1133-3EF82002F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1CD1E2-ADB4-041E-1A11-DA14E3131E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6ACEB-2692-2A28-E563-7D24A8521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CDAC5-4F2F-45AB-992D-391868426C59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C1E71-3B12-4AD8-4AAB-D94DC6EC6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42DCB-5600-6D46-5F47-83D1907B5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535B2-FA3C-456E-9192-6B103D7072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9050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71159-8901-0FA8-2AAB-F9840FB78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FA196-C466-95D6-0470-014BCFD54A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5F7A4D-EF68-414F-5065-D9822900E1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434B80-462B-A6F6-75C0-F1F040D1F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CDAC5-4F2F-45AB-992D-391868426C59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80B7BC-D5EF-B6F5-8A36-3AF90962B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D81374-B8A1-B28C-7A1A-D963CD13F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535B2-FA3C-456E-9192-6B103D7072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3344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7841D-90E5-5FA5-9257-06CB3F2B9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E4D6C-6139-4FFE-1931-3AB0E375D6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492219-5DB8-DA40-9AE6-FA88394D2E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CB1D79-E393-62B1-7771-ED231CDAA4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A468F2-8107-533A-68C7-44F4AD4F31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1DDDB0-F3C0-B267-BFBA-BA4115ABE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CDAC5-4F2F-45AB-992D-391868426C59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ADE74C-C296-34BB-76FB-BD56AF6D6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99A727-DCE0-1531-3E98-FE0652316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535B2-FA3C-456E-9192-6B103D7072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2031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6F87C-D2A9-E451-C10D-FB886EE18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AF2707-AC5A-9CF9-B6B6-62A876303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CDAC5-4F2F-45AB-992D-391868426C59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DC6F52-CC8E-A520-2ED5-9688A9D76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F5C889-19EB-2452-63E7-36448FADE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535B2-FA3C-456E-9192-6B103D7072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9505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859D17-5902-0315-285C-DE94C5998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CDAC5-4F2F-45AB-992D-391868426C59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8A00FD-D398-E88B-80C5-EC7A3766B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DC661-8F16-8AE5-EC39-F39F1FE57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535B2-FA3C-456E-9192-6B103D7072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2932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6D885-F770-5129-19AE-9079FB030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811C9-FF52-D232-E453-FF7967165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CA62A-70A0-D8C6-B155-A492AB9136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A28D3A-B661-2CFF-0B64-2C2ED3C82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CDAC5-4F2F-45AB-992D-391868426C59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B4FEF8-7130-B8C8-7547-EBC88E3BC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721C3F-65C2-2F20-26BD-8953A114F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535B2-FA3C-456E-9192-6B103D7072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6186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D43B4-4C68-0673-BD88-691D4FA0C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EEBC81-4444-6B82-4373-CBF6FA4E9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5A9BC5-C99B-AB63-9866-615ADBE21D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8CD5E-1836-FE02-6753-FC32E6E3D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CDAC5-4F2F-45AB-992D-391868426C59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330BA2-92B9-EB3A-6998-B57EC12D3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1C5DCF-9EB5-9CE3-8A5A-8C04229AE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535B2-FA3C-456E-9192-6B103D7072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6103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102CC-1AE1-FFC4-F5FD-E46FBE66A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C9AC98-14BF-AD9A-FA1B-FE1D0644AB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D9980-CDA5-5A70-41BE-35C4135C1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CDAC5-4F2F-45AB-992D-391868426C59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879D1-56AE-9C0C-8BFA-D454A357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2A4DEB-100B-0E8B-BC98-CB902753A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535B2-FA3C-456E-9192-6B103D7072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2790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3E811E-46CC-BA0E-7A14-E61F825228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F335A4-B98B-90D1-FA20-6DB070885F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11DF4B-57DF-7786-2972-D306304C1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CDAC5-4F2F-45AB-992D-391868426C59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D62A7-31F1-022C-5D81-834B9CE64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573B47-F941-4BF8-06B5-195137D2F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535B2-FA3C-456E-9192-6B103D7072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7912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74FA9E1A-F8C5-54E2-5522-92A953B61E6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1752" y="301752"/>
            <a:ext cx="11585448" cy="43088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2800" spc="-100" baseline="0">
                <a:solidFill>
                  <a:schemeClr val="tx2"/>
                </a:solidFill>
                <a:latin typeface="Silka" panose="00000500000000000000" pitchFamily="50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Slide title in Silka Regular</a:t>
            </a:r>
            <a:endParaRPr lang="en-GB" dirty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9BF18BCC-754B-90E3-EF2C-A0D3FBC2B27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3504" y="1188249"/>
            <a:ext cx="5734465" cy="16825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200" spc="-20" baseline="0">
                <a:solidFill>
                  <a:schemeClr val="tx1"/>
                </a:solidFill>
                <a:latin typeface="Silka" panose="00000500000000000000" pitchFamily="50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C1FFC23C-ADB9-E277-4CEB-FA10B2A41CA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3504" y="3094028"/>
            <a:ext cx="5734465" cy="1682511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25000"/>
              <a:buFont typeface="Wingdings" panose="05000000000000000000" pitchFamily="2" charset="2"/>
              <a:buChar char="§"/>
              <a:defRPr sz="1200" spc="-20" baseline="0">
                <a:solidFill>
                  <a:schemeClr val="tx1"/>
                </a:solidFill>
                <a:latin typeface="Silka" panose="00000500000000000000" pitchFamily="50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67B9BDA-A4D2-10F6-BAEC-961FD2CD8CB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52" y="6245942"/>
            <a:ext cx="1143000" cy="310306"/>
          </a:xfrm>
          <a:prstGeom prst="rect">
            <a:avLst/>
          </a:prstGeom>
        </p:spPr>
      </p:pic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2CE9CBAD-7A67-BD68-9F47-288004FEE628}"/>
              </a:ext>
            </a:extLst>
          </p:cNvPr>
          <p:cNvSpPr txBox="1">
            <a:spLocks/>
          </p:cNvSpPr>
          <p:nvPr/>
        </p:nvSpPr>
        <p:spPr>
          <a:xfrm>
            <a:off x="9144000" y="6402360"/>
            <a:ext cx="2743200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000" spc="-50" baseline="0" dirty="0">
                <a:solidFill>
                  <a:schemeClr val="tx1"/>
                </a:solidFill>
              </a:rPr>
              <a:t>Page </a:t>
            </a:r>
            <a:fld id="{D253F943-DE42-462D-A682-37B11F57643F}" type="slidenum">
              <a:rPr lang="en-GB" sz="1000" spc="-50" baseline="0" smtClean="0">
                <a:solidFill>
                  <a:schemeClr val="tx1"/>
                </a:solidFill>
              </a:rPr>
              <a:pPr/>
              <a:t>‹#›</a:t>
            </a:fld>
            <a:endParaRPr lang="en-GB" sz="1000" spc="-50" baseline="0" dirty="0">
              <a:solidFill>
                <a:schemeClr val="tx1"/>
              </a:solidFill>
            </a:endParaRPr>
          </a:p>
        </p:txBody>
      </p:sp>
      <p:pic>
        <p:nvPicPr>
          <p:cNvPr id="3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C503215-DDA4-E039-1C12-1957685BFA5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52" y="6245942"/>
            <a:ext cx="1143000" cy="310306"/>
          </a:xfrm>
          <a:prstGeom prst="rect">
            <a:avLst/>
          </a:prstGeom>
        </p:spPr>
      </p:pic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3C55DC65-A594-989A-D244-3DEED3E040FF}"/>
              </a:ext>
            </a:extLst>
          </p:cNvPr>
          <p:cNvSpPr txBox="1">
            <a:spLocks/>
          </p:cNvSpPr>
          <p:nvPr userDrawn="1"/>
        </p:nvSpPr>
        <p:spPr>
          <a:xfrm>
            <a:off x="9144000" y="6402360"/>
            <a:ext cx="2743200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000" spc="-50" baseline="0" dirty="0">
                <a:solidFill>
                  <a:schemeClr val="tx1"/>
                </a:solidFill>
              </a:rPr>
              <a:t>Page </a:t>
            </a:r>
            <a:fld id="{D253F943-DE42-462D-A682-37B11F57643F}" type="slidenum">
              <a:rPr lang="en-GB" sz="1000" spc="-50" baseline="0" smtClean="0">
                <a:solidFill>
                  <a:schemeClr val="tx1"/>
                </a:solidFill>
              </a:rPr>
              <a:pPr/>
              <a:t>‹#›</a:t>
            </a:fld>
            <a:endParaRPr lang="en-GB" sz="1000" spc="-50" baseline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36733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ront Cover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EA71992C-9858-895E-3BFD-A0049C1777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510B606C-86A1-B415-9229-201822E6B4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3504" y="3429000"/>
            <a:ext cx="6035040" cy="123110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4000" spc="-180" baseline="0">
                <a:latin typeface="Silka" panose="00000500000000000000" pitchFamily="50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Presentation title set in Silka Regular</a:t>
            </a:r>
            <a:endParaRPr lang="en-GB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2294E85-04B5-9E2A-ED6F-17BCE6C96E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4000" y="6336792"/>
            <a:ext cx="2743200" cy="138499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 algn="r">
              <a:buNone/>
              <a:defRPr sz="1000" spc="-50" baseline="0"/>
            </a:lvl1pPr>
          </a:lstStyle>
          <a:p>
            <a:pPr lvl="0"/>
            <a:r>
              <a:rPr lang="en-US" dirty="0"/>
              <a:t>Insert date here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D4B926-9B02-E3CF-B583-6BC6ED529063}"/>
              </a:ext>
            </a:extLst>
          </p:cNvPr>
          <p:cNvSpPr txBox="1"/>
          <p:nvPr/>
        </p:nvSpPr>
        <p:spPr>
          <a:xfrm>
            <a:off x="603504" y="6099048"/>
            <a:ext cx="556459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kern="100" spc="0" dirty="0">
                <a:solidFill>
                  <a:srgbClr val="FF0000"/>
                </a:solidFill>
                <a:latin typeface="Silka SemiBold" panose="00000700000000000000" pitchFamily="50" charset="0"/>
              </a:rPr>
              <a:t>Simpler trade. Smarter tech.  </a:t>
            </a:r>
            <a:r>
              <a:rPr lang="en-US" sz="1000" kern="100" spc="0" dirty="0">
                <a:latin typeface="Silka SemiBold" panose="00000700000000000000" pitchFamily="50" charset="0"/>
              </a:rPr>
              <a:t>crimsonlogic.com</a:t>
            </a:r>
            <a:endParaRPr lang="en-GB" sz="1000" kern="100" spc="0" dirty="0">
              <a:latin typeface="Silka SemiBold" panose="00000700000000000000" pitchFamily="50" charset="0"/>
            </a:endParaRPr>
          </a:p>
        </p:txBody>
      </p:sp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42D08FE-6F92-9963-73C3-520E3DE978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504" y="603504"/>
            <a:ext cx="2825496" cy="767078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28D55172-583B-D43F-1679-B73CDAAA79A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699F302-6265-07D0-B65E-92A020B26DC2}"/>
              </a:ext>
            </a:extLst>
          </p:cNvPr>
          <p:cNvSpPr txBox="1"/>
          <p:nvPr userDrawn="1"/>
        </p:nvSpPr>
        <p:spPr>
          <a:xfrm>
            <a:off x="603504" y="6099048"/>
            <a:ext cx="556459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kern="100" spc="0" dirty="0">
                <a:solidFill>
                  <a:srgbClr val="FF0000"/>
                </a:solidFill>
                <a:latin typeface="Silka SemiBold" panose="00000700000000000000" pitchFamily="50" charset="0"/>
              </a:rPr>
              <a:t>Simpler trade. Smarter tech.  </a:t>
            </a:r>
            <a:r>
              <a:rPr lang="en-US" sz="1000" kern="100" spc="0" dirty="0">
                <a:latin typeface="Silka SemiBold" panose="00000700000000000000" pitchFamily="50" charset="0"/>
              </a:rPr>
              <a:t>crimsonlogic.com</a:t>
            </a:r>
            <a:endParaRPr lang="en-GB" sz="1000" kern="100" spc="0" dirty="0">
              <a:latin typeface="Silka SemiBold" panose="00000700000000000000" pitchFamily="50" charset="0"/>
            </a:endParaRPr>
          </a:p>
        </p:txBody>
      </p:sp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A09118F-9F9F-5F14-E3AA-611852FE4CB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504" y="603504"/>
            <a:ext cx="2825496" cy="767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8496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54F7F9-FA7A-9297-2F76-99A14CF38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B03683-2D74-E02C-5B8A-8448E61113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AAFB1-CB72-231D-783E-018CDE00F5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ACDAC5-4F2F-45AB-992D-391868426C59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BD7F4-229A-2BE4-B633-2A1DAE776E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2369A-FA40-2F33-4B4D-CCF16B1547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0535B2-FA3C-456E-9192-6B103D7072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13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hyperlink" Target="https://infrastructure.aws/" TargetMode="Externa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hyperlink" Target="http://www.datacumulus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jpeg"/><Relationship Id="rId4" Type="http://schemas.openxmlformats.org/officeDocument/2006/relationships/image" Target="../media/image57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51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7AD8B9-FDC5-E1D9-EF30-001790C4DF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3503" y="3291840"/>
            <a:ext cx="7402161" cy="615553"/>
          </a:xfrm>
        </p:spPr>
        <p:txBody>
          <a:bodyPr/>
          <a:lstStyle/>
          <a:p>
            <a:r>
              <a:rPr lang="en-US" sz="4000" dirty="0"/>
              <a:t>AWS</a:t>
            </a:r>
          </a:p>
        </p:txBody>
      </p:sp>
    </p:spTree>
    <p:extLst>
      <p:ext uri="{BB962C8B-B14F-4D97-AF65-F5344CB8AC3E}">
        <p14:creationId xmlns:p14="http://schemas.microsoft.com/office/powerpoint/2010/main" val="36419489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95B2036-120C-0D74-3A95-139380647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5DABFA-4427-81F6-34D9-860F070038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Getting Star ted with AWS</a:t>
            </a:r>
          </a:p>
          <a:p>
            <a:r>
              <a:rPr lang="en-US" dirty="0"/>
              <a:t>AWS Identity &amp; Access Management (AWS IAM)</a:t>
            </a:r>
          </a:p>
          <a:p>
            <a:r>
              <a:rPr lang="en-US" dirty="0"/>
              <a:t>Amazon EC2 – Basics</a:t>
            </a:r>
          </a:p>
          <a:p>
            <a:r>
              <a:rPr lang="en-US" dirty="0"/>
              <a:t>High Availability &amp; Scalability</a:t>
            </a:r>
          </a:p>
          <a:p>
            <a:r>
              <a:rPr lang="en-US" dirty="0"/>
              <a:t>RDS, Aurora &amp; </a:t>
            </a:r>
            <a:r>
              <a:rPr lang="en-US" dirty="0" err="1"/>
              <a:t>ElastiCache</a:t>
            </a:r>
            <a:endParaRPr lang="en-US" dirty="0"/>
          </a:p>
          <a:p>
            <a:r>
              <a:rPr lang="en-US" dirty="0"/>
              <a:t>Amazon Route 53</a:t>
            </a:r>
          </a:p>
          <a:p>
            <a:r>
              <a:rPr lang="en-US" dirty="0"/>
              <a:t>Classic Solutions Architecture</a:t>
            </a:r>
          </a:p>
          <a:p>
            <a:r>
              <a:rPr lang="en-US" dirty="0"/>
              <a:t>Amazon S3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967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D1577-B562-D8A7-A764-905CC9A38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AWS?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80D1D-595B-7F14-0DF5-E94751097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AWS (Amazon Web Services) is a Cloud Provider</a:t>
            </a:r>
          </a:p>
          <a:p>
            <a:r>
              <a:rPr lang="en-US" dirty="0"/>
              <a:t>They provide you with servers and services that you can use on demand and scale easily</a:t>
            </a:r>
          </a:p>
          <a:p>
            <a:r>
              <a:rPr lang="en-US" dirty="0"/>
              <a:t>AWS has revolutionized IT over time</a:t>
            </a:r>
          </a:p>
          <a:p>
            <a:r>
              <a:rPr lang="en-US" dirty="0"/>
              <a:t>AWS powers some of the biggest websites in the world</a:t>
            </a:r>
          </a:p>
          <a:p>
            <a:pPr lvl="1"/>
            <a:r>
              <a:rPr lang="en-US" dirty="0"/>
              <a:t>Amazon.com</a:t>
            </a:r>
          </a:p>
          <a:p>
            <a:pPr lvl="1"/>
            <a:r>
              <a:rPr lang="en-US" dirty="0"/>
              <a:t>Netflix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523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2B382-C948-C32F-4A79-27E5AE32C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AWS Cloud History</a:t>
            </a: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AB1F3B3C-3167-4EE1-BAF6-5CF91DC0485B}"/>
              </a:ext>
            </a:extLst>
          </p:cNvPr>
          <p:cNvSpPr>
            <a:spLocks/>
          </p:cNvSpPr>
          <p:nvPr/>
        </p:nvSpPr>
        <p:spPr bwMode="auto">
          <a:xfrm>
            <a:off x="838200" y="2747963"/>
            <a:ext cx="10515600" cy="1362075"/>
          </a:xfrm>
          <a:custGeom>
            <a:avLst/>
            <a:gdLst>
              <a:gd name="T0" fmla="*/ 9834036 w 10515600"/>
              <a:gd name="T1" fmla="*/ 0 h 1363345"/>
              <a:gd name="T2" fmla="*/ 9834036 w 10515600"/>
              <a:gd name="T3" fmla="*/ 340796 h 1363345"/>
              <a:gd name="T4" fmla="*/ 0 w 10515600"/>
              <a:gd name="T5" fmla="*/ 340796 h 1363345"/>
              <a:gd name="T6" fmla="*/ 0 w 10515600"/>
              <a:gd name="T7" fmla="*/ 1022329 h 1363345"/>
              <a:gd name="T8" fmla="*/ 9834036 w 10515600"/>
              <a:gd name="T9" fmla="*/ 1022329 h 1363345"/>
              <a:gd name="T10" fmla="*/ 9834036 w 10515600"/>
              <a:gd name="T11" fmla="*/ 1363123 h 1363345"/>
              <a:gd name="T12" fmla="*/ 10515599 w 10515600"/>
              <a:gd name="T13" fmla="*/ 681563 h 1363345"/>
              <a:gd name="T14" fmla="*/ 9834036 w 10515600"/>
              <a:gd name="T15" fmla="*/ 0 h 13633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0515600" h="1363345">
                <a:moveTo>
                  <a:pt x="9834036" y="0"/>
                </a:moveTo>
                <a:lnTo>
                  <a:pt x="9834036" y="340796"/>
                </a:lnTo>
                <a:lnTo>
                  <a:pt x="0" y="340796"/>
                </a:lnTo>
                <a:lnTo>
                  <a:pt x="0" y="1022329"/>
                </a:lnTo>
                <a:lnTo>
                  <a:pt x="9834036" y="1022329"/>
                </a:lnTo>
                <a:lnTo>
                  <a:pt x="9834036" y="1363123"/>
                </a:lnTo>
                <a:lnTo>
                  <a:pt x="10515599" y="681563"/>
                </a:lnTo>
                <a:lnTo>
                  <a:pt x="9834036" y="0"/>
                </a:lnTo>
                <a:close/>
              </a:path>
            </a:pathLst>
          </a:custGeom>
          <a:solidFill>
            <a:srgbClr val="5091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E713B76F-D6A8-98C4-03E6-5B856F9A8D15}"/>
              </a:ext>
            </a:extLst>
          </p:cNvPr>
          <p:cNvSpPr>
            <a:spLocks/>
          </p:cNvSpPr>
          <p:nvPr/>
        </p:nvSpPr>
        <p:spPr bwMode="auto">
          <a:xfrm>
            <a:off x="1828800" y="2608263"/>
            <a:ext cx="0" cy="465137"/>
          </a:xfrm>
          <a:custGeom>
            <a:avLst/>
            <a:gdLst>
              <a:gd name="T0" fmla="*/ 465673 h 466089"/>
              <a:gd name="T1" fmla="*/ 0 h 466089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466089">
                <a:moveTo>
                  <a:pt x="0" y="465673"/>
                </a:moveTo>
                <a:lnTo>
                  <a:pt x="0" y="0"/>
                </a:lnTo>
              </a:path>
            </a:pathLst>
          </a:custGeom>
          <a:noFill/>
          <a:ln w="6349">
            <a:solidFill>
              <a:srgbClr val="5091D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055966B6-488D-FBFC-A46D-A1C24FCA526E}"/>
              </a:ext>
            </a:extLst>
          </p:cNvPr>
          <p:cNvSpPr>
            <a:spLocks/>
          </p:cNvSpPr>
          <p:nvPr/>
        </p:nvSpPr>
        <p:spPr bwMode="auto">
          <a:xfrm>
            <a:off x="2913063" y="3767138"/>
            <a:ext cx="0" cy="466725"/>
          </a:xfrm>
          <a:custGeom>
            <a:avLst/>
            <a:gdLst>
              <a:gd name="T0" fmla="*/ 465676 h 466089"/>
              <a:gd name="T1" fmla="*/ 0 h 466089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466089">
                <a:moveTo>
                  <a:pt x="0" y="465676"/>
                </a:moveTo>
                <a:lnTo>
                  <a:pt x="0" y="0"/>
                </a:lnTo>
              </a:path>
            </a:pathLst>
          </a:custGeom>
          <a:noFill/>
          <a:ln w="6349">
            <a:solidFill>
              <a:srgbClr val="5091D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BFC9B92F-C5B4-0502-B360-2166B83EC817}"/>
              </a:ext>
            </a:extLst>
          </p:cNvPr>
          <p:cNvSpPr txBox="1"/>
          <p:nvPr/>
        </p:nvSpPr>
        <p:spPr>
          <a:xfrm>
            <a:off x="1681163" y="4319588"/>
            <a:ext cx="2462212" cy="108108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ts val="2138"/>
              </a:lnSpc>
            </a:pPr>
            <a:r>
              <a:rPr lang="en-US" altLang="en-US" dirty="0">
                <a:solidFill>
                  <a:srgbClr val="444949"/>
                </a:solidFill>
                <a:cs typeface="Calibri" panose="020F0502020204030204" pitchFamily="34" charset="0"/>
              </a:rPr>
              <a:t>2003:</a:t>
            </a:r>
            <a:endParaRPr lang="en-US" altLang="en-US" dirty="0">
              <a:cs typeface="Calibri" panose="020F0502020204030204" pitchFamily="34" charset="0"/>
            </a:endParaRPr>
          </a:p>
          <a:p>
            <a:pPr algn="ctr">
              <a:lnSpc>
                <a:spcPts val="2175"/>
              </a:lnSpc>
              <a:spcBef>
                <a:spcPts val="25"/>
              </a:spcBef>
            </a:pPr>
            <a:r>
              <a:rPr lang="en-US" altLang="en-US" dirty="0">
                <a:solidFill>
                  <a:srgbClr val="444949"/>
                </a:solidFill>
                <a:cs typeface="Calibri" panose="020F0502020204030204" pitchFamily="34" charset="0"/>
              </a:rPr>
              <a:t>Amazon</a:t>
            </a:r>
            <a:r>
              <a:rPr lang="en-US" altLang="en-US" dirty="0">
                <a:solidFill>
                  <a:srgbClr val="4449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rgbClr val="444949"/>
                </a:solidFill>
                <a:cs typeface="Calibri" panose="020F0502020204030204" pitchFamily="34" charset="0"/>
              </a:rPr>
              <a:t>infrastructure</a:t>
            </a:r>
            <a:r>
              <a:rPr lang="en-US" altLang="en-US" dirty="0">
                <a:solidFill>
                  <a:srgbClr val="4449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rgbClr val="444949"/>
                </a:solidFill>
                <a:cs typeface="Calibri" panose="020F0502020204030204" pitchFamily="34" charset="0"/>
              </a:rPr>
              <a:t>is</a:t>
            </a:r>
            <a:r>
              <a:rPr lang="en-US" altLang="en-US" dirty="0">
                <a:solidFill>
                  <a:srgbClr val="4449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rgbClr val="444949"/>
                </a:solidFill>
                <a:cs typeface="Calibri" panose="020F0502020204030204" pitchFamily="34" charset="0"/>
              </a:rPr>
              <a:t>one</a:t>
            </a:r>
            <a:r>
              <a:rPr lang="en-US" altLang="en-US" dirty="0">
                <a:solidFill>
                  <a:srgbClr val="4449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rgbClr val="444949"/>
                </a:solidFill>
                <a:cs typeface="Calibri" panose="020F0502020204030204" pitchFamily="34" charset="0"/>
              </a:rPr>
              <a:t>of</a:t>
            </a:r>
            <a:r>
              <a:rPr lang="en-US" altLang="en-US" dirty="0">
                <a:solidFill>
                  <a:srgbClr val="4449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rgbClr val="444949"/>
                </a:solidFill>
                <a:cs typeface="Calibri" panose="020F0502020204030204" pitchFamily="34" charset="0"/>
              </a:rPr>
              <a:t>their</a:t>
            </a:r>
            <a:r>
              <a:rPr lang="en-US" altLang="en-US" dirty="0">
                <a:solidFill>
                  <a:srgbClr val="4449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rgbClr val="444949"/>
                </a:solidFill>
                <a:cs typeface="Calibri" panose="020F0502020204030204" pitchFamily="34" charset="0"/>
              </a:rPr>
              <a:t>core</a:t>
            </a:r>
            <a:r>
              <a:rPr lang="en-US" altLang="en-US" dirty="0">
                <a:solidFill>
                  <a:srgbClr val="4449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rgbClr val="444949"/>
                </a:solidFill>
                <a:cs typeface="Calibri" panose="020F0502020204030204" pitchFamily="34" charset="0"/>
              </a:rPr>
              <a:t>strength.</a:t>
            </a:r>
            <a:endParaRPr lang="en-US" altLang="en-US" dirty="0">
              <a:cs typeface="Calibri" panose="020F0502020204030204" pitchFamily="34" charset="0"/>
            </a:endParaRPr>
          </a:p>
          <a:p>
            <a:pPr algn="ctr">
              <a:lnSpc>
                <a:spcPts val="2125"/>
              </a:lnSpc>
            </a:pPr>
            <a:r>
              <a:rPr lang="en-US" altLang="en-US" dirty="0">
                <a:solidFill>
                  <a:srgbClr val="444949"/>
                </a:solidFill>
                <a:cs typeface="Calibri" panose="020F0502020204030204" pitchFamily="34" charset="0"/>
              </a:rPr>
              <a:t>Idea</a:t>
            </a:r>
            <a:r>
              <a:rPr lang="en-US" altLang="en-US" dirty="0">
                <a:solidFill>
                  <a:srgbClr val="4449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rgbClr val="444949"/>
                </a:solidFill>
                <a:cs typeface="Calibri" panose="020F0502020204030204" pitchFamily="34" charset="0"/>
              </a:rPr>
              <a:t>to</a:t>
            </a:r>
            <a:r>
              <a:rPr lang="en-US" altLang="en-US" dirty="0">
                <a:solidFill>
                  <a:srgbClr val="4449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rgbClr val="444949"/>
                </a:solidFill>
                <a:cs typeface="Calibri" panose="020F0502020204030204" pitchFamily="34" charset="0"/>
              </a:rPr>
              <a:t>market</a:t>
            </a:r>
            <a:endParaRPr lang="en-US" altLang="en-US" dirty="0">
              <a:cs typeface="Calibri" panose="020F0502020204030204" pitchFamily="34" charset="0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05B7BD9D-A582-78FE-137D-E2CC29920175}"/>
              </a:ext>
            </a:extLst>
          </p:cNvPr>
          <p:cNvSpPr>
            <a:spLocks/>
          </p:cNvSpPr>
          <p:nvPr/>
        </p:nvSpPr>
        <p:spPr bwMode="auto">
          <a:xfrm>
            <a:off x="3984625" y="2608263"/>
            <a:ext cx="0" cy="465137"/>
          </a:xfrm>
          <a:custGeom>
            <a:avLst/>
            <a:gdLst>
              <a:gd name="T0" fmla="*/ 465673 h 466089"/>
              <a:gd name="T1" fmla="*/ 0 h 466089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466089">
                <a:moveTo>
                  <a:pt x="0" y="465673"/>
                </a:moveTo>
                <a:lnTo>
                  <a:pt x="0" y="0"/>
                </a:lnTo>
              </a:path>
            </a:pathLst>
          </a:custGeom>
          <a:noFill/>
          <a:ln w="6349">
            <a:solidFill>
              <a:srgbClr val="5091D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258D8FE-8518-B297-1A59-559AF39C0646}"/>
              </a:ext>
            </a:extLst>
          </p:cNvPr>
          <p:cNvGrpSpPr/>
          <p:nvPr/>
        </p:nvGrpSpPr>
        <p:grpSpPr>
          <a:xfrm>
            <a:off x="838200" y="1720850"/>
            <a:ext cx="10515600" cy="2389188"/>
            <a:chOff x="838200" y="1720850"/>
            <a:chExt cx="10515600" cy="2389188"/>
          </a:xfrm>
        </p:grpSpPr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0574DD31-E5BB-294E-E59C-D2EC7A34452B}"/>
                </a:ext>
              </a:extLst>
            </p:cNvPr>
            <p:cNvSpPr>
              <a:spLocks/>
            </p:cNvSpPr>
            <p:nvPr/>
          </p:nvSpPr>
          <p:spPr bwMode="auto">
            <a:xfrm>
              <a:off x="838200" y="2747963"/>
              <a:ext cx="10515600" cy="1362075"/>
            </a:xfrm>
            <a:custGeom>
              <a:avLst/>
              <a:gdLst>
                <a:gd name="T0" fmla="*/ 0 w 10515600"/>
                <a:gd name="T1" fmla="*/ 340796 h 1363345"/>
                <a:gd name="T2" fmla="*/ 9834036 w 10515600"/>
                <a:gd name="T3" fmla="*/ 340796 h 1363345"/>
                <a:gd name="T4" fmla="*/ 9834036 w 10515600"/>
                <a:gd name="T5" fmla="*/ 0 h 1363345"/>
                <a:gd name="T6" fmla="*/ 10515599 w 10515600"/>
                <a:gd name="T7" fmla="*/ 681563 h 1363345"/>
                <a:gd name="T8" fmla="*/ 9834036 w 10515600"/>
                <a:gd name="T9" fmla="*/ 1363123 h 1363345"/>
                <a:gd name="T10" fmla="*/ 9834036 w 10515600"/>
                <a:gd name="T11" fmla="*/ 1022329 h 1363345"/>
                <a:gd name="T12" fmla="*/ 0 w 10515600"/>
                <a:gd name="T13" fmla="*/ 1022329 h 1363345"/>
                <a:gd name="T14" fmla="*/ 0 w 10515600"/>
                <a:gd name="T15" fmla="*/ 340796 h 1363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515600" h="1363345">
                  <a:moveTo>
                    <a:pt x="0" y="340796"/>
                  </a:moveTo>
                  <a:lnTo>
                    <a:pt x="9834036" y="340796"/>
                  </a:lnTo>
                  <a:lnTo>
                    <a:pt x="9834036" y="0"/>
                  </a:lnTo>
                  <a:lnTo>
                    <a:pt x="10515599" y="681563"/>
                  </a:lnTo>
                  <a:lnTo>
                    <a:pt x="9834036" y="1363123"/>
                  </a:lnTo>
                  <a:lnTo>
                    <a:pt x="9834036" y="1022329"/>
                  </a:lnTo>
                  <a:lnTo>
                    <a:pt x="0" y="1022329"/>
                  </a:lnTo>
                  <a:lnTo>
                    <a:pt x="0" y="340796"/>
                  </a:lnTo>
                  <a:close/>
                </a:path>
              </a:pathLst>
            </a:custGeom>
            <a:noFill/>
            <a:ln w="12700">
              <a:solidFill>
                <a:srgbClr val="38699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0" name="object 9">
              <a:extLst>
                <a:ext uri="{FF2B5EF4-FFF2-40B4-BE49-F238E27FC236}">
                  <a16:creationId xmlns:a16="http://schemas.microsoft.com/office/drawing/2014/main" id="{2E319875-73F9-B201-9B7A-298D2DF8F89D}"/>
                </a:ext>
              </a:extLst>
            </p:cNvPr>
            <p:cNvSpPr txBox="1"/>
            <p:nvPr/>
          </p:nvSpPr>
          <p:spPr>
            <a:xfrm>
              <a:off x="1374775" y="1754188"/>
              <a:ext cx="908050" cy="801687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ts val="2138"/>
                </a:lnSpc>
              </a:pPr>
              <a:r>
                <a:rPr lang="en-US" altLang="en-US" dirty="0">
                  <a:solidFill>
                    <a:srgbClr val="444949"/>
                  </a:solidFill>
                  <a:cs typeface="Calibri" panose="020F0502020204030204" pitchFamily="34" charset="0"/>
                </a:rPr>
                <a:t>2002:</a:t>
              </a:r>
              <a:endParaRPr lang="en-US" altLang="en-US" dirty="0">
                <a:cs typeface="Calibri" panose="020F0502020204030204" pitchFamily="34" charset="0"/>
              </a:endParaRPr>
            </a:p>
            <a:p>
              <a:pPr algn="ctr">
                <a:lnSpc>
                  <a:spcPts val="2213"/>
                </a:lnSpc>
              </a:pPr>
              <a:r>
                <a:rPr lang="en-US" altLang="en-US" dirty="0">
                  <a:solidFill>
                    <a:srgbClr val="444949"/>
                  </a:solidFill>
                  <a:cs typeface="Calibri" panose="020F0502020204030204" pitchFamily="34" charset="0"/>
                </a:rPr>
                <a:t>Internally</a:t>
              </a:r>
              <a:r>
                <a:rPr lang="en-US" altLang="en-US" dirty="0">
                  <a:solidFill>
                    <a:srgbClr val="44494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dirty="0">
                  <a:solidFill>
                    <a:srgbClr val="444949"/>
                  </a:solidFill>
                  <a:cs typeface="Calibri" panose="020F0502020204030204" pitchFamily="34" charset="0"/>
                </a:rPr>
                <a:t>launched</a:t>
              </a:r>
              <a:endParaRPr lang="en-US" altLang="en-US" dirty="0">
                <a:cs typeface="Calibri" panose="020F0502020204030204" pitchFamily="34" charset="0"/>
              </a:endParaRPr>
            </a:p>
          </p:txBody>
        </p:sp>
        <p:sp>
          <p:nvSpPr>
            <p:cNvPr id="13" name="object 12">
              <a:extLst>
                <a:ext uri="{FF2B5EF4-FFF2-40B4-BE49-F238E27FC236}">
                  <a16:creationId xmlns:a16="http://schemas.microsoft.com/office/drawing/2014/main" id="{2452CBE7-8113-6034-611A-096D6373813D}"/>
                </a:ext>
              </a:extLst>
            </p:cNvPr>
            <p:cNvSpPr txBox="1"/>
            <p:nvPr/>
          </p:nvSpPr>
          <p:spPr>
            <a:xfrm>
              <a:off x="3135313" y="1720850"/>
              <a:ext cx="1698625" cy="800100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ts val="2138"/>
                </a:lnSpc>
              </a:pPr>
              <a:r>
                <a:rPr lang="en-US" altLang="en-US" dirty="0">
                  <a:solidFill>
                    <a:srgbClr val="444949"/>
                  </a:solidFill>
                  <a:cs typeface="Calibri" panose="020F0502020204030204" pitchFamily="34" charset="0"/>
                </a:rPr>
                <a:t>2004:</a:t>
              </a:r>
              <a:endParaRPr lang="en-US" altLang="en-US" dirty="0">
                <a:cs typeface="Calibri" panose="020F0502020204030204" pitchFamily="34" charset="0"/>
              </a:endParaRPr>
            </a:p>
            <a:p>
              <a:pPr algn="ctr">
                <a:lnSpc>
                  <a:spcPts val="2175"/>
                </a:lnSpc>
                <a:spcBef>
                  <a:spcPts val="25"/>
                </a:spcBef>
              </a:pPr>
              <a:r>
                <a:rPr lang="en-US" altLang="en-US" dirty="0">
                  <a:solidFill>
                    <a:srgbClr val="444949"/>
                  </a:solidFill>
                  <a:cs typeface="Calibri" panose="020F0502020204030204" pitchFamily="34" charset="0"/>
                </a:rPr>
                <a:t>Launched</a:t>
              </a:r>
              <a:r>
                <a:rPr lang="en-US" altLang="en-US" dirty="0">
                  <a:solidFill>
                    <a:srgbClr val="44494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dirty="0">
                  <a:solidFill>
                    <a:srgbClr val="444949"/>
                  </a:solidFill>
                  <a:cs typeface="Calibri" panose="020F0502020204030204" pitchFamily="34" charset="0"/>
                </a:rPr>
                <a:t>publicly</a:t>
              </a:r>
              <a:r>
                <a:rPr lang="en-US" altLang="en-US" dirty="0">
                  <a:solidFill>
                    <a:srgbClr val="44494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dirty="0">
                  <a:solidFill>
                    <a:srgbClr val="444949"/>
                  </a:solidFill>
                  <a:cs typeface="Calibri" panose="020F0502020204030204" pitchFamily="34" charset="0"/>
                </a:rPr>
                <a:t>with</a:t>
              </a:r>
              <a:r>
                <a:rPr lang="en-US" altLang="en-US" dirty="0">
                  <a:solidFill>
                    <a:srgbClr val="44494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dirty="0">
                  <a:solidFill>
                    <a:srgbClr val="444949"/>
                  </a:solidFill>
                  <a:cs typeface="Calibri" panose="020F0502020204030204" pitchFamily="34" charset="0"/>
                </a:rPr>
                <a:t>SQS</a:t>
              </a:r>
              <a:endParaRPr lang="en-US" altLang="en-US" dirty="0">
                <a:cs typeface="Calibri" panose="020F0502020204030204" pitchFamily="34" charset="0"/>
              </a:endParaRPr>
            </a:p>
          </p:txBody>
        </p:sp>
      </p:grpSp>
      <p:sp>
        <p:nvSpPr>
          <p:cNvPr id="14" name="object 13">
            <a:extLst>
              <a:ext uri="{FF2B5EF4-FFF2-40B4-BE49-F238E27FC236}">
                <a16:creationId xmlns:a16="http://schemas.microsoft.com/office/drawing/2014/main" id="{91FD863B-78C3-C360-E5A9-30AF3CF9E4C0}"/>
              </a:ext>
            </a:extLst>
          </p:cNvPr>
          <p:cNvSpPr>
            <a:spLocks/>
          </p:cNvSpPr>
          <p:nvPr/>
        </p:nvSpPr>
        <p:spPr bwMode="auto">
          <a:xfrm>
            <a:off x="5100638" y="3767138"/>
            <a:ext cx="0" cy="466725"/>
          </a:xfrm>
          <a:custGeom>
            <a:avLst/>
            <a:gdLst>
              <a:gd name="T0" fmla="*/ 465676 h 466089"/>
              <a:gd name="T1" fmla="*/ 0 h 466089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466089">
                <a:moveTo>
                  <a:pt x="0" y="465676"/>
                </a:moveTo>
                <a:lnTo>
                  <a:pt x="0" y="0"/>
                </a:lnTo>
              </a:path>
            </a:pathLst>
          </a:custGeom>
          <a:noFill/>
          <a:ln w="6349">
            <a:solidFill>
              <a:srgbClr val="5091D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C3AFF909-8ABA-B493-9E67-9AB3189CA94F}"/>
              </a:ext>
            </a:extLst>
          </p:cNvPr>
          <p:cNvSpPr txBox="1"/>
          <p:nvPr/>
        </p:nvSpPr>
        <p:spPr>
          <a:xfrm>
            <a:off x="4437063" y="4338638"/>
            <a:ext cx="1327150" cy="107950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ts val="2125"/>
              </a:lnSpc>
            </a:pPr>
            <a:r>
              <a:rPr lang="en-US" altLang="en-US" dirty="0">
                <a:solidFill>
                  <a:srgbClr val="444949"/>
                </a:solidFill>
                <a:cs typeface="Calibri" panose="020F0502020204030204" pitchFamily="34" charset="0"/>
              </a:rPr>
              <a:t>2006:</a:t>
            </a:r>
            <a:endParaRPr lang="en-US" altLang="en-US" dirty="0">
              <a:cs typeface="Calibri" panose="020F0502020204030204" pitchFamily="34" charset="0"/>
            </a:endParaRPr>
          </a:p>
          <a:p>
            <a:pPr algn="ctr">
              <a:lnSpc>
                <a:spcPts val="2125"/>
              </a:lnSpc>
            </a:pPr>
            <a:r>
              <a:rPr lang="en-US" altLang="en-US" dirty="0">
                <a:solidFill>
                  <a:srgbClr val="444949"/>
                </a:solidFill>
                <a:cs typeface="Calibri" panose="020F0502020204030204" pitchFamily="34" charset="0"/>
              </a:rPr>
              <a:t>Re-launched</a:t>
            </a:r>
            <a:endParaRPr lang="en-US" altLang="en-US" dirty="0">
              <a:cs typeface="Calibri" panose="020F0502020204030204" pitchFamily="34" charset="0"/>
            </a:endParaRPr>
          </a:p>
          <a:p>
            <a:pPr algn="ctr">
              <a:lnSpc>
                <a:spcPct val="102000"/>
              </a:lnSpc>
            </a:pPr>
            <a:r>
              <a:rPr lang="en-US" altLang="en-US" dirty="0">
                <a:solidFill>
                  <a:srgbClr val="444949"/>
                </a:solidFill>
                <a:cs typeface="Calibri" panose="020F0502020204030204" pitchFamily="34" charset="0"/>
              </a:rPr>
              <a:t>publicly</a:t>
            </a:r>
            <a:r>
              <a:rPr lang="en-US" altLang="en-US" dirty="0">
                <a:solidFill>
                  <a:srgbClr val="4449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rgbClr val="444949"/>
                </a:solidFill>
                <a:cs typeface="Calibri" panose="020F0502020204030204" pitchFamily="34" charset="0"/>
              </a:rPr>
              <a:t>with</a:t>
            </a:r>
            <a:r>
              <a:rPr lang="en-US" altLang="en-US" dirty="0">
                <a:solidFill>
                  <a:srgbClr val="4449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rgbClr val="444949"/>
                </a:solidFill>
                <a:cs typeface="Calibri" panose="020F0502020204030204" pitchFamily="34" charset="0"/>
              </a:rPr>
              <a:t>SQS,</a:t>
            </a:r>
            <a:r>
              <a:rPr lang="en-US" altLang="en-US" dirty="0">
                <a:solidFill>
                  <a:srgbClr val="4449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rgbClr val="444949"/>
                </a:solidFill>
                <a:cs typeface="Calibri" panose="020F0502020204030204" pitchFamily="34" charset="0"/>
              </a:rPr>
              <a:t>S3</a:t>
            </a:r>
            <a:r>
              <a:rPr lang="en-US" altLang="en-US" dirty="0">
                <a:solidFill>
                  <a:srgbClr val="4449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rgbClr val="444949"/>
                </a:solidFill>
                <a:cs typeface="Calibri" panose="020F0502020204030204" pitchFamily="34" charset="0"/>
              </a:rPr>
              <a:t>&amp;</a:t>
            </a:r>
            <a:r>
              <a:rPr lang="en-US" altLang="en-US" dirty="0">
                <a:solidFill>
                  <a:srgbClr val="4449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rgbClr val="444949"/>
                </a:solidFill>
                <a:cs typeface="Calibri" panose="020F0502020204030204" pitchFamily="34" charset="0"/>
              </a:rPr>
              <a:t>EC2</a:t>
            </a:r>
            <a:endParaRPr lang="en-US" altLang="en-US" dirty="0">
              <a:cs typeface="Calibri" panose="020F0502020204030204" pitchFamily="34" charset="0"/>
            </a:endParaRPr>
          </a:p>
        </p:txBody>
      </p:sp>
      <p:sp>
        <p:nvSpPr>
          <p:cNvPr id="16" name="object 15">
            <a:extLst>
              <a:ext uri="{FF2B5EF4-FFF2-40B4-BE49-F238E27FC236}">
                <a16:creationId xmlns:a16="http://schemas.microsoft.com/office/drawing/2014/main" id="{6B52518F-AED7-8904-19A0-25260953907E}"/>
              </a:ext>
            </a:extLst>
          </p:cNvPr>
          <p:cNvSpPr>
            <a:spLocks/>
          </p:cNvSpPr>
          <p:nvPr/>
        </p:nvSpPr>
        <p:spPr bwMode="auto">
          <a:xfrm>
            <a:off x="6189663" y="2606675"/>
            <a:ext cx="0" cy="466725"/>
          </a:xfrm>
          <a:custGeom>
            <a:avLst/>
            <a:gdLst>
              <a:gd name="T0" fmla="*/ 465673 h 466089"/>
              <a:gd name="T1" fmla="*/ 0 h 466089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466089">
                <a:moveTo>
                  <a:pt x="0" y="465673"/>
                </a:moveTo>
                <a:lnTo>
                  <a:pt x="0" y="0"/>
                </a:lnTo>
              </a:path>
            </a:pathLst>
          </a:custGeom>
          <a:noFill/>
          <a:ln w="6349">
            <a:solidFill>
              <a:srgbClr val="5091D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7" name="object 16">
            <a:extLst>
              <a:ext uri="{FF2B5EF4-FFF2-40B4-BE49-F238E27FC236}">
                <a16:creationId xmlns:a16="http://schemas.microsoft.com/office/drawing/2014/main" id="{839D9218-62C7-31DC-F856-DB13178A565E}"/>
              </a:ext>
            </a:extLst>
          </p:cNvPr>
          <p:cNvSpPr txBox="1"/>
          <p:nvPr/>
        </p:nvSpPr>
        <p:spPr>
          <a:xfrm>
            <a:off x="5614988" y="1720850"/>
            <a:ext cx="1150937" cy="80010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ts val="2138"/>
              </a:lnSpc>
            </a:pPr>
            <a:r>
              <a:rPr lang="en-US" altLang="en-US" dirty="0">
                <a:solidFill>
                  <a:srgbClr val="444949"/>
                </a:solidFill>
                <a:cs typeface="Calibri" panose="020F0502020204030204" pitchFamily="34" charset="0"/>
              </a:rPr>
              <a:t>2007:</a:t>
            </a:r>
            <a:endParaRPr lang="en-US" altLang="en-US" dirty="0">
              <a:cs typeface="Calibri" panose="020F0502020204030204" pitchFamily="34" charset="0"/>
            </a:endParaRPr>
          </a:p>
          <a:p>
            <a:pPr algn="ctr">
              <a:lnSpc>
                <a:spcPts val="2175"/>
              </a:lnSpc>
              <a:spcBef>
                <a:spcPts val="25"/>
              </a:spcBef>
            </a:pPr>
            <a:r>
              <a:rPr lang="en-US" altLang="en-US" dirty="0">
                <a:solidFill>
                  <a:srgbClr val="444949"/>
                </a:solidFill>
                <a:cs typeface="Calibri" panose="020F0502020204030204" pitchFamily="34" charset="0"/>
              </a:rPr>
              <a:t>Launched</a:t>
            </a:r>
            <a:r>
              <a:rPr lang="en-US" altLang="en-US" dirty="0">
                <a:solidFill>
                  <a:srgbClr val="4449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rgbClr val="444949"/>
                </a:solidFill>
                <a:cs typeface="Calibri" panose="020F0502020204030204" pitchFamily="34" charset="0"/>
              </a:rPr>
              <a:t>in</a:t>
            </a:r>
            <a:r>
              <a:rPr lang="en-US" altLang="en-US" dirty="0">
                <a:solidFill>
                  <a:srgbClr val="4449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rgbClr val="444949"/>
                </a:solidFill>
                <a:cs typeface="Calibri" panose="020F0502020204030204" pitchFamily="34" charset="0"/>
              </a:rPr>
              <a:t>Europe</a:t>
            </a:r>
            <a:endParaRPr lang="en-US" altLang="en-US" dirty="0">
              <a:cs typeface="Calibri" panose="020F0502020204030204" pitchFamily="34" charset="0"/>
            </a:endParaRPr>
          </a:p>
        </p:txBody>
      </p:sp>
      <p:sp>
        <p:nvSpPr>
          <p:cNvPr id="18" name="object 17">
            <a:extLst>
              <a:ext uri="{FF2B5EF4-FFF2-40B4-BE49-F238E27FC236}">
                <a16:creationId xmlns:a16="http://schemas.microsoft.com/office/drawing/2014/main" id="{FD7F52B0-7A5D-4388-E83B-38D8F2BE2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1338" y="1970088"/>
            <a:ext cx="2347912" cy="892175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9" name="object 18">
            <a:extLst>
              <a:ext uri="{FF2B5EF4-FFF2-40B4-BE49-F238E27FC236}">
                <a16:creationId xmlns:a16="http://schemas.microsoft.com/office/drawing/2014/main" id="{40CA756A-FDDF-7298-7F98-C900AE8D7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0350" y="3995738"/>
            <a:ext cx="1647825" cy="93345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0" name="object 19">
            <a:extLst>
              <a:ext uri="{FF2B5EF4-FFF2-40B4-BE49-F238E27FC236}">
                <a16:creationId xmlns:a16="http://schemas.microsoft.com/office/drawing/2014/main" id="{4F6432E6-3375-0718-C9D7-21026477B9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8300" y="1928813"/>
            <a:ext cx="1123950" cy="1123950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1" name="object 20">
            <a:extLst>
              <a:ext uri="{FF2B5EF4-FFF2-40B4-BE49-F238E27FC236}">
                <a16:creationId xmlns:a16="http://schemas.microsoft.com/office/drawing/2014/main" id="{354E282F-41E6-F38E-F5FB-D662F90FFB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2775" y="3775075"/>
            <a:ext cx="2740025" cy="1370013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197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8C441-47FA-A5B0-5366-E2D7E5D96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AWS Cloud 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D63F0-F53F-9E83-F734-531605181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AWS enables you to build sophisticated, scalable applications</a:t>
            </a:r>
          </a:p>
          <a:p>
            <a:r>
              <a:rPr lang="en-US" dirty="0"/>
              <a:t>Applicable to a diverse set of industries</a:t>
            </a:r>
          </a:p>
          <a:p>
            <a:r>
              <a:rPr lang="en-US" dirty="0"/>
              <a:t>Use cases include</a:t>
            </a:r>
          </a:p>
          <a:p>
            <a:pPr lvl="1"/>
            <a:r>
              <a:rPr lang="en-US" dirty="0"/>
              <a:t>Enterprise IT, Backup &amp; Storage, Big Data analytics</a:t>
            </a:r>
          </a:p>
          <a:p>
            <a:pPr lvl="1"/>
            <a:r>
              <a:rPr lang="en-US" dirty="0"/>
              <a:t>Website hosting, Mobile &amp; Social Apps</a:t>
            </a:r>
          </a:p>
          <a:p>
            <a:pPr lvl="1"/>
            <a:r>
              <a:rPr lang="en-US" dirty="0"/>
              <a:t>Gaming</a:t>
            </a:r>
          </a:p>
          <a:p>
            <a:endParaRPr lang="en-US" dirty="0"/>
          </a:p>
        </p:txBody>
      </p:sp>
      <p:sp>
        <p:nvSpPr>
          <p:cNvPr id="4" name="object 6">
            <a:extLst>
              <a:ext uri="{FF2B5EF4-FFF2-40B4-BE49-F238E27FC236}">
                <a16:creationId xmlns:a16="http://schemas.microsoft.com/office/drawing/2014/main" id="{70828DC2-7054-222D-00D4-50E29F9CEA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688" y="4010025"/>
            <a:ext cx="3251200" cy="2413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234574D2-D6C2-A88D-C5D5-C88DE75B7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651375"/>
            <a:ext cx="2068513" cy="1163638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6" name="object 8">
            <a:extLst>
              <a:ext uri="{FF2B5EF4-FFF2-40B4-BE49-F238E27FC236}">
                <a16:creationId xmlns:a16="http://schemas.microsoft.com/office/drawing/2014/main" id="{95A6F561-F589-A5E5-F483-3AD7172FB5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6300" y="4748213"/>
            <a:ext cx="2751138" cy="968375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7" name="object 9">
            <a:extLst>
              <a:ext uri="{FF2B5EF4-FFF2-40B4-BE49-F238E27FC236}">
                <a16:creationId xmlns:a16="http://schemas.microsoft.com/office/drawing/2014/main" id="{8838A0A3-CFE2-C9B8-BAA2-BD9AF62D4A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2888" y="4748213"/>
            <a:ext cx="1649412" cy="935037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3219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3302B-42F5-C6C3-A59D-C665992F4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AWS Global Infrastructure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D2C1EB-87F0-CAB0-40B4-4379E8EF8E6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AWS Regions</a:t>
            </a:r>
          </a:p>
          <a:p>
            <a:r>
              <a:rPr lang="en-US" dirty="0"/>
              <a:t>AWS Availability Zones</a:t>
            </a:r>
          </a:p>
          <a:p>
            <a:r>
              <a:rPr lang="en-US" dirty="0"/>
              <a:t>AWS Data Centers</a:t>
            </a:r>
          </a:p>
          <a:p>
            <a:r>
              <a:rPr lang="en-US" dirty="0"/>
              <a:t>AWS Edge Locations / Points of Presence</a:t>
            </a:r>
          </a:p>
          <a:p>
            <a:r>
              <a:rPr lang="en-US" dirty="0">
                <a:hlinkClick r:id="rId2"/>
              </a:rPr>
              <a:t>https://infrastructure.aws/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C7BBBD8-F583-2BC3-6EA4-0E0FD3A6DF5D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308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12E1A-AA7D-E8E7-A03A-E1CE0DEA4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AWS Regions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C772E-C4AD-D12B-2566-6ADD305812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84026"/>
            <a:ext cx="5181600" cy="4692937"/>
          </a:xfrm>
        </p:spPr>
        <p:txBody>
          <a:bodyPr/>
          <a:lstStyle/>
          <a:p>
            <a:r>
              <a:rPr lang="en-US" dirty="0"/>
              <a:t>AWS has Regions all around the world</a:t>
            </a:r>
          </a:p>
          <a:p>
            <a:r>
              <a:rPr lang="en-US" dirty="0"/>
              <a:t>Names can be us-east-1, eu-west-3…</a:t>
            </a:r>
          </a:p>
          <a:p>
            <a:r>
              <a:rPr lang="en-US" dirty="0"/>
              <a:t>A region is a cluster of data centers</a:t>
            </a:r>
          </a:p>
          <a:p>
            <a:r>
              <a:rPr lang="en-US" dirty="0"/>
              <a:t>Most AWS services are region-scoped</a:t>
            </a:r>
          </a:p>
          <a:p>
            <a:endParaRPr lang="en-US" dirty="0"/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53F62313-7C30-8C10-EACE-F9C0BCC00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8544" y="3513931"/>
            <a:ext cx="4760912" cy="2524125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C3C1F39C-8C9E-0F42-26D6-2B65F6B31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9678" y="534988"/>
            <a:ext cx="2509837" cy="5957887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3CD62E-2483-4EC8-676D-0078D93D8D33}"/>
              </a:ext>
            </a:extLst>
          </p:cNvPr>
          <p:cNvSpPr txBox="1"/>
          <p:nvPr/>
        </p:nvSpPr>
        <p:spPr>
          <a:xfrm>
            <a:off x="1543987" y="6253035"/>
            <a:ext cx="56580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u="heavy" spc="-5" dirty="0">
                <a:solidFill>
                  <a:srgbClr val="0563C1"/>
                </a:solidFill>
                <a:latin typeface="Calibri"/>
                <a:cs typeface="Calibri"/>
              </a:rPr>
              <a:t>h</a:t>
            </a:r>
            <a:r>
              <a:rPr lang="en-US" sz="1800" u="heavy" spc="-10" dirty="0">
                <a:solidFill>
                  <a:srgbClr val="0563C1"/>
                </a:solidFill>
                <a:latin typeface="Calibri"/>
                <a:cs typeface="Calibri"/>
              </a:rPr>
              <a:t>t</a:t>
            </a:r>
            <a:r>
              <a:rPr lang="en-US" sz="1800" u="heavy" spc="-15" dirty="0">
                <a:solidFill>
                  <a:srgbClr val="0563C1"/>
                </a:solidFill>
                <a:latin typeface="Calibri"/>
                <a:cs typeface="Calibri"/>
              </a:rPr>
              <a:t>t</a:t>
            </a:r>
            <a:r>
              <a:rPr lang="en-US" sz="1800" u="heavy" spc="-5" dirty="0">
                <a:solidFill>
                  <a:srgbClr val="0563C1"/>
                </a:solidFill>
                <a:latin typeface="Calibri"/>
                <a:cs typeface="Calibri"/>
              </a:rPr>
              <a:t>ps</a:t>
            </a:r>
            <a:r>
              <a:rPr lang="en-US" sz="1800" u="heavy" dirty="0">
                <a:solidFill>
                  <a:srgbClr val="0563C1"/>
                </a:solidFill>
                <a:latin typeface="Calibri"/>
                <a:cs typeface="Calibri"/>
              </a:rPr>
              <a:t>://</a:t>
            </a:r>
            <a:r>
              <a:rPr lang="en-US" sz="1800" u="heavy" spc="-5" dirty="0">
                <a:solidFill>
                  <a:srgbClr val="0563C1"/>
                </a:solidFill>
                <a:latin typeface="Calibri"/>
                <a:cs typeface="Calibri"/>
              </a:rPr>
              <a:t>a</a:t>
            </a:r>
            <a:r>
              <a:rPr lang="en-US" sz="1800" u="heavy" spc="-10" dirty="0">
                <a:solidFill>
                  <a:srgbClr val="0563C1"/>
                </a:solidFill>
                <a:latin typeface="Calibri"/>
                <a:cs typeface="Calibri"/>
              </a:rPr>
              <a:t>w</a:t>
            </a:r>
            <a:r>
              <a:rPr lang="en-US" sz="1800" u="heavy" spc="-5" dirty="0">
                <a:solidFill>
                  <a:srgbClr val="0563C1"/>
                </a:solidFill>
                <a:latin typeface="Calibri"/>
                <a:cs typeface="Calibri"/>
              </a:rPr>
              <a:t>s.a</a:t>
            </a:r>
            <a:r>
              <a:rPr lang="en-US" sz="1800" u="heavy" spc="-15" dirty="0">
                <a:solidFill>
                  <a:srgbClr val="0563C1"/>
                </a:solidFill>
                <a:latin typeface="Calibri"/>
                <a:cs typeface="Calibri"/>
              </a:rPr>
              <a:t>m</a:t>
            </a:r>
            <a:r>
              <a:rPr lang="en-US" sz="1800" u="heavy" spc="-5" dirty="0">
                <a:solidFill>
                  <a:srgbClr val="0563C1"/>
                </a:solidFill>
                <a:latin typeface="Calibri"/>
                <a:cs typeface="Calibri"/>
              </a:rPr>
              <a:t>a</a:t>
            </a:r>
            <a:r>
              <a:rPr lang="en-US" sz="1800" u="heavy" dirty="0">
                <a:solidFill>
                  <a:srgbClr val="0563C1"/>
                </a:solidFill>
                <a:latin typeface="Calibri"/>
                <a:cs typeface="Calibri"/>
              </a:rPr>
              <a:t>z</a:t>
            </a:r>
            <a:r>
              <a:rPr lang="en-US" sz="1800" u="heavy" spc="-10" dirty="0">
                <a:solidFill>
                  <a:srgbClr val="0563C1"/>
                </a:solidFill>
                <a:latin typeface="Calibri"/>
                <a:cs typeface="Calibri"/>
              </a:rPr>
              <a:t>o</a:t>
            </a:r>
            <a:r>
              <a:rPr lang="en-US" sz="1800" u="heavy" spc="-5" dirty="0">
                <a:solidFill>
                  <a:srgbClr val="0563C1"/>
                </a:solidFill>
                <a:latin typeface="Calibri"/>
                <a:cs typeface="Calibri"/>
              </a:rPr>
              <a:t>n.co</a:t>
            </a:r>
            <a:r>
              <a:rPr lang="en-US" sz="1800" u="heavy" spc="-15" dirty="0">
                <a:solidFill>
                  <a:srgbClr val="0563C1"/>
                </a:solidFill>
                <a:latin typeface="Calibri"/>
                <a:cs typeface="Calibri"/>
              </a:rPr>
              <a:t>m</a:t>
            </a:r>
            <a:r>
              <a:rPr lang="en-US" sz="1800" u="heavy" dirty="0">
                <a:solidFill>
                  <a:srgbClr val="0563C1"/>
                </a:solidFill>
                <a:latin typeface="Calibri"/>
                <a:cs typeface="Calibri"/>
              </a:rPr>
              <a:t>/</a:t>
            </a:r>
            <a:r>
              <a:rPr lang="en-US" sz="1800" u="heavy" spc="-5" dirty="0">
                <a:solidFill>
                  <a:srgbClr val="0563C1"/>
                </a:solidFill>
                <a:latin typeface="Calibri"/>
                <a:cs typeface="Calibri"/>
              </a:rPr>
              <a:t>ab</a:t>
            </a:r>
            <a:r>
              <a:rPr lang="en-US" sz="1800" u="heavy" spc="-10" dirty="0">
                <a:solidFill>
                  <a:srgbClr val="0563C1"/>
                </a:solidFill>
                <a:latin typeface="Calibri"/>
                <a:cs typeface="Calibri"/>
              </a:rPr>
              <a:t>o</a:t>
            </a:r>
            <a:r>
              <a:rPr lang="en-US" sz="1800" u="heavy" spc="-5" dirty="0">
                <a:solidFill>
                  <a:srgbClr val="0563C1"/>
                </a:solidFill>
                <a:latin typeface="Calibri"/>
                <a:cs typeface="Calibri"/>
              </a:rPr>
              <a:t>u</a:t>
            </a:r>
            <a:r>
              <a:rPr lang="en-US" sz="1800" u="heavy" spc="-10" dirty="0">
                <a:solidFill>
                  <a:srgbClr val="0563C1"/>
                </a:solidFill>
                <a:latin typeface="Calibri"/>
                <a:cs typeface="Calibri"/>
              </a:rPr>
              <a:t>t</a:t>
            </a:r>
            <a:r>
              <a:rPr lang="en-US" sz="1800" u="heavy" dirty="0">
                <a:solidFill>
                  <a:srgbClr val="0563C1"/>
                </a:solidFill>
                <a:latin typeface="Calibri"/>
                <a:cs typeface="Calibri"/>
              </a:rPr>
              <a:t>-</a:t>
            </a:r>
            <a:r>
              <a:rPr lang="en-US" sz="1800" u="heavy" spc="-15" dirty="0">
                <a:solidFill>
                  <a:srgbClr val="0563C1"/>
                </a:solidFill>
                <a:latin typeface="Calibri"/>
                <a:cs typeface="Calibri"/>
              </a:rPr>
              <a:t>a</a:t>
            </a:r>
            <a:r>
              <a:rPr lang="en-US" sz="1800" u="heavy" spc="-10" dirty="0">
                <a:solidFill>
                  <a:srgbClr val="0563C1"/>
                </a:solidFill>
                <a:latin typeface="Calibri"/>
                <a:cs typeface="Calibri"/>
              </a:rPr>
              <a:t>ws</a:t>
            </a:r>
            <a:r>
              <a:rPr lang="en-US" sz="1800" u="heavy" dirty="0">
                <a:solidFill>
                  <a:srgbClr val="0563C1"/>
                </a:solidFill>
                <a:latin typeface="Calibri"/>
                <a:cs typeface="Calibri"/>
              </a:rPr>
              <a:t>/</a:t>
            </a:r>
            <a:r>
              <a:rPr lang="en-US" sz="1800" u="heavy" spc="-15" dirty="0">
                <a:solidFill>
                  <a:srgbClr val="0563C1"/>
                </a:solidFill>
                <a:latin typeface="Calibri"/>
                <a:cs typeface="Calibri"/>
              </a:rPr>
              <a:t>g</a:t>
            </a:r>
            <a:r>
              <a:rPr lang="en-US" sz="1800" u="heavy" spc="-5" dirty="0">
                <a:solidFill>
                  <a:srgbClr val="0563C1"/>
                </a:solidFill>
                <a:latin typeface="Calibri"/>
                <a:cs typeface="Calibri"/>
              </a:rPr>
              <a:t>l</a:t>
            </a:r>
            <a:r>
              <a:rPr lang="en-US" sz="1800" u="heavy" spc="-10" dirty="0">
                <a:solidFill>
                  <a:srgbClr val="0563C1"/>
                </a:solidFill>
                <a:latin typeface="Calibri"/>
                <a:cs typeface="Calibri"/>
              </a:rPr>
              <a:t>o</a:t>
            </a:r>
            <a:r>
              <a:rPr lang="en-US" sz="1800" u="heavy" spc="-5" dirty="0">
                <a:solidFill>
                  <a:srgbClr val="0563C1"/>
                </a:solidFill>
                <a:latin typeface="Calibri"/>
                <a:cs typeface="Calibri"/>
              </a:rPr>
              <a:t>bal</a:t>
            </a:r>
            <a:r>
              <a:rPr lang="en-US" sz="1800" u="heavy" dirty="0">
                <a:solidFill>
                  <a:srgbClr val="0563C1"/>
                </a:solidFill>
                <a:latin typeface="Calibri"/>
                <a:cs typeface="Calibri"/>
              </a:rPr>
              <a:t>-</a:t>
            </a:r>
            <a:r>
              <a:rPr lang="en-US" sz="1800" u="heavy" spc="-5" dirty="0">
                <a:solidFill>
                  <a:srgbClr val="0563C1"/>
                </a:solidFill>
                <a:latin typeface="Calibri"/>
                <a:cs typeface="Calibri"/>
              </a:rPr>
              <a:t>in</a:t>
            </a:r>
            <a:r>
              <a:rPr lang="en-US" sz="1800" u="heavy" dirty="0">
                <a:solidFill>
                  <a:srgbClr val="0563C1"/>
                </a:solidFill>
                <a:latin typeface="Calibri"/>
                <a:cs typeface="Calibri"/>
              </a:rPr>
              <a:t>f</a:t>
            </a:r>
            <a:r>
              <a:rPr lang="en-US" sz="1800" u="heavy" spc="-5" dirty="0">
                <a:solidFill>
                  <a:srgbClr val="0563C1"/>
                </a:solidFill>
                <a:latin typeface="Calibri"/>
                <a:cs typeface="Calibri"/>
              </a:rPr>
              <a:t>ra</a:t>
            </a:r>
            <a:r>
              <a:rPr lang="en-US" sz="1800" u="heavy" spc="-10" dirty="0">
                <a:solidFill>
                  <a:srgbClr val="0563C1"/>
                </a:solidFill>
                <a:latin typeface="Calibri"/>
                <a:cs typeface="Calibri"/>
              </a:rPr>
              <a:t>s</a:t>
            </a:r>
            <a:r>
              <a:rPr lang="en-US" sz="1800" u="heavy" spc="-15" dirty="0">
                <a:solidFill>
                  <a:srgbClr val="0563C1"/>
                </a:solidFill>
                <a:latin typeface="Calibri"/>
                <a:cs typeface="Calibri"/>
              </a:rPr>
              <a:t>t</a:t>
            </a:r>
            <a:r>
              <a:rPr lang="en-US" sz="1800" u="heavy" spc="-5" dirty="0">
                <a:solidFill>
                  <a:srgbClr val="0563C1"/>
                </a:solidFill>
                <a:latin typeface="Calibri"/>
                <a:cs typeface="Calibri"/>
              </a:rPr>
              <a:t>ru</a:t>
            </a:r>
            <a:r>
              <a:rPr lang="en-US" sz="1800" u="heavy" spc="-10" dirty="0">
                <a:solidFill>
                  <a:srgbClr val="0563C1"/>
                </a:solidFill>
                <a:latin typeface="Calibri"/>
                <a:cs typeface="Calibri"/>
              </a:rPr>
              <a:t>c</a:t>
            </a:r>
            <a:r>
              <a:rPr lang="en-US" sz="1800" u="heavy" spc="-15" dirty="0">
                <a:solidFill>
                  <a:srgbClr val="0563C1"/>
                </a:solidFill>
                <a:latin typeface="Calibri"/>
                <a:cs typeface="Calibri"/>
              </a:rPr>
              <a:t>t</a:t>
            </a:r>
            <a:r>
              <a:rPr lang="en-US" sz="1800" u="heavy" spc="-5" dirty="0">
                <a:solidFill>
                  <a:srgbClr val="0563C1"/>
                </a:solidFill>
                <a:latin typeface="Calibri"/>
                <a:cs typeface="Calibri"/>
              </a:rPr>
              <a:t>ure</a:t>
            </a:r>
            <a:r>
              <a:rPr lang="en-US" sz="1800" u="heavy" dirty="0">
                <a:solidFill>
                  <a:srgbClr val="0563C1"/>
                </a:solidFill>
                <a:latin typeface="Calibri"/>
                <a:cs typeface="Calibri"/>
              </a:rPr>
              <a:t>/</a:t>
            </a:r>
            <a:endParaRPr lang="en-US" sz="1800" dirty="0">
              <a:latin typeface="Calibri"/>
              <a:cs typeface="Calibri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259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E8DD9-78CD-40D5-8D06-A1E46AC72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70" dirty="0"/>
              <a:t>H</a:t>
            </a:r>
            <a:r>
              <a:rPr lang="en-US" spc="-114" dirty="0"/>
              <a:t>o</a:t>
            </a:r>
            <a:r>
              <a:rPr lang="en-US" spc="-65" dirty="0"/>
              <a:t>w</a:t>
            </a:r>
            <a:r>
              <a:rPr lang="en-US" spc="125" dirty="0">
                <a:latin typeface="Times New Roman"/>
                <a:cs typeface="Times New Roman"/>
              </a:rPr>
              <a:t> </a:t>
            </a:r>
            <a:r>
              <a:rPr lang="en-US" spc="-155" dirty="0"/>
              <a:t>t</a:t>
            </a:r>
            <a:r>
              <a:rPr lang="en-US" spc="-50" dirty="0"/>
              <a:t>o</a:t>
            </a:r>
            <a:r>
              <a:rPr lang="en-US" spc="125" dirty="0">
                <a:latin typeface="Times New Roman"/>
                <a:cs typeface="Times New Roman"/>
              </a:rPr>
              <a:t> </a:t>
            </a:r>
            <a:r>
              <a:rPr lang="en-US" spc="-100" dirty="0"/>
              <a:t>c</a:t>
            </a:r>
            <a:r>
              <a:rPr lang="en-US" spc="-40" dirty="0"/>
              <a:t>h</a:t>
            </a:r>
            <a:r>
              <a:rPr lang="en-US" spc="-50" dirty="0"/>
              <a:t>oo</a:t>
            </a:r>
            <a:r>
              <a:rPr lang="en-US" spc="-155" dirty="0"/>
              <a:t>s</a:t>
            </a:r>
            <a:r>
              <a:rPr lang="en-US" dirty="0"/>
              <a:t>e</a:t>
            </a:r>
            <a:r>
              <a:rPr lang="en-US" spc="125" dirty="0">
                <a:latin typeface="Times New Roman"/>
                <a:cs typeface="Times New Roman"/>
              </a:rPr>
              <a:t> </a:t>
            </a:r>
            <a:r>
              <a:rPr lang="en-US" spc="-25" dirty="0"/>
              <a:t>a</a:t>
            </a:r>
            <a:r>
              <a:rPr lang="en-US" spc="-45" dirty="0"/>
              <a:t>n</a:t>
            </a:r>
            <a:r>
              <a:rPr lang="en-US" spc="-135" dirty="0">
                <a:latin typeface="Times New Roman"/>
                <a:cs typeface="Times New Roman"/>
              </a:rPr>
              <a:t> </a:t>
            </a:r>
            <a:r>
              <a:rPr lang="en-US" spc="-250" dirty="0"/>
              <a:t>A</a:t>
            </a:r>
            <a:r>
              <a:rPr lang="en-US" spc="-95" dirty="0"/>
              <a:t>W</a:t>
            </a:r>
            <a:r>
              <a:rPr lang="en-US" spc="40" dirty="0"/>
              <a:t>S</a:t>
            </a:r>
            <a:r>
              <a:rPr lang="en-US" spc="120" dirty="0">
                <a:latin typeface="Times New Roman"/>
                <a:cs typeface="Times New Roman"/>
              </a:rPr>
              <a:t> </a:t>
            </a:r>
            <a:r>
              <a:rPr lang="en-US" spc="-160" dirty="0"/>
              <a:t>R</a:t>
            </a:r>
            <a:r>
              <a:rPr lang="en-US" dirty="0"/>
              <a:t>e</a:t>
            </a:r>
            <a:r>
              <a:rPr lang="en-US" spc="-25" dirty="0"/>
              <a:t>g</a:t>
            </a:r>
            <a:r>
              <a:rPr lang="en-US" spc="-65" dirty="0"/>
              <a:t>i</a:t>
            </a:r>
            <a:r>
              <a:rPr lang="en-US" spc="-150" dirty="0"/>
              <a:t>o</a:t>
            </a:r>
            <a:r>
              <a:rPr lang="en-US" spc="-40" dirty="0"/>
              <a:t>n</a:t>
            </a:r>
            <a:r>
              <a:rPr lang="en-US" spc="-235" dirty="0"/>
              <a:t>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7D100-CAE9-F546-00D7-878822A4347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Compliance</a:t>
            </a:r>
            <a:r>
              <a:rPr lang="en-US" dirty="0"/>
              <a:t> with data governance and legal requirements: data never leaves a region without your explicit permission</a:t>
            </a:r>
          </a:p>
          <a:p>
            <a:r>
              <a:rPr lang="en-US" b="1" dirty="0"/>
              <a:t>Proximity</a:t>
            </a:r>
            <a:r>
              <a:rPr lang="en-US" dirty="0"/>
              <a:t> to customers: reduced latency</a:t>
            </a:r>
          </a:p>
          <a:p>
            <a:r>
              <a:rPr lang="en-US" b="1" dirty="0"/>
              <a:t>Available services </a:t>
            </a:r>
            <a:r>
              <a:rPr lang="en-US" dirty="0"/>
              <a:t>within a Region: new services and new features aren’t available in every Region</a:t>
            </a:r>
          </a:p>
          <a:p>
            <a:r>
              <a:rPr lang="en-US" b="1" dirty="0"/>
              <a:t>Pricing</a:t>
            </a:r>
            <a:r>
              <a:rPr lang="en-US" dirty="0"/>
              <a:t>: pricing varies region to region and is transparent in the service pricing page</a:t>
            </a:r>
          </a:p>
          <a:p>
            <a:endParaRPr lang="en-US" dirty="0"/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B0607D75-BC38-75AF-6C09-632F09B39CDE}"/>
              </a:ext>
            </a:extLst>
          </p:cNvPr>
          <p:cNvSpPr txBox="1">
            <a:spLocks noGrp="1"/>
          </p:cNvSpPr>
          <p:nvPr>
            <p:ph sz="half" idx="2"/>
          </p:nvPr>
        </p:nvSpPr>
        <p:spPr>
          <a:xfrm>
            <a:off x="6172200" y="1825625"/>
            <a:ext cx="5181600" cy="133369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781050" indent="-76993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1112" indent="0">
              <a:lnSpc>
                <a:spcPts val="2113"/>
              </a:lnSpc>
              <a:buNone/>
            </a:pPr>
            <a:r>
              <a:rPr lang="en-US" altLang="en-US" sz="2000" dirty="0"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If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you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need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to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launch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a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new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application,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where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should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you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do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it?</a:t>
            </a:r>
          </a:p>
          <a:p>
            <a:pPr marL="11112" indent="0">
              <a:lnSpc>
                <a:spcPts val="2113"/>
              </a:lnSpc>
              <a:buNone/>
            </a:pPr>
            <a:endParaRPr lang="en-US" altLang="en-US" sz="2000" dirty="0">
              <a:latin typeface="Georgia" panose="02040502050405020303" pitchFamily="18" charset="0"/>
              <a:ea typeface="Georgia" panose="02040502050405020303" pitchFamily="18" charset="0"/>
              <a:cs typeface="Georgia" panose="02040502050405020303" pitchFamily="18" charset="0"/>
            </a:endParaRPr>
          </a:p>
          <a:p>
            <a:pPr marL="11112" indent="0">
              <a:lnSpc>
                <a:spcPts val="2113"/>
              </a:lnSpc>
              <a:buNone/>
            </a:pPr>
            <a:endParaRPr lang="en-US" altLang="en-US" sz="2000" dirty="0">
              <a:latin typeface="Georgia" panose="02040502050405020303" pitchFamily="18" charset="0"/>
              <a:ea typeface="Georgia" panose="02040502050405020303" pitchFamily="18" charset="0"/>
              <a:cs typeface="Georgia" panose="02040502050405020303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8B52EF5-E4B0-3E01-6CFA-3874A9E4B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429" y="2611883"/>
            <a:ext cx="4298053" cy="2383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492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50A40-2CC2-F603-EDCA-DFC649681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AWS Availability Zones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6E07C-A359-1329-B463-36FD653462D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Each region has many availability zones (usually 3, min is 3, max is 6). Example:</a:t>
            </a:r>
          </a:p>
          <a:p>
            <a:pPr lvl="1"/>
            <a:r>
              <a:rPr lang="en-US" dirty="0"/>
              <a:t>ap-southeast-2a</a:t>
            </a:r>
          </a:p>
          <a:p>
            <a:pPr lvl="1"/>
            <a:r>
              <a:rPr lang="en-US" dirty="0"/>
              <a:t>ap-southeast-2b</a:t>
            </a:r>
          </a:p>
          <a:p>
            <a:pPr lvl="1"/>
            <a:r>
              <a:rPr lang="en-US" dirty="0"/>
              <a:t>ap-southeast-2c</a:t>
            </a:r>
          </a:p>
          <a:p>
            <a:r>
              <a:rPr lang="en-US" dirty="0"/>
              <a:t>Each availability zone (AZ) is one or more discrete data centers with redundant power, networking, and connectivity</a:t>
            </a:r>
          </a:p>
          <a:p>
            <a:r>
              <a:rPr lang="en-US" dirty="0"/>
              <a:t>They’re separate from each other, so that they’re isolated from disasters</a:t>
            </a:r>
          </a:p>
          <a:p>
            <a:r>
              <a:rPr lang="en-US" dirty="0"/>
              <a:t>They’re connected with high bandwidth, ultra-low latency networking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BD2418-3780-10FA-65E7-0B8750CC1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2043" y="1690688"/>
            <a:ext cx="5181600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732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7AD8B9-FDC5-E1D9-EF30-001790C4DF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3503" y="3291840"/>
            <a:ext cx="7402161" cy="1974900"/>
          </a:xfrm>
        </p:spPr>
        <p:txBody>
          <a:bodyPr/>
          <a:lstStyle/>
          <a:p>
            <a:r>
              <a:rPr lang="en-US" sz="4000" dirty="0"/>
              <a:t>AWS Identity and Access Management (AWS IAM)</a:t>
            </a: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3736977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62E84-F795-3CFE-B301-68AF160FA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IAM: Users &amp; Groups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1DCD61-ECF9-25A0-EA2E-B2A03B579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1950"/>
            <a:ext cx="10515600" cy="4351338"/>
          </a:xfrm>
        </p:spPr>
        <p:txBody>
          <a:bodyPr/>
          <a:lstStyle/>
          <a:p>
            <a:r>
              <a:rPr lang="en-US" dirty="0"/>
              <a:t>IAM	= Identity and Access Management, Global service</a:t>
            </a:r>
          </a:p>
          <a:p>
            <a:r>
              <a:rPr lang="en-US" dirty="0"/>
              <a:t>Root account created by default, shouldn’t be used or shared</a:t>
            </a:r>
          </a:p>
          <a:p>
            <a:r>
              <a:rPr lang="en-US" dirty="0"/>
              <a:t>Users are people within your organization, and can be grouped</a:t>
            </a:r>
          </a:p>
          <a:p>
            <a:r>
              <a:rPr lang="en-US" dirty="0"/>
              <a:t>Groups only contain users, not other groups</a:t>
            </a:r>
          </a:p>
          <a:p>
            <a:r>
              <a:rPr lang="en-US" dirty="0"/>
              <a:t>Users don’t have to belong to a group, and user can belong to multiple groups</a:t>
            </a:r>
          </a:p>
          <a:p>
            <a:endParaRPr lang="en-US" dirty="0"/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380A8480-BE2D-88B0-1B0A-195B8EB6F7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2265" y="550862"/>
            <a:ext cx="954088" cy="954088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 alt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0E5CCBC-DA9F-7D4B-DF5D-82B73C6AD8D3}"/>
              </a:ext>
            </a:extLst>
          </p:cNvPr>
          <p:cNvGrpSpPr/>
          <p:nvPr/>
        </p:nvGrpSpPr>
        <p:grpSpPr>
          <a:xfrm>
            <a:off x="1104900" y="3957402"/>
            <a:ext cx="9602788" cy="2025885"/>
            <a:chOff x="1104900" y="3868738"/>
            <a:chExt cx="9602788" cy="2114550"/>
          </a:xfrm>
        </p:grpSpPr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2775AC85-00AF-1B58-1CE6-75A50EFA8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1125" y="4449763"/>
              <a:ext cx="731838" cy="731837"/>
            </a:xfrm>
            <a:prstGeom prst="rect">
              <a:avLst/>
            </a:prstGeom>
            <a:blipFill dpi="0" rotWithShape="1">
              <a:blip r:embed="rId3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9" name="object 8">
              <a:extLst>
                <a:ext uri="{FF2B5EF4-FFF2-40B4-BE49-F238E27FC236}">
                  <a16:creationId xmlns:a16="http://schemas.microsoft.com/office/drawing/2014/main" id="{45F891DA-E17E-801D-AEB9-D38468F33581}"/>
                </a:ext>
              </a:extLst>
            </p:cNvPr>
            <p:cNvSpPr txBox="1"/>
            <p:nvPr/>
          </p:nvSpPr>
          <p:spPr>
            <a:xfrm>
              <a:off x="1474788" y="5340350"/>
              <a:ext cx="485775" cy="254000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127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b="1" spc="-15" dirty="0">
                  <a:solidFill>
                    <a:srgbClr val="444949"/>
                  </a:solidFill>
                  <a:latin typeface="Calibri"/>
                  <a:cs typeface="Calibri"/>
                </a:rPr>
                <a:t>Ali</a:t>
              </a:r>
              <a:r>
                <a:rPr b="1" spc="-5" dirty="0">
                  <a:solidFill>
                    <a:srgbClr val="444949"/>
                  </a:solidFill>
                  <a:latin typeface="Calibri"/>
                  <a:cs typeface="Calibri"/>
                </a:rPr>
                <a:t>c</a:t>
              </a:r>
              <a:r>
                <a:rPr b="1" dirty="0">
                  <a:solidFill>
                    <a:srgbClr val="444949"/>
                  </a:solidFill>
                  <a:latin typeface="Calibri"/>
                  <a:cs typeface="Calibri"/>
                </a:rPr>
                <a:t>e</a:t>
              </a:r>
              <a:endParaRPr>
                <a:latin typeface="Calibri"/>
                <a:cs typeface="Calibri"/>
              </a:endParaRPr>
            </a:p>
          </p:txBody>
        </p:sp>
        <p:sp>
          <p:nvSpPr>
            <p:cNvPr id="10" name="object 9">
              <a:extLst>
                <a:ext uri="{FF2B5EF4-FFF2-40B4-BE49-F238E27FC236}">
                  <a16:creationId xmlns:a16="http://schemas.microsoft.com/office/drawing/2014/main" id="{9B4D3155-2410-91CA-410E-658CAE0AE1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3350" y="4449763"/>
              <a:ext cx="731838" cy="731837"/>
            </a:xfrm>
            <a:prstGeom prst="rect">
              <a:avLst/>
            </a:prstGeom>
            <a:blipFill dpi="0" rotWithShape="1">
              <a:blip r:embed="rId4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" name="object 10">
              <a:extLst>
                <a:ext uri="{FF2B5EF4-FFF2-40B4-BE49-F238E27FC236}">
                  <a16:creationId xmlns:a16="http://schemas.microsoft.com/office/drawing/2014/main" id="{D40F8903-B2C3-879E-2A29-1FA9235C63EE}"/>
                </a:ext>
              </a:extLst>
            </p:cNvPr>
            <p:cNvSpPr txBox="1"/>
            <p:nvPr/>
          </p:nvSpPr>
          <p:spPr>
            <a:xfrm>
              <a:off x="2838450" y="5365750"/>
              <a:ext cx="398463" cy="254000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127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b="1" spc="-10" dirty="0">
                  <a:solidFill>
                    <a:srgbClr val="444949"/>
                  </a:solidFill>
                  <a:latin typeface="Calibri"/>
                  <a:cs typeface="Calibri"/>
                </a:rPr>
                <a:t>B</a:t>
              </a:r>
              <a:r>
                <a:rPr b="1" spc="-20" dirty="0">
                  <a:solidFill>
                    <a:srgbClr val="444949"/>
                  </a:solidFill>
                  <a:latin typeface="Calibri"/>
                  <a:cs typeface="Calibri"/>
                </a:rPr>
                <a:t>o</a:t>
              </a:r>
              <a:r>
                <a:rPr b="1" spc="-10" dirty="0">
                  <a:solidFill>
                    <a:srgbClr val="444949"/>
                  </a:solidFill>
                  <a:latin typeface="Calibri"/>
                  <a:cs typeface="Calibri"/>
                </a:rPr>
                <a:t>b</a:t>
              </a:r>
              <a:endParaRPr>
                <a:latin typeface="Calibri"/>
                <a:cs typeface="Calibri"/>
              </a:endParaRPr>
            </a:p>
          </p:txBody>
        </p:sp>
        <p:sp>
          <p:nvSpPr>
            <p:cNvPr id="12" name="object 11">
              <a:extLst>
                <a:ext uri="{FF2B5EF4-FFF2-40B4-BE49-F238E27FC236}">
                  <a16:creationId xmlns:a16="http://schemas.microsoft.com/office/drawing/2014/main" id="{9BED1624-5D8B-D6F8-EDC6-25E9B48AFF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5575" y="4449763"/>
              <a:ext cx="731838" cy="731837"/>
            </a:xfrm>
            <a:prstGeom prst="rect">
              <a:avLst/>
            </a:prstGeom>
            <a:blipFill dpi="0" rotWithShape="1">
              <a:blip r:embed="rId5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3" name="object 12">
              <a:extLst>
                <a:ext uri="{FF2B5EF4-FFF2-40B4-BE49-F238E27FC236}">
                  <a16:creationId xmlns:a16="http://schemas.microsoft.com/office/drawing/2014/main" id="{9BA249BB-6A9A-9AD6-CA19-452194598D93}"/>
                </a:ext>
              </a:extLst>
            </p:cNvPr>
            <p:cNvSpPr txBox="1"/>
            <p:nvPr/>
          </p:nvSpPr>
          <p:spPr>
            <a:xfrm>
              <a:off x="3956050" y="5365750"/>
              <a:ext cx="723900" cy="254000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127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b="1" spc="-15" dirty="0">
                  <a:solidFill>
                    <a:srgbClr val="444949"/>
                  </a:solidFill>
                  <a:latin typeface="Calibri"/>
                  <a:cs typeface="Calibri"/>
                </a:rPr>
                <a:t>Charl</a:t>
              </a:r>
              <a:r>
                <a:rPr b="1" spc="-10" dirty="0">
                  <a:solidFill>
                    <a:srgbClr val="444949"/>
                  </a:solidFill>
                  <a:latin typeface="Calibri"/>
                  <a:cs typeface="Calibri"/>
                </a:rPr>
                <a:t>es</a:t>
              </a:r>
              <a:endParaRPr>
                <a:latin typeface="Calibri"/>
                <a:cs typeface="Calibri"/>
              </a:endParaRPr>
            </a:p>
          </p:txBody>
        </p:sp>
        <p:sp>
          <p:nvSpPr>
            <p:cNvPr id="14" name="object 13">
              <a:extLst>
                <a:ext uri="{FF2B5EF4-FFF2-40B4-BE49-F238E27FC236}">
                  <a16:creationId xmlns:a16="http://schemas.microsoft.com/office/drawing/2014/main" id="{1ACEEE74-E524-6C07-BFBD-B87929F29A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1800" y="4449763"/>
              <a:ext cx="731838" cy="731837"/>
            </a:xfrm>
            <a:prstGeom prst="rect">
              <a:avLst/>
            </a:prstGeom>
            <a:blipFill dpi="0" rotWithShape="1">
              <a:blip r:embed="rId6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" name="object 14">
              <a:extLst>
                <a:ext uri="{FF2B5EF4-FFF2-40B4-BE49-F238E27FC236}">
                  <a16:creationId xmlns:a16="http://schemas.microsoft.com/office/drawing/2014/main" id="{2689D09D-9C6F-6F03-8F49-95F28E6E05AA}"/>
                </a:ext>
              </a:extLst>
            </p:cNvPr>
            <p:cNvSpPr txBox="1"/>
            <p:nvPr/>
          </p:nvSpPr>
          <p:spPr>
            <a:xfrm>
              <a:off x="6859588" y="5365750"/>
              <a:ext cx="566737" cy="254000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127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b="1" dirty="0">
                  <a:solidFill>
                    <a:srgbClr val="444949"/>
                  </a:solidFill>
                  <a:latin typeface="Calibri"/>
                  <a:cs typeface="Calibri"/>
                </a:rPr>
                <a:t>D</a:t>
              </a:r>
              <a:r>
                <a:rPr b="1" spc="-30" dirty="0">
                  <a:solidFill>
                    <a:srgbClr val="444949"/>
                  </a:solidFill>
                  <a:latin typeface="Calibri"/>
                  <a:cs typeface="Calibri"/>
                </a:rPr>
                <a:t>a</a:t>
              </a:r>
              <a:r>
                <a:rPr b="1" spc="-5" dirty="0">
                  <a:solidFill>
                    <a:srgbClr val="444949"/>
                  </a:solidFill>
                  <a:latin typeface="Calibri"/>
                  <a:cs typeface="Calibri"/>
                </a:rPr>
                <a:t>v</a:t>
              </a:r>
              <a:r>
                <a:rPr b="1" spc="-10" dirty="0">
                  <a:solidFill>
                    <a:srgbClr val="444949"/>
                  </a:solidFill>
                  <a:latin typeface="Calibri"/>
                  <a:cs typeface="Calibri"/>
                </a:rPr>
                <a:t>id</a:t>
              </a:r>
              <a:endParaRPr>
                <a:latin typeface="Calibri"/>
                <a:cs typeface="Calibri"/>
              </a:endParaRPr>
            </a:p>
          </p:txBody>
        </p:sp>
        <p:sp>
          <p:nvSpPr>
            <p:cNvPr id="16" name="object 15">
              <a:extLst>
                <a:ext uri="{FF2B5EF4-FFF2-40B4-BE49-F238E27FC236}">
                  <a16:creationId xmlns:a16="http://schemas.microsoft.com/office/drawing/2014/main" id="{4BCA14BB-A334-7FB0-0C95-8F810DCD56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4025" y="4449763"/>
              <a:ext cx="731838" cy="731837"/>
            </a:xfrm>
            <a:prstGeom prst="rect">
              <a:avLst/>
            </a:prstGeom>
            <a:blipFill dpi="0" rotWithShape="1">
              <a:blip r:embed="rId7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7" name="object 16">
              <a:extLst>
                <a:ext uri="{FF2B5EF4-FFF2-40B4-BE49-F238E27FC236}">
                  <a16:creationId xmlns:a16="http://schemas.microsoft.com/office/drawing/2014/main" id="{1A8333A3-AE1E-0E5A-1D63-2E6127B1DFC5}"/>
                </a:ext>
              </a:extLst>
            </p:cNvPr>
            <p:cNvSpPr txBox="1"/>
            <p:nvPr/>
          </p:nvSpPr>
          <p:spPr>
            <a:xfrm>
              <a:off x="8116888" y="5322888"/>
              <a:ext cx="736600" cy="254000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127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b="1" spc="-40" dirty="0">
                  <a:solidFill>
                    <a:srgbClr val="444949"/>
                  </a:solidFill>
                  <a:latin typeface="Calibri"/>
                  <a:cs typeface="Calibri"/>
                </a:rPr>
                <a:t>E</a:t>
              </a:r>
              <a:r>
                <a:rPr b="1" spc="-15" dirty="0">
                  <a:solidFill>
                    <a:srgbClr val="444949"/>
                  </a:solidFill>
                  <a:latin typeface="Calibri"/>
                  <a:cs typeface="Calibri"/>
                </a:rPr>
                <a:t>d</a:t>
              </a:r>
              <a:r>
                <a:rPr b="1" spc="-25" dirty="0">
                  <a:solidFill>
                    <a:srgbClr val="444949"/>
                  </a:solidFill>
                  <a:latin typeface="Calibri"/>
                  <a:cs typeface="Calibri"/>
                </a:rPr>
                <a:t>w</a:t>
              </a:r>
              <a:r>
                <a:rPr b="1" spc="-15" dirty="0">
                  <a:solidFill>
                    <a:srgbClr val="444949"/>
                  </a:solidFill>
                  <a:latin typeface="Calibri"/>
                  <a:cs typeface="Calibri"/>
                </a:rPr>
                <a:t>a</a:t>
              </a:r>
              <a:r>
                <a:rPr b="1" spc="-25" dirty="0">
                  <a:solidFill>
                    <a:srgbClr val="444949"/>
                  </a:solidFill>
                  <a:latin typeface="Calibri"/>
                  <a:cs typeface="Calibri"/>
                </a:rPr>
                <a:t>r</a:t>
              </a:r>
              <a:r>
                <a:rPr b="1" spc="-10" dirty="0">
                  <a:solidFill>
                    <a:srgbClr val="444949"/>
                  </a:solidFill>
                  <a:latin typeface="Calibri"/>
                  <a:cs typeface="Calibri"/>
                </a:rPr>
                <a:t>d</a:t>
              </a:r>
              <a:endParaRPr>
                <a:latin typeface="Calibri"/>
                <a:cs typeface="Calibri"/>
              </a:endParaRPr>
            </a:p>
          </p:txBody>
        </p:sp>
        <p:sp>
          <p:nvSpPr>
            <p:cNvPr id="18" name="object 17">
              <a:extLst>
                <a:ext uri="{FF2B5EF4-FFF2-40B4-BE49-F238E27FC236}">
                  <a16:creationId xmlns:a16="http://schemas.microsoft.com/office/drawing/2014/main" id="{A3E2B071-8240-9C23-F3B3-5F92BB37AD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900" y="3868738"/>
              <a:ext cx="3941763" cy="2114550"/>
            </a:xfrm>
            <a:custGeom>
              <a:avLst/>
              <a:gdLst>
                <a:gd name="T0" fmla="*/ 0 w 3941445"/>
                <a:gd name="T1" fmla="*/ 352412 h 2114550"/>
                <a:gd name="T2" fmla="*/ 4612 w 3941445"/>
                <a:gd name="T3" fmla="*/ 295250 h 2114550"/>
                <a:gd name="T4" fmla="*/ 17966 w 3941445"/>
                <a:gd name="T5" fmla="*/ 241023 h 2114550"/>
                <a:gd name="T6" fmla="*/ 39336 w 3941445"/>
                <a:gd name="T7" fmla="*/ 190459 h 2114550"/>
                <a:gd name="T8" fmla="*/ 67995 w 3941445"/>
                <a:gd name="T9" fmla="*/ 144283 h 2114550"/>
                <a:gd name="T10" fmla="*/ 103220 w 3941445"/>
                <a:gd name="T11" fmla="*/ 103220 h 2114550"/>
                <a:gd name="T12" fmla="*/ 144283 w 3941445"/>
                <a:gd name="T13" fmla="*/ 67995 h 2114550"/>
                <a:gd name="T14" fmla="*/ 190459 w 3941445"/>
                <a:gd name="T15" fmla="*/ 39336 h 2114550"/>
                <a:gd name="T16" fmla="*/ 241023 w 3941445"/>
                <a:gd name="T17" fmla="*/ 17966 h 2114550"/>
                <a:gd name="T18" fmla="*/ 295250 w 3941445"/>
                <a:gd name="T19" fmla="*/ 4612 h 2114550"/>
                <a:gd name="T20" fmla="*/ 352412 w 3941445"/>
                <a:gd name="T21" fmla="*/ 0 h 2114550"/>
                <a:gd name="T22" fmla="*/ 3588532 w 3941445"/>
                <a:gd name="T23" fmla="*/ 0 h 2114550"/>
                <a:gd name="T24" fmla="*/ 3645691 w 3941445"/>
                <a:gd name="T25" fmla="*/ 4612 h 2114550"/>
                <a:gd name="T26" fmla="*/ 3699914 w 3941445"/>
                <a:gd name="T27" fmla="*/ 17966 h 2114550"/>
                <a:gd name="T28" fmla="*/ 3750477 w 3941445"/>
                <a:gd name="T29" fmla="*/ 39336 h 2114550"/>
                <a:gd name="T30" fmla="*/ 3796654 w 3941445"/>
                <a:gd name="T31" fmla="*/ 67995 h 2114550"/>
                <a:gd name="T32" fmla="*/ 3837717 w 3941445"/>
                <a:gd name="T33" fmla="*/ 103220 h 2114550"/>
                <a:gd name="T34" fmla="*/ 3872942 w 3941445"/>
                <a:gd name="T35" fmla="*/ 144283 h 2114550"/>
                <a:gd name="T36" fmla="*/ 3901603 w 3941445"/>
                <a:gd name="T37" fmla="*/ 190459 h 2114550"/>
                <a:gd name="T38" fmla="*/ 3922974 w 3941445"/>
                <a:gd name="T39" fmla="*/ 241023 h 2114550"/>
                <a:gd name="T40" fmla="*/ 3936329 w 3941445"/>
                <a:gd name="T41" fmla="*/ 295250 h 2114550"/>
                <a:gd name="T42" fmla="*/ 3940941 w 3941445"/>
                <a:gd name="T43" fmla="*/ 352412 h 2114550"/>
                <a:gd name="T44" fmla="*/ 3940941 w 3941445"/>
                <a:gd name="T45" fmla="*/ 1762030 h 2114550"/>
                <a:gd name="T46" fmla="*/ 3936329 w 3941445"/>
                <a:gd name="T47" fmla="*/ 1819196 h 2114550"/>
                <a:gd name="T48" fmla="*/ 3922974 w 3941445"/>
                <a:gd name="T49" fmla="*/ 1873425 h 2114550"/>
                <a:gd name="T50" fmla="*/ 3901603 w 3941445"/>
                <a:gd name="T51" fmla="*/ 1923991 h 2114550"/>
                <a:gd name="T52" fmla="*/ 3872942 w 3941445"/>
                <a:gd name="T53" fmla="*/ 1970169 h 2114550"/>
                <a:gd name="T54" fmla="*/ 3837717 w 3941445"/>
                <a:gd name="T55" fmla="*/ 2011233 h 2114550"/>
                <a:gd name="T56" fmla="*/ 3796654 w 3941445"/>
                <a:gd name="T57" fmla="*/ 2046458 h 2114550"/>
                <a:gd name="T58" fmla="*/ 3750477 w 3941445"/>
                <a:gd name="T59" fmla="*/ 2075119 h 2114550"/>
                <a:gd name="T60" fmla="*/ 3699914 w 3941445"/>
                <a:gd name="T61" fmla="*/ 2096488 h 2114550"/>
                <a:gd name="T62" fmla="*/ 3645691 w 3941445"/>
                <a:gd name="T63" fmla="*/ 2109842 h 2114550"/>
                <a:gd name="T64" fmla="*/ 3588532 w 3941445"/>
                <a:gd name="T65" fmla="*/ 2114455 h 2114550"/>
                <a:gd name="T66" fmla="*/ 352412 w 3941445"/>
                <a:gd name="T67" fmla="*/ 2114455 h 2114550"/>
                <a:gd name="T68" fmla="*/ 295250 w 3941445"/>
                <a:gd name="T69" fmla="*/ 2109842 h 2114550"/>
                <a:gd name="T70" fmla="*/ 241023 w 3941445"/>
                <a:gd name="T71" fmla="*/ 2096488 h 2114550"/>
                <a:gd name="T72" fmla="*/ 190459 w 3941445"/>
                <a:gd name="T73" fmla="*/ 2075119 h 2114550"/>
                <a:gd name="T74" fmla="*/ 144283 w 3941445"/>
                <a:gd name="T75" fmla="*/ 2046458 h 2114550"/>
                <a:gd name="T76" fmla="*/ 103220 w 3941445"/>
                <a:gd name="T77" fmla="*/ 2011233 h 2114550"/>
                <a:gd name="T78" fmla="*/ 67995 w 3941445"/>
                <a:gd name="T79" fmla="*/ 1970169 h 2114550"/>
                <a:gd name="T80" fmla="*/ 39336 w 3941445"/>
                <a:gd name="T81" fmla="*/ 1923991 h 2114550"/>
                <a:gd name="T82" fmla="*/ 17966 w 3941445"/>
                <a:gd name="T83" fmla="*/ 1873425 h 2114550"/>
                <a:gd name="T84" fmla="*/ 4612 w 3941445"/>
                <a:gd name="T85" fmla="*/ 1819196 h 2114550"/>
                <a:gd name="T86" fmla="*/ 0 w 3941445"/>
                <a:gd name="T87" fmla="*/ 1762030 h 2114550"/>
                <a:gd name="T88" fmla="*/ 0 w 3941445"/>
                <a:gd name="T89" fmla="*/ 352412 h 2114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941445" h="2114550">
                  <a:moveTo>
                    <a:pt x="0" y="352412"/>
                  </a:moveTo>
                  <a:lnTo>
                    <a:pt x="4612" y="295250"/>
                  </a:lnTo>
                  <a:lnTo>
                    <a:pt x="17966" y="241023"/>
                  </a:lnTo>
                  <a:lnTo>
                    <a:pt x="39336" y="190459"/>
                  </a:lnTo>
                  <a:lnTo>
                    <a:pt x="67995" y="144283"/>
                  </a:lnTo>
                  <a:lnTo>
                    <a:pt x="103220" y="103220"/>
                  </a:lnTo>
                  <a:lnTo>
                    <a:pt x="144283" y="67995"/>
                  </a:lnTo>
                  <a:lnTo>
                    <a:pt x="190459" y="39336"/>
                  </a:lnTo>
                  <a:lnTo>
                    <a:pt x="241023" y="17966"/>
                  </a:lnTo>
                  <a:lnTo>
                    <a:pt x="295250" y="4612"/>
                  </a:lnTo>
                  <a:lnTo>
                    <a:pt x="352412" y="0"/>
                  </a:lnTo>
                  <a:lnTo>
                    <a:pt x="3588532" y="0"/>
                  </a:lnTo>
                  <a:lnTo>
                    <a:pt x="3645691" y="4612"/>
                  </a:lnTo>
                  <a:lnTo>
                    <a:pt x="3699914" y="17966"/>
                  </a:lnTo>
                  <a:lnTo>
                    <a:pt x="3750477" y="39336"/>
                  </a:lnTo>
                  <a:lnTo>
                    <a:pt x="3796654" y="67995"/>
                  </a:lnTo>
                  <a:lnTo>
                    <a:pt x="3837717" y="103220"/>
                  </a:lnTo>
                  <a:lnTo>
                    <a:pt x="3872942" y="144283"/>
                  </a:lnTo>
                  <a:lnTo>
                    <a:pt x="3901603" y="190459"/>
                  </a:lnTo>
                  <a:lnTo>
                    <a:pt x="3922974" y="241023"/>
                  </a:lnTo>
                  <a:lnTo>
                    <a:pt x="3936329" y="295250"/>
                  </a:lnTo>
                  <a:lnTo>
                    <a:pt x="3940941" y="352412"/>
                  </a:lnTo>
                  <a:lnTo>
                    <a:pt x="3940941" y="1762030"/>
                  </a:lnTo>
                  <a:lnTo>
                    <a:pt x="3936329" y="1819196"/>
                  </a:lnTo>
                  <a:lnTo>
                    <a:pt x="3922974" y="1873425"/>
                  </a:lnTo>
                  <a:lnTo>
                    <a:pt x="3901603" y="1923991"/>
                  </a:lnTo>
                  <a:lnTo>
                    <a:pt x="3872942" y="1970169"/>
                  </a:lnTo>
                  <a:lnTo>
                    <a:pt x="3837717" y="2011233"/>
                  </a:lnTo>
                  <a:lnTo>
                    <a:pt x="3796654" y="2046458"/>
                  </a:lnTo>
                  <a:lnTo>
                    <a:pt x="3750477" y="2075119"/>
                  </a:lnTo>
                  <a:lnTo>
                    <a:pt x="3699914" y="2096488"/>
                  </a:lnTo>
                  <a:lnTo>
                    <a:pt x="3645691" y="2109842"/>
                  </a:lnTo>
                  <a:lnTo>
                    <a:pt x="3588532" y="2114455"/>
                  </a:lnTo>
                  <a:lnTo>
                    <a:pt x="352412" y="2114455"/>
                  </a:lnTo>
                  <a:lnTo>
                    <a:pt x="295250" y="2109842"/>
                  </a:lnTo>
                  <a:lnTo>
                    <a:pt x="241023" y="2096488"/>
                  </a:lnTo>
                  <a:lnTo>
                    <a:pt x="190459" y="2075119"/>
                  </a:lnTo>
                  <a:lnTo>
                    <a:pt x="144283" y="2046458"/>
                  </a:lnTo>
                  <a:lnTo>
                    <a:pt x="103220" y="2011233"/>
                  </a:lnTo>
                  <a:lnTo>
                    <a:pt x="67995" y="1970169"/>
                  </a:lnTo>
                  <a:lnTo>
                    <a:pt x="39336" y="1923991"/>
                  </a:lnTo>
                  <a:lnTo>
                    <a:pt x="17966" y="1873425"/>
                  </a:lnTo>
                  <a:lnTo>
                    <a:pt x="4612" y="1819196"/>
                  </a:lnTo>
                  <a:lnTo>
                    <a:pt x="0" y="1762030"/>
                  </a:lnTo>
                  <a:lnTo>
                    <a:pt x="0" y="352412"/>
                  </a:lnTo>
                  <a:close/>
                </a:path>
              </a:pathLst>
            </a:custGeom>
            <a:noFill/>
            <a:ln w="57149">
              <a:solidFill>
                <a:srgbClr val="5091D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9" name="object 18">
              <a:extLst>
                <a:ext uri="{FF2B5EF4-FFF2-40B4-BE49-F238E27FC236}">
                  <a16:creationId xmlns:a16="http://schemas.microsoft.com/office/drawing/2014/main" id="{10C61159-017D-6306-F918-1033A8EF7476}"/>
                </a:ext>
              </a:extLst>
            </p:cNvPr>
            <p:cNvSpPr txBox="1"/>
            <p:nvPr/>
          </p:nvSpPr>
          <p:spPr>
            <a:xfrm>
              <a:off x="1287463" y="4043363"/>
              <a:ext cx="1793875" cy="254000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127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b="1" dirty="0">
                  <a:solidFill>
                    <a:srgbClr val="444949"/>
                  </a:solidFill>
                  <a:latin typeface="Calibri"/>
                  <a:cs typeface="Calibri"/>
                </a:rPr>
                <a:t>G</a:t>
              </a:r>
              <a:r>
                <a:rPr b="1" spc="-25" dirty="0">
                  <a:solidFill>
                    <a:srgbClr val="444949"/>
                  </a:solidFill>
                  <a:latin typeface="Calibri"/>
                  <a:cs typeface="Calibri"/>
                </a:rPr>
                <a:t>r</a:t>
              </a:r>
              <a:r>
                <a:rPr b="1" spc="-15" dirty="0">
                  <a:solidFill>
                    <a:srgbClr val="444949"/>
                  </a:solidFill>
                  <a:latin typeface="Calibri"/>
                  <a:cs typeface="Calibri"/>
                </a:rPr>
                <a:t>oup</a:t>
              </a:r>
              <a:r>
                <a:rPr b="1" spc="-5" dirty="0">
                  <a:solidFill>
                    <a:srgbClr val="444949"/>
                  </a:solidFill>
                  <a:latin typeface="Calibri"/>
                  <a:cs typeface="Calibri"/>
                </a:rPr>
                <a:t>:</a:t>
              </a:r>
              <a:r>
                <a:rPr b="1" spc="-35" dirty="0">
                  <a:solidFill>
                    <a:srgbClr val="444949"/>
                  </a:solidFill>
                  <a:latin typeface="Times New Roman"/>
                  <a:cs typeface="Times New Roman"/>
                </a:rPr>
                <a:t> </a:t>
              </a:r>
              <a:r>
                <a:rPr b="1" dirty="0">
                  <a:solidFill>
                    <a:srgbClr val="444949"/>
                  </a:solidFill>
                  <a:latin typeface="Calibri"/>
                  <a:cs typeface="Calibri"/>
                </a:rPr>
                <a:t>D</a:t>
              </a:r>
              <a:r>
                <a:rPr b="1" spc="-20" dirty="0">
                  <a:solidFill>
                    <a:srgbClr val="444949"/>
                  </a:solidFill>
                  <a:latin typeface="Calibri"/>
                  <a:cs typeface="Calibri"/>
                </a:rPr>
                <a:t>ev</a:t>
              </a:r>
              <a:r>
                <a:rPr b="1" spc="-10" dirty="0">
                  <a:solidFill>
                    <a:srgbClr val="444949"/>
                  </a:solidFill>
                  <a:latin typeface="Calibri"/>
                  <a:cs typeface="Calibri"/>
                </a:rPr>
                <a:t>e</a:t>
              </a:r>
              <a:r>
                <a:rPr b="1" spc="-15" dirty="0">
                  <a:solidFill>
                    <a:srgbClr val="444949"/>
                  </a:solidFill>
                  <a:latin typeface="Calibri"/>
                  <a:cs typeface="Calibri"/>
                </a:rPr>
                <a:t>lop</a:t>
              </a:r>
              <a:r>
                <a:rPr b="1" spc="-10" dirty="0">
                  <a:solidFill>
                    <a:srgbClr val="444949"/>
                  </a:solidFill>
                  <a:latin typeface="Calibri"/>
                  <a:cs typeface="Calibri"/>
                </a:rPr>
                <a:t>e</a:t>
              </a:r>
              <a:r>
                <a:rPr b="1" spc="-25" dirty="0">
                  <a:solidFill>
                    <a:srgbClr val="444949"/>
                  </a:solidFill>
                  <a:latin typeface="Calibri"/>
                  <a:cs typeface="Calibri"/>
                </a:rPr>
                <a:t>r</a:t>
              </a:r>
              <a:r>
                <a:rPr b="1" spc="-10" dirty="0">
                  <a:solidFill>
                    <a:srgbClr val="444949"/>
                  </a:solidFill>
                  <a:latin typeface="Calibri"/>
                  <a:cs typeface="Calibri"/>
                </a:rPr>
                <a:t>s</a:t>
              </a:r>
              <a:endParaRPr dirty="0">
                <a:latin typeface="Calibri"/>
                <a:cs typeface="Calibri"/>
              </a:endParaRPr>
            </a:p>
          </p:txBody>
        </p:sp>
        <p:sp>
          <p:nvSpPr>
            <p:cNvPr id="20" name="object 19">
              <a:extLst>
                <a:ext uri="{FF2B5EF4-FFF2-40B4-BE49-F238E27FC236}">
                  <a16:creationId xmlns:a16="http://schemas.microsoft.com/office/drawing/2014/main" id="{D10A921E-69B9-0284-A0BC-1A53141F2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4125" y="3868738"/>
              <a:ext cx="3298825" cy="2114550"/>
            </a:xfrm>
            <a:custGeom>
              <a:avLst/>
              <a:gdLst>
                <a:gd name="T0" fmla="*/ 0 w 3299459"/>
                <a:gd name="T1" fmla="*/ 352412 h 2114550"/>
                <a:gd name="T2" fmla="*/ 4612 w 3299459"/>
                <a:gd name="T3" fmla="*/ 295250 h 2114550"/>
                <a:gd name="T4" fmla="*/ 17967 w 3299459"/>
                <a:gd name="T5" fmla="*/ 241023 h 2114550"/>
                <a:gd name="T6" fmla="*/ 39338 w 3299459"/>
                <a:gd name="T7" fmla="*/ 190459 h 2114550"/>
                <a:gd name="T8" fmla="*/ 67999 w 3299459"/>
                <a:gd name="T9" fmla="*/ 144283 h 2114550"/>
                <a:gd name="T10" fmla="*/ 103224 w 3299459"/>
                <a:gd name="T11" fmla="*/ 103220 h 2114550"/>
                <a:gd name="T12" fmla="*/ 144287 w 3299459"/>
                <a:gd name="T13" fmla="*/ 67995 h 2114550"/>
                <a:gd name="T14" fmla="*/ 190464 w 3299459"/>
                <a:gd name="T15" fmla="*/ 39336 h 2114550"/>
                <a:gd name="T16" fmla="*/ 241027 w 3299459"/>
                <a:gd name="T17" fmla="*/ 17966 h 2114550"/>
                <a:gd name="T18" fmla="*/ 295250 w 3299459"/>
                <a:gd name="T19" fmla="*/ 4612 h 2114550"/>
                <a:gd name="T20" fmla="*/ 352409 w 3299459"/>
                <a:gd name="T21" fmla="*/ 0 h 2114550"/>
                <a:gd name="T22" fmla="*/ 2947050 w 3299459"/>
                <a:gd name="T23" fmla="*/ 0 h 2114550"/>
                <a:gd name="T24" fmla="*/ 3004216 w 3299459"/>
                <a:gd name="T25" fmla="*/ 4612 h 2114550"/>
                <a:gd name="T26" fmla="*/ 3058444 w 3299459"/>
                <a:gd name="T27" fmla="*/ 17966 h 2114550"/>
                <a:gd name="T28" fmla="*/ 3109009 w 3299459"/>
                <a:gd name="T29" fmla="*/ 39336 h 2114550"/>
                <a:gd name="T30" fmla="*/ 3155185 w 3299459"/>
                <a:gd name="T31" fmla="*/ 67995 h 2114550"/>
                <a:gd name="T32" fmla="*/ 3196247 w 3299459"/>
                <a:gd name="T33" fmla="*/ 103220 h 2114550"/>
                <a:gd name="T34" fmla="*/ 3231469 w 3299459"/>
                <a:gd name="T35" fmla="*/ 144283 h 2114550"/>
                <a:gd name="T36" fmla="*/ 3260127 w 3299459"/>
                <a:gd name="T37" fmla="*/ 190459 h 2114550"/>
                <a:gd name="T38" fmla="*/ 3281495 w 3299459"/>
                <a:gd name="T39" fmla="*/ 241023 h 2114550"/>
                <a:gd name="T40" fmla="*/ 3294847 w 3299459"/>
                <a:gd name="T41" fmla="*/ 295250 h 2114550"/>
                <a:gd name="T42" fmla="*/ 3299459 w 3299459"/>
                <a:gd name="T43" fmla="*/ 352412 h 2114550"/>
                <a:gd name="T44" fmla="*/ 3299459 w 3299459"/>
                <a:gd name="T45" fmla="*/ 1762042 h 2114550"/>
                <a:gd name="T46" fmla="*/ 3294847 w 3299459"/>
                <a:gd name="T47" fmla="*/ 1819205 h 2114550"/>
                <a:gd name="T48" fmla="*/ 3281495 w 3299459"/>
                <a:gd name="T49" fmla="*/ 1873431 h 2114550"/>
                <a:gd name="T50" fmla="*/ 3260127 w 3299459"/>
                <a:gd name="T51" fmla="*/ 1923995 h 2114550"/>
                <a:gd name="T52" fmla="*/ 3231469 w 3299459"/>
                <a:gd name="T53" fmla="*/ 1970172 h 2114550"/>
                <a:gd name="T54" fmla="*/ 3196247 w 3299459"/>
                <a:gd name="T55" fmla="*/ 2011235 h 2114550"/>
                <a:gd name="T56" fmla="*/ 3155185 w 3299459"/>
                <a:gd name="T57" fmla="*/ 2046459 h 2114550"/>
                <a:gd name="T58" fmla="*/ 3109009 w 3299459"/>
                <a:gd name="T59" fmla="*/ 2075119 h 2114550"/>
                <a:gd name="T60" fmla="*/ 3058444 w 3299459"/>
                <a:gd name="T61" fmla="*/ 2096489 h 2114550"/>
                <a:gd name="T62" fmla="*/ 3004216 w 3299459"/>
                <a:gd name="T63" fmla="*/ 2109842 h 2114550"/>
                <a:gd name="T64" fmla="*/ 2947050 w 3299459"/>
                <a:gd name="T65" fmla="*/ 2114455 h 2114550"/>
                <a:gd name="T66" fmla="*/ 352409 w 3299459"/>
                <a:gd name="T67" fmla="*/ 2114455 h 2114550"/>
                <a:gd name="T68" fmla="*/ 295250 w 3299459"/>
                <a:gd name="T69" fmla="*/ 2109842 h 2114550"/>
                <a:gd name="T70" fmla="*/ 241027 w 3299459"/>
                <a:gd name="T71" fmla="*/ 2096489 h 2114550"/>
                <a:gd name="T72" fmla="*/ 190464 w 3299459"/>
                <a:gd name="T73" fmla="*/ 2075119 h 2114550"/>
                <a:gd name="T74" fmla="*/ 144287 w 3299459"/>
                <a:gd name="T75" fmla="*/ 2046459 h 2114550"/>
                <a:gd name="T76" fmla="*/ 103224 w 3299459"/>
                <a:gd name="T77" fmla="*/ 2011235 h 2114550"/>
                <a:gd name="T78" fmla="*/ 67999 w 3299459"/>
                <a:gd name="T79" fmla="*/ 1970172 h 2114550"/>
                <a:gd name="T80" fmla="*/ 39338 w 3299459"/>
                <a:gd name="T81" fmla="*/ 1923995 h 2114550"/>
                <a:gd name="T82" fmla="*/ 17967 w 3299459"/>
                <a:gd name="T83" fmla="*/ 1873431 h 2114550"/>
                <a:gd name="T84" fmla="*/ 4612 w 3299459"/>
                <a:gd name="T85" fmla="*/ 1819205 h 2114550"/>
                <a:gd name="T86" fmla="*/ 0 w 3299459"/>
                <a:gd name="T87" fmla="*/ 1762042 h 2114550"/>
                <a:gd name="T88" fmla="*/ 0 w 3299459"/>
                <a:gd name="T89" fmla="*/ 352412 h 2114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299459" h="2114550">
                  <a:moveTo>
                    <a:pt x="0" y="352412"/>
                  </a:moveTo>
                  <a:lnTo>
                    <a:pt x="4612" y="295250"/>
                  </a:lnTo>
                  <a:lnTo>
                    <a:pt x="17967" y="241023"/>
                  </a:lnTo>
                  <a:lnTo>
                    <a:pt x="39338" y="190459"/>
                  </a:lnTo>
                  <a:lnTo>
                    <a:pt x="67999" y="144283"/>
                  </a:lnTo>
                  <a:lnTo>
                    <a:pt x="103224" y="103220"/>
                  </a:lnTo>
                  <a:lnTo>
                    <a:pt x="144287" y="67995"/>
                  </a:lnTo>
                  <a:lnTo>
                    <a:pt x="190464" y="39336"/>
                  </a:lnTo>
                  <a:lnTo>
                    <a:pt x="241027" y="17966"/>
                  </a:lnTo>
                  <a:lnTo>
                    <a:pt x="295250" y="4612"/>
                  </a:lnTo>
                  <a:lnTo>
                    <a:pt x="352409" y="0"/>
                  </a:lnTo>
                  <a:lnTo>
                    <a:pt x="2947050" y="0"/>
                  </a:lnTo>
                  <a:lnTo>
                    <a:pt x="3004216" y="4612"/>
                  </a:lnTo>
                  <a:lnTo>
                    <a:pt x="3058444" y="17966"/>
                  </a:lnTo>
                  <a:lnTo>
                    <a:pt x="3109009" y="39336"/>
                  </a:lnTo>
                  <a:lnTo>
                    <a:pt x="3155185" y="67995"/>
                  </a:lnTo>
                  <a:lnTo>
                    <a:pt x="3196247" y="103220"/>
                  </a:lnTo>
                  <a:lnTo>
                    <a:pt x="3231469" y="144283"/>
                  </a:lnTo>
                  <a:lnTo>
                    <a:pt x="3260127" y="190459"/>
                  </a:lnTo>
                  <a:lnTo>
                    <a:pt x="3281495" y="241023"/>
                  </a:lnTo>
                  <a:lnTo>
                    <a:pt x="3294847" y="295250"/>
                  </a:lnTo>
                  <a:lnTo>
                    <a:pt x="3299459" y="352412"/>
                  </a:lnTo>
                  <a:lnTo>
                    <a:pt x="3299459" y="1762042"/>
                  </a:lnTo>
                  <a:lnTo>
                    <a:pt x="3294847" y="1819205"/>
                  </a:lnTo>
                  <a:lnTo>
                    <a:pt x="3281495" y="1873431"/>
                  </a:lnTo>
                  <a:lnTo>
                    <a:pt x="3260127" y="1923995"/>
                  </a:lnTo>
                  <a:lnTo>
                    <a:pt x="3231469" y="1970172"/>
                  </a:lnTo>
                  <a:lnTo>
                    <a:pt x="3196247" y="2011235"/>
                  </a:lnTo>
                  <a:lnTo>
                    <a:pt x="3155185" y="2046459"/>
                  </a:lnTo>
                  <a:lnTo>
                    <a:pt x="3109009" y="2075119"/>
                  </a:lnTo>
                  <a:lnTo>
                    <a:pt x="3058444" y="2096489"/>
                  </a:lnTo>
                  <a:lnTo>
                    <a:pt x="3004216" y="2109842"/>
                  </a:lnTo>
                  <a:lnTo>
                    <a:pt x="2947050" y="2114455"/>
                  </a:lnTo>
                  <a:lnTo>
                    <a:pt x="352409" y="2114455"/>
                  </a:lnTo>
                  <a:lnTo>
                    <a:pt x="295250" y="2109842"/>
                  </a:lnTo>
                  <a:lnTo>
                    <a:pt x="241027" y="2096489"/>
                  </a:lnTo>
                  <a:lnTo>
                    <a:pt x="190464" y="2075119"/>
                  </a:lnTo>
                  <a:lnTo>
                    <a:pt x="144287" y="2046459"/>
                  </a:lnTo>
                  <a:lnTo>
                    <a:pt x="103224" y="2011235"/>
                  </a:lnTo>
                  <a:lnTo>
                    <a:pt x="67999" y="1970172"/>
                  </a:lnTo>
                  <a:lnTo>
                    <a:pt x="39338" y="1923995"/>
                  </a:lnTo>
                  <a:lnTo>
                    <a:pt x="17967" y="1873431"/>
                  </a:lnTo>
                  <a:lnTo>
                    <a:pt x="4612" y="1819205"/>
                  </a:lnTo>
                  <a:lnTo>
                    <a:pt x="0" y="1762042"/>
                  </a:lnTo>
                  <a:lnTo>
                    <a:pt x="0" y="352412"/>
                  </a:lnTo>
                  <a:close/>
                </a:path>
              </a:pathLst>
            </a:custGeom>
            <a:noFill/>
            <a:ln w="57149">
              <a:solidFill>
                <a:srgbClr val="F6980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1" name="object 20">
              <a:extLst>
                <a:ext uri="{FF2B5EF4-FFF2-40B4-BE49-F238E27FC236}">
                  <a16:creationId xmlns:a16="http://schemas.microsoft.com/office/drawing/2014/main" id="{DE2669A0-04AC-5B85-F73B-598CC8D65FB0}"/>
                </a:ext>
              </a:extLst>
            </p:cNvPr>
            <p:cNvSpPr txBox="1"/>
            <p:nvPr/>
          </p:nvSpPr>
          <p:spPr>
            <a:xfrm>
              <a:off x="7672388" y="4043363"/>
              <a:ext cx="1779587" cy="254000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127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b="1" dirty="0">
                  <a:solidFill>
                    <a:srgbClr val="444949"/>
                  </a:solidFill>
                  <a:latin typeface="Calibri"/>
                  <a:cs typeface="Calibri"/>
                </a:rPr>
                <a:t>G</a:t>
              </a:r>
              <a:r>
                <a:rPr b="1" spc="-25" dirty="0">
                  <a:solidFill>
                    <a:srgbClr val="444949"/>
                  </a:solidFill>
                  <a:latin typeface="Calibri"/>
                  <a:cs typeface="Calibri"/>
                </a:rPr>
                <a:t>r</a:t>
              </a:r>
              <a:r>
                <a:rPr b="1" spc="-15" dirty="0">
                  <a:solidFill>
                    <a:srgbClr val="444949"/>
                  </a:solidFill>
                  <a:latin typeface="Calibri"/>
                  <a:cs typeface="Calibri"/>
                </a:rPr>
                <a:t>oup</a:t>
              </a:r>
              <a:r>
                <a:rPr b="1" spc="-5" dirty="0">
                  <a:solidFill>
                    <a:srgbClr val="444949"/>
                  </a:solidFill>
                  <a:latin typeface="Calibri"/>
                  <a:cs typeface="Calibri"/>
                </a:rPr>
                <a:t>:</a:t>
              </a:r>
              <a:r>
                <a:rPr b="1" spc="-35" dirty="0">
                  <a:solidFill>
                    <a:srgbClr val="444949"/>
                  </a:solidFill>
                  <a:latin typeface="Times New Roman"/>
                  <a:cs typeface="Times New Roman"/>
                </a:rPr>
                <a:t> </a:t>
              </a:r>
              <a:r>
                <a:rPr b="1" spc="-5" dirty="0">
                  <a:solidFill>
                    <a:srgbClr val="444949"/>
                  </a:solidFill>
                  <a:latin typeface="Calibri"/>
                  <a:cs typeface="Calibri"/>
                </a:rPr>
                <a:t>O</a:t>
              </a:r>
              <a:r>
                <a:rPr b="1" spc="-15" dirty="0">
                  <a:solidFill>
                    <a:srgbClr val="444949"/>
                  </a:solidFill>
                  <a:latin typeface="Calibri"/>
                  <a:cs typeface="Calibri"/>
                </a:rPr>
                <a:t>p</a:t>
              </a:r>
              <a:r>
                <a:rPr b="1" spc="-10" dirty="0">
                  <a:solidFill>
                    <a:srgbClr val="444949"/>
                  </a:solidFill>
                  <a:latin typeface="Calibri"/>
                  <a:cs typeface="Calibri"/>
                </a:rPr>
                <a:t>e</a:t>
              </a:r>
              <a:r>
                <a:rPr b="1" spc="-45" dirty="0">
                  <a:solidFill>
                    <a:srgbClr val="444949"/>
                  </a:solidFill>
                  <a:latin typeface="Calibri"/>
                  <a:cs typeface="Calibri"/>
                </a:rPr>
                <a:t>r</a:t>
              </a:r>
              <a:r>
                <a:rPr b="1" spc="-30" dirty="0">
                  <a:solidFill>
                    <a:srgbClr val="444949"/>
                  </a:solidFill>
                  <a:latin typeface="Calibri"/>
                  <a:cs typeface="Calibri"/>
                </a:rPr>
                <a:t>a</a:t>
              </a:r>
              <a:r>
                <a:rPr b="1" spc="-10" dirty="0">
                  <a:solidFill>
                    <a:srgbClr val="444949"/>
                  </a:solidFill>
                  <a:latin typeface="Calibri"/>
                  <a:cs typeface="Calibri"/>
                </a:rPr>
                <a:t>t</a:t>
              </a:r>
              <a:r>
                <a:rPr b="1" spc="-15" dirty="0">
                  <a:solidFill>
                    <a:srgbClr val="444949"/>
                  </a:solidFill>
                  <a:latin typeface="Calibri"/>
                  <a:cs typeface="Calibri"/>
                </a:rPr>
                <a:t>ion</a:t>
              </a:r>
              <a:r>
                <a:rPr b="1" spc="-10" dirty="0">
                  <a:solidFill>
                    <a:srgbClr val="444949"/>
                  </a:solidFill>
                  <a:latin typeface="Calibri"/>
                  <a:cs typeface="Calibri"/>
                </a:rPr>
                <a:t>s</a:t>
              </a:r>
              <a:endParaRPr>
                <a:latin typeface="Calibri"/>
                <a:cs typeface="Calibri"/>
              </a:endParaRPr>
            </a:p>
          </p:txBody>
        </p:sp>
        <p:sp>
          <p:nvSpPr>
            <p:cNvPr id="22" name="object 21">
              <a:extLst>
                <a:ext uri="{FF2B5EF4-FFF2-40B4-BE49-F238E27FC236}">
                  <a16:creationId xmlns:a16="http://schemas.microsoft.com/office/drawing/2014/main" id="{22D9F34F-150C-A6C8-FCED-88C96D253E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5550" y="4041775"/>
              <a:ext cx="3862388" cy="1722438"/>
            </a:xfrm>
            <a:custGeom>
              <a:avLst/>
              <a:gdLst>
                <a:gd name="T0" fmla="*/ 0 w 3862070"/>
                <a:gd name="T1" fmla="*/ 287191 h 1723389"/>
                <a:gd name="T2" fmla="*/ 3758 w 3862070"/>
                <a:gd name="T3" fmla="*/ 240606 h 1723389"/>
                <a:gd name="T4" fmla="*/ 14639 w 3862070"/>
                <a:gd name="T5" fmla="*/ 196414 h 1723389"/>
                <a:gd name="T6" fmla="*/ 32052 w 3862070"/>
                <a:gd name="T7" fmla="*/ 155207 h 1723389"/>
                <a:gd name="T8" fmla="*/ 55406 w 3862070"/>
                <a:gd name="T9" fmla="*/ 117577 h 1723389"/>
                <a:gd name="T10" fmla="*/ 84109 w 3862070"/>
                <a:gd name="T11" fmla="*/ 84114 h 1723389"/>
                <a:gd name="T12" fmla="*/ 117571 w 3862070"/>
                <a:gd name="T13" fmla="*/ 55409 h 1723389"/>
                <a:gd name="T14" fmla="*/ 155200 w 3862070"/>
                <a:gd name="T15" fmla="*/ 32054 h 1723389"/>
                <a:gd name="T16" fmla="*/ 196406 w 3862070"/>
                <a:gd name="T17" fmla="*/ 14640 h 1723389"/>
                <a:gd name="T18" fmla="*/ 240597 w 3862070"/>
                <a:gd name="T19" fmla="*/ 3758 h 1723389"/>
                <a:gd name="T20" fmla="*/ 287182 w 3862070"/>
                <a:gd name="T21" fmla="*/ 0 h 1723389"/>
                <a:gd name="T22" fmla="*/ 3574755 w 3862070"/>
                <a:gd name="T23" fmla="*/ 0 h 1723389"/>
                <a:gd name="T24" fmla="*/ 3621340 w 3862070"/>
                <a:gd name="T25" fmla="*/ 3758 h 1723389"/>
                <a:gd name="T26" fmla="*/ 3665531 w 3862070"/>
                <a:gd name="T27" fmla="*/ 14640 h 1723389"/>
                <a:gd name="T28" fmla="*/ 3706737 w 3862070"/>
                <a:gd name="T29" fmla="*/ 32054 h 1723389"/>
                <a:gd name="T30" fmla="*/ 3744366 w 3862070"/>
                <a:gd name="T31" fmla="*/ 55409 h 1723389"/>
                <a:gd name="T32" fmla="*/ 3777828 w 3862070"/>
                <a:gd name="T33" fmla="*/ 84114 h 1723389"/>
                <a:gd name="T34" fmla="*/ 3806531 w 3862070"/>
                <a:gd name="T35" fmla="*/ 117577 h 1723389"/>
                <a:gd name="T36" fmla="*/ 3829885 w 3862070"/>
                <a:gd name="T37" fmla="*/ 155207 h 1723389"/>
                <a:gd name="T38" fmla="*/ 3847298 w 3862070"/>
                <a:gd name="T39" fmla="*/ 196414 h 1723389"/>
                <a:gd name="T40" fmla="*/ 3858179 w 3862070"/>
                <a:gd name="T41" fmla="*/ 240606 h 1723389"/>
                <a:gd name="T42" fmla="*/ 3861937 w 3862070"/>
                <a:gd name="T43" fmla="*/ 287191 h 1723389"/>
                <a:gd name="T44" fmla="*/ 3861937 w 3862070"/>
                <a:gd name="T45" fmla="*/ 1435870 h 1723389"/>
                <a:gd name="T46" fmla="*/ 3858179 w 3862070"/>
                <a:gd name="T47" fmla="*/ 1482451 h 1723389"/>
                <a:gd name="T48" fmla="*/ 3847298 w 3862070"/>
                <a:gd name="T49" fmla="*/ 1526640 h 1723389"/>
                <a:gd name="T50" fmla="*/ 3829885 w 3862070"/>
                <a:gd name="T51" fmla="*/ 1567844 h 1723389"/>
                <a:gd name="T52" fmla="*/ 3806531 w 3862070"/>
                <a:gd name="T53" fmla="*/ 1605473 h 1723389"/>
                <a:gd name="T54" fmla="*/ 3777828 w 3862070"/>
                <a:gd name="T55" fmla="*/ 1638935 h 1723389"/>
                <a:gd name="T56" fmla="*/ 3744366 w 3862070"/>
                <a:gd name="T57" fmla="*/ 1667639 h 1723389"/>
                <a:gd name="T58" fmla="*/ 3706737 w 3862070"/>
                <a:gd name="T59" fmla="*/ 1690994 h 1723389"/>
                <a:gd name="T60" fmla="*/ 3665531 w 3862070"/>
                <a:gd name="T61" fmla="*/ 1708408 h 1723389"/>
                <a:gd name="T62" fmla="*/ 3621340 w 3862070"/>
                <a:gd name="T63" fmla="*/ 1719290 h 1723389"/>
                <a:gd name="T64" fmla="*/ 3574755 w 3862070"/>
                <a:gd name="T65" fmla="*/ 1723049 h 1723389"/>
                <a:gd name="T66" fmla="*/ 287182 w 3862070"/>
                <a:gd name="T67" fmla="*/ 1723049 h 1723389"/>
                <a:gd name="T68" fmla="*/ 240597 w 3862070"/>
                <a:gd name="T69" fmla="*/ 1719290 h 1723389"/>
                <a:gd name="T70" fmla="*/ 196406 w 3862070"/>
                <a:gd name="T71" fmla="*/ 1708408 h 1723389"/>
                <a:gd name="T72" fmla="*/ 155200 w 3862070"/>
                <a:gd name="T73" fmla="*/ 1690994 h 1723389"/>
                <a:gd name="T74" fmla="*/ 117571 w 3862070"/>
                <a:gd name="T75" fmla="*/ 1667639 h 1723389"/>
                <a:gd name="T76" fmla="*/ 84109 w 3862070"/>
                <a:gd name="T77" fmla="*/ 1638935 h 1723389"/>
                <a:gd name="T78" fmla="*/ 55406 w 3862070"/>
                <a:gd name="T79" fmla="*/ 1605473 h 1723389"/>
                <a:gd name="T80" fmla="*/ 32052 w 3862070"/>
                <a:gd name="T81" fmla="*/ 1567844 h 1723389"/>
                <a:gd name="T82" fmla="*/ 14639 w 3862070"/>
                <a:gd name="T83" fmla="*/ 1526640 h 1723389"/>
                <a:gd name="T84" fmla="*/ 3758 w 3862070"/>
                <a:gd name="T85" fmla="*/ 1482451 h 1723389"/>
                <a:gd name="T86" fmla="*/ 0 w 3862070"/>
                <a:gd name="T87" fmla="*/ 1435870 h 1723389"/>
                <a:gd name="T88" fmla="*/ 0 w 3862070"/>
                <a:gd name="T89" fmla="*/ 287191 h 17233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862070" h="1723389">
                  <a:moveTo>
                    <a:pt x="0" y="287191"/>
                  </a:moveTo>
                  <a:lnTo>
                    <a:pt x="3758" y="240606"/>
                  </a:lnTo>
                  <a:lnTo>
                    <a:pt x="14639" y="196414"/>
                  </a:lnTo>
                  <a:lnTo>
                    <a:pt x="32052" y="155207"/>
                  </a:lnTo>
                  <a:lnTo>
                    <a:pt x="55406" y="117577"/>
                  </a:lnTo>
                  <a:lnTo>
                    <a:pt x="84109" y="84114"/>
                  </a:lnTo>
                  <a:lnTo>
                    <a:pt x="117571" y="55409"/>
                  </a:lnTo>
                  <a:lnTo>
                    <a:pt x="155200" y="32054"/>
                  </a:lnTo>
                  <a:lnTo>
                    <a:pt x="196406" y="14640"/>
                  </a:lnTo>
                  <a:lnTo>
                    <a:pt x="240597" y="3758"/>
                  </a:lnTo>
                  <a:lnTo>
                    <a:pt x="287182" y="0"/>
                  </a:lnTo>
                  <a:lnTo>
                    <a:pt x="3574755" y="0"/>
                  </a:lnTo>
                  <a:lnTo>
                    <a:pt x="3621340" y="3758"/>
                  </a:lnTo>
                  <a:lnTo>
                    <a:pt x="3665531" y="14640"/>
                  </a:lnTo>
                  <a:lnTo>
                    <a:pt x="3706737" y="32054"/>
                  </a:lnTo>
                  <a:lnTo>
                    <a:pt x="3744366" y="55409"/>
                  </a:lnTo>
                  <a:lnTo>
                    <a:pt x="3777828" y="84114"/>
                  </a:lnTo>
                  <a:lnTo>
                    <a:pt x="3806531" y="117577"/>
                  </a:lnTo>
                  <a:lnTo>
                    <a:pt x="3829885" y="155207"/>
                  </a:lnTo>
                  <a:lnTo>
                    <a:pt x="3847298" y="196414"/>
                  </a:lnTo>
                  <a:lnTo>
                    <a:pt x="3858179" y="240606"/>
                  </a:lnTo>
                  <a:lnTo>
                    <a:pt x="3861937" y="287191"/>
                  </a:lnTo>
                  <a:lnTo>
                    <a:pt x="3861937" y="1435870"/>
                  </a:lnTo>
                  <a:lnTo>
                    <a:pt x="3858179" y="1482451"/>
                  </a:lnTo>
                  <a:lnTo>
                    <a:pt x="3847298" y="1526640"/>
                  </a:lnTo>
                  <a:lnTo>
                    <a:pt x="3829885" y="1567844"/>
                  </a:lnTo>
                  <a:lnTo>
                    <a:pt x="3806531" y="1605473"/>
                  </a:lnTo>
                  <a:lnTo>
                    <a:pt x="3777828" y="1638935"/>
                  </a:lnTo>
                  <a:lnTo>
                    <a:pt x="3744366" y="1667639"/>
                  </a:lnTo>
                  <a:lnTo>
                    <a:pt x="3706737" y="1690994"/>
                  </a:lnTo>
                  <a:lnTo>
                    <a:pt x="3665531" y="1708408"/>
                  </a:lnTo>
                  <a:lnTo>
                    <a:pt x="3621340" y="1719290"/>
                  </a:lnTo>
                  <a:lnTo>
                    <a:pt x="3574755" y="1723049"/>
                  </a:lnTo>
                  <a:lnTo>
                    <a:pt x="287182" y="1723049"/>
                  </a:lnTo>
                  <a:lnTo>
                    <a:pt x="240597" y="1719290"/>
                  </a:lnTo>
                  <a:lnTo>
                    <a:pt x="196406" y="1708408"/>
                  </a:lnTo>
                  <a:lnTo>
                    <a:pt x="155200" y="1690994"/>
                  </a:lnTo>
                  <a:lnTo>
                    <a:pt x="117571" y="1667639"/>
                  </a:lnTo>
                  <a:lnTo>
                    <a:pt x="84109" y="1638935"/>
                  </a:lnTo>
                  <a:lnTo>
                    <a:pt x="55406" y="1605473"/>
                  </a:lnTo>
                  <a:lnTo>
                    <a:pt x="32052" y="1567844"/>
                  </a:lnTo>
                  <a:lnTo>
                    <a:pt x="14639" y="1526640"/>
                  </a:lnTo>
                  <a:lnTo>
                    <a:pt x="3758" y="1482451"/>
                  </a:lnTo>
                  <a:lnTo>
                    <a:pt x="0" y="1435870"/>
                  </a:lnTo>
                  <a:lnTo>
                    <a:pt x="0" y="287191"/>
                  </a:lnTo>
                  <a:close/>
                </a:path>
              </a:pathLst>
            </a:custGeom>
            <a:noFill/>
            <a:ln w="57149">
              <a:solidFill>
                <a:srgbClr val="70AD4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3" name="object 22">
              <a:extLst>
                <a:ext uri="{FF2B5EF4-FFF2-40B4-BE49-F238E27FC236}">
                  <a16:creationId xmlns:a16="http://schemas.microsoft.com/office/drawing/2014/main" id="{92A1E41C-D3C0-E537-A759-6E1D0AF6310A}"/>
                </a:ext>
              </a:extLst>
            </p:cNvPr>
            <p:cNvSpPr txBox="1"/>
            <p:nvPr/>
          </p:nvSpPr>
          <p:spPr>
            <a:xfrm>
              <a:off x="5172075" y="4195763"/>
              <a:ext cx="1101725" cy="522287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>
              <a:lvl1pPr marL="12700" indent="2159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ts val="2113"/>
                </a:lnSpc>
              </a:pPr>
              <a:r>
                <a:rPr lang="en-US" altLang="en-US" b="1">
                  <a:solidFill>
                    <a:srgbClr val="444949"/>
                  </a:solidFill>
                  <a:cs typeface="Calibri" panose="020F0502020204030204" pitchFamily="34" charset="0"/>
                </a:rPr>
                <a:t>Group</a:t>
              </a:r>
              <a:r>
                <a:rPr lang="en-US" altLang="en-US" b="1">
                  <a:solidFill>
                    <a:srgbClr val="44494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b="1">
                  <a:solidFill>
                    <a:srgbClr val="444949"/>
                  </a:solidFill>
                  <a:cs typeface="Calibri" panose="020F0502020204030204" pitchFamily="34" charset="0"/>
                </a:rPr>
                <a:t>Audit</a:t>
              </a:r>
              <a:r>
                <a:rPr lang="en-US" altLang="en-US" b="1">
                  <a:solidFill>
                    <a:srgbClr val="44494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b="1">
                  <a:solidFill>
                    <a:srgbClr val="444949"/>
                  </a:solidFill>
                  <a:cs typeface="Calibri" panose="020F0502020204030204" pitchFamily="34" charset="0"/>
                </a:rPr>
                <a:t>Team</a:t>
              </a:r>
              <a:endParaRPr lang="en-US" altLang="en-US">
                <a:cs typeface="Calibri" panose="020F0502020204030204" pitchFamily="34" charset="0"/>
              </a:endParaRPr>
            </a:p>
          </p:txBody>
        </p:sp>
        <p:sp>
          <p:nvSpPr>
            <p:cNvPr id="24" name="object 23">
              <a:extLst>
                <a:ext uri="{FF2B5EF4-FFF2-40B4-BE49-F238E27FC236}">
                  <a16:creationId xmlns:a16="http://schemas.microsoft.com/office/drawing/2014/main" id="{87DC543B-93EE-0E77-1F19-D8B952BD0E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75850" y="4449763"/>
              <a:ext cx="731838" cy="731837"/>
            </a:xfrm>
            <a:prstGeom prst="rect">
              <a:avLst/>
            </a:prstGeom>
            <a:blipFill dpi="0" rotWithShape="1">
              <a:blip r:embed="rId8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5" name="object 24">
              <a:extLst>
                <a:ext uri="{FF2B5EF4-FFF2-40B4-BE49-F238E27FC236}">
                  <a16:creationId xmlns:a16="http://schemas.microsoft.com/office/drawing/2014/main" id="{2880B6CE-5E4F-DEDA-E22C-DF55E5764EF8}"/>
                </a:ext>
              </a:extLst>
            </p:cNvPr>
            <p:cNvSpPr txBox="1"/>
            <p:nvPr/>
          </p:nvSpPr>
          <p:spPr>
            <a:xfrm>
              <a:off x="10121900" y="5340350"/>
              <a:ext cx="446088" cy="254000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127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b="1" spc="-5" dirty="0">
                  <a:solidFill>
                    <a:srgbClr val="444949"/>
                  </a:solidFill>
                  <a:latin typeface="Calibri"/>
                  <a:cs typeface="Calibri"/>
                </a:rPr>
                <a:t>F</a:t>
              </a:r>
              <a:r>
                <a:rPr b="1" spc="-25" dirty="0">
                  <a:solidFill>
                    <a:srgbClr val="444949"/>
                  </a:solidFill>
                  <a:latin typeface="Calibri"/>
                  <a:cs typeface="Calibri"/>
                </a:rPr>
                <a:t>r</a:t>
              </a:r>
              <a:r>
                <a:rPr b="1" spc="-10" dirty="0">
                  <a:solidFill>
                    <a:srgbClr val="444949"/>
                  </a:solidFill>
                  <a:latin typeface="Calibri"/>
                  <a:cs typeface="Calibri"/>
                </a:rPr>
                <a:t>ed</a:t>
              </a:r>
              <a:endParaRPr>
                <a:latin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91614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60720F0-E357-C40C-1E00-7D7A69337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IAM: Permissions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2535C55-F4CA-EBE6-63DD-9AA886BCE75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Users or Groups can be assigned JSON documents called policies</a:t>
            </a:r>
          </a:p>
          <a:p>
            <a:r>
              <a:rPr lang="en-US" dirty="0"/>
              <a:t>These policies define the</a:t>
            </a:r>
          </a:p>
          <a:p>
            <a:r>
              <a:rPr lang="en-US" dirty="0"/>
              <a:t>permissions of the users</a:t>
            </a:r>
          </a:p>
          <a:p>
            <a:r>
              <a:rPr lang="en-US" dirty="0"/>
              <a:t>In AWS you apply the least privilege principle: don’t give more permissions than a user needs</a:t>
            </a:r>
          </a:p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E91B74B-CE90-A0F8-1FEE-8C40DA661FC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98142" y="1825625"/>
            <a:ext cx="472971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8929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46F43-2D77-87E6-EFEF-E7FC9E044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IAM – Password Policy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ABD832-C5E0-9BF4-CB69-67E88EC69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Strong passwords = higher security for your account</a:t>
            </a:r>
          </a:p>
          <a:p>
            <a:r>
              <a:rPr lang="en-US" dirty="0"/>
              <a:t>In AWS, you can setup a password policy:</a:t>
            </a:r>
          </a:p>
          <a:p>
            <a:pPr lvl="1"/>
            <a:r>
              <a:rPr lang="en-US" dirty="0"/>
              <a:t>Set a minimum password length</a:t>
            </a:r>
          </a:p>
          <a:p>
            <a:pPr lvl="1"/>
            <a:r>
              <a:rPr lang="en-US" dirty="0"/>
              <a:t>Require specific character types:</a:t>
            </a:r>
          </a:p>
          <a:p>
            <a:pPr lvl="1"/>
            <a:r>
              <a:rPr lang="en-US" dirty="0"/>
              <a:t>including uppercase letters</a:t>
            </a:r>
          </a:p>
          <a:p>
            <a:pPr lvl="1"/>
            <a:r>
              <a:rPr lang="en-US" dirty="0"/>
              <a:t>lowercase letters</a:t>
            </a:r>
          </a:p>
          <a:p>
            <a:pPr lvl="1"/>
            <a:r>
              <a:rPr lang="en-US" dirty="0"/>
              <a:t>numbers</a:t>
            </a:r>
          </a:p>
          <a:p>
            <a:pPr lvl="1"/>
            <a:r>
              <a:rPr lang="en-US" dirty="0"/>
              <a:t>non-alphanumeric characters</a:t>
            </a:r>
          </a:p>
          <a:p>
            <a:r>
              <a:rPr lang="en-US" dirty="0"/>
              <a:t>Allow all IAM users to change their own passwords</a:t>
            </a:r>
          </a:p>
          <a:p>
            <a:r>
              <a:rPr lang="en-US" dirty="0"/>
              <a:t>Require users to change their password after some time (password expiration)</a:t>
            </a:r>
          </a:p>
          <a:p>
            <a:r>
              <a:rPr lang="en-US" dirty="0"/>
              <a:t>Prevent password re-use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8829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88421-49A5-5B1C-6620-719EEBA03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 Factor Authentication - MFA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7D3A7-6FA1-2E8F-5027-2C00B0C3C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Users have access to your account and can possibly change configurations or delete resources in your AWS account</a:t>
            </a:r>
          </a:p>
          <a:p>
            <a:r>
              <a:rPr lang="en-US" dirty="0"/>
              <a:t>You want to protect your Root Accounts and IAM users</a:t>
            </a:r>
          </a:p>
          <a:p>
            <a:r>
              <a:rPr lang="en-US" dirty="0"/>
              <a:t>MFA = password you know + security device you own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Main benefit of MFA:</a:t>
            </a:r>
          </a:p>
          <a:p>
            <a:r>
              <a:rPr lang="en-US" dirty="0"/>
              <a:t>if a password is stolen or hacked, the account is not compromised</a:t>
            </a:r>
          </a:p>
          <a:p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F48B07B-6CD7-C609-AA72-91D319BF239C}"/>
              </a:ext>
            </a:extLst>
          </p:cNvPr>
          <p:cNvGrpSpPr/>
          <p:nvPr/>
        </p:nvGrpSpPr>
        <p:grpSpPr>
          <a:xfrm>
            <a:off x="2078388" y="3848576"/>
            <a:ext cx="8035224" cy="1317608"/>
            <a:chOff x="2078388" y="3848576"/>
            <a:chExt cx="8035224" cy="131760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26BFEA5-55C5-C300-36BA-F41A73739F7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14229"/>
            <a:stretch/>
          </p:blipFill>
          <p:spPr>
            <a:xfrm>
              <a:off x="2078388" y="3848576"/>
              <a:ext cx="8035224" cy="81334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1342C7B-C325-8E57-3BFD-11A77D153FAC}"/>
                </a:ext>
              </a:extLst>
            </p:cNvPr>
            <p:cNvSpPr txBox="1"/>
            <p:nvPr/>
          </p:nvSpPr>
          <p:spPr>
            <a:xfrm>
              <a:off x="2078388" y="4796852"/>
              <a:ext cx="6655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alice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841411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73850-97C1-1DB4-AE8A-20C804040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MFA devices options in AWS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09B50EB-5B17-C2C0-8A43-6DE2778B00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6966" y="1825625"/>
            <a:ext cx="1003806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5952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67650-3BA8-B4F0-7120-9028303AC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MFA devices options in AWS</a:t>
            </a: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272C7BA6-350C-E920-F5ED-88FC3E21FE3A}"/>
              </a:ext>
            </a:extLst>
          </p:cNvPr>
          <p:cNvSpPr txBox="1"/>
          <p:nvPr/>
        </p:nvSpPr>
        <p:spPr>
          <a:xfrm>
            <a:off x="11855450" y="79375"/>
            <a:ext cx="254000" cy="6556375"/>
          </a:xfrm>
          <a:prstGeom prst="rect">
            <a:avLst/>
          </a:prstGeom>
        </p:spPr>
        <p:txBody>
          <a:bodyPr vert="vert" lIns="0" tIns="0" rIns="0" bIns="0">
            <a:spAutoFit/>
          </a:bodyPr>
          <a:lstStyle/>
          <a:p>
            <a:pPr marL="12700">
              <a:defRPr/>
            </a:pPr>
            <a:r>
              <a:rPr b="1" dirty="0">
                <a:solidFill>
                  <a:srgbClr val="A5A5A5"/>
                </a:solidFill>
                <a:latin typeface="Calibri"/>
                <a:cs typeface="Calibri"/>
              </a:rPr>
              <a:t>N</a:t>
            </a:r>
            <a:r>
              <a:rPr b="1" spc="-45" dirty="0">
                <a:solidFill>
                  <a:srgbClr val="A5A5A5"/>
                </a:solidFill>
                <a:latin typeface="Calibri"/>
                <a:cs typeface="Calibri"/>
              </a:rPr>
              <a:t>O</a:t>
            </a:r>
            <a:r>
              <a:rPr b="1" dirty="0">
                <a:solidFill>
                  <a:srgbClr val="A5A5A5"/>
                </a:solidFill>
                <a:latin typeface="Calibri"/>
                <a:cs typeface="Calibri"/>
              </a:rPr>
              <a:t>T</a:t>
            </a:r>
            <a:r>
              <a:rPr b="1" spc="-45" dirty="0">
                <a:solidFill>
                  <a:srgbClr val="A5A5A5"/>
                </a:solidFill>
                <a:latin typeface="Times New Roman"/>
                <a:cs typeface="Times New Roman"/>
              </a:rPr>
              <a:t> </a:t>
            </a:r>
            <a:r>
              <a:rPr b="1" spc="-15" dirty="0">
                <a:solidFill>
                  <a:srgbClr val="A5A5A5"/>
                </a:solidFill>
                <a:latin typeface="Calibri"/>
                <a:cs typeface="Calibri"/>
              </a:rPr>
              <a:t>F</a:t>
            </a:r>
            <a:r>
              <a:rPr b="1" spc="-5" dirty="0">
                <a:solidFill>
                  <a:srgbClr val="A5A5A5"/>
                </a:solidFill>
                <a:latin typeface="Calibri"/>
                <a:cs typeface="Calibri"/>
              </a:rPr>
              <a:t>O</a:t>
            </a:r>
            <a:r>
              <a:rPr b="1" dirty="0">
                <a:solidFill>
                  <a:srgbClr val="A5A5A5"/>
                </a:solidFill>
                <a:latin typeface="Calibri"/>
                <a:cs typeface="Calibri"/>
              </a:rPr>
              <a:t>R</a:t>
            </a:r>
            <a:r>
              <a:rPr b="1" spc="-40" dirty="0">
                <a:solidFill>
                  <a:srgbClr val="A5A5A5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A5A5A5"/>
                </a:solidFill>
                <a:latin typeface="Calibri"/>
                <a:cs typeface="Calibri"/>
              </a:rPr>
              <a:t>D</a:t>
            </a:r>
            <a:r>
              <a:rPr b="1" spc="-10" dirty="0">
                <a:solidFill>
                  <a:srgbClr val="A5A5A5"/>
                </a:solidFill>
                <a:latin typeface="Calibri"/>
                <a:cs typeface="Calibri"/>
              </a:rPr>
              <a:t>I</a:t>
            </a:r>
            <a:r>
              <a:rPr b="1" spc="-20" dirty="0">
                <a:solidFill>
                  <a:srgbClr val="A5A5A5"/>
                </a:solidFill>
                <a:latin typeface="Calibri"/>
                <a:cs typeface="Calibri"/>
              </a:rPr>
              <a:t>S</a:t>
            </a:r>
            <a:r>
              <a:rPr b="1" spc="-5" dirty="0">
                <a:solidFill>
                  <a:srgbClr val="A5A5A5"/>
                </a:solidFill>
                <a:latin typeface="Calibri"/>
                <a:cs typeface="Calibri"/>
              </a:rPr>
              <a:t>TR</a:t>
            </a:r>
            <a:r>
              <a:rPr b="1" spc="-10" dirty="0">
                <a:solidFill>
                  <a:srgbClr val="A5A5A5"/>
                </a:solidFill>
                <a:latin typeface="Calibri"/>
                <a:cs typeface="Calibri"/>
              </a:rPr>
              <a:t>I</a:t>
            </a:r>
            <a:r>
              <a:rPr b="1" dirty="0">
                <a:solidFill>
                  <a:srgbClr val="A5A5A5"/>
                </a:solidFill>
                <a:latin typeface="Calibri"/>
                <a:cs typeface="Calibri"/>
              </a:rPr>
              <a:t>B</a:t>
            </a:r>
            <a:r>
              <a:rPr b="1" spc="-5" dirty="0">
                <a:solidFill>
                  <a:srgbClr val="A5A5A5"/>
                </a:solidFill>
                <a:latin typeface="Calibri"/>
                <a:cs typeface="Calibri"/>
              </a:rPr>
              <a:t>UT</a:t>
            </a:r>
            <a:r>
              <a:rPr b="1" spc="-10" dirty="0">
                <a:solidFill>
                  <a:srgbClr val="A5A5A5"/>
                </a:solidFill>
                <a:latin typeface="Calibri"/>
                <a:cs typeface="Calibri"/>
              </a:rPr>
              <a:t>I</a:t>
            </a:r>
            <a:r>
              <a:rPr b="1" spc="-5" dirty="0">
                <a:solidFill>
                  <a:srgbClr val="A5A5A5"/>
                </a:solidFill>
                <a:latin typeface="Calibri"/>
                <a:cs typeface="Calibri"/>
              </a:rPr>
              <a:t>O</a:t>
            </a:r>
            <a:r>
              <a:rPr b="1" dirty="0">
                <a:solidFill>
                  <a:srgbClr val="A5A5A5"/>
                </a:solidFill>
                <a:latin typeface="Calibri"/>
                <a:cs typeface="Calibri"/>
              </a:rPr>
              <a:t>N</a:t>
            </a:r>
            <a:r>
              <a:rPr b="1" spc="-35" dirty="0">
                <a:solidFill>
                  <a:srgbClr val="A5A5A5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A5A5A5"/>
                </a:solidFill>
                <a:latin typeface="Calibri"/>
                <a:cs typeface="Calibri"/>
              </a:rPr>
              <a:t>©</a:t>
            </a:r>
            <a:r>
              <a:rPr b="1" spc="-40" dirty="0">
                <a:solidFill>
                  <a:srgbClr val="A5A5A5"/>
                </a:solidFill>
                <a:latin typeface="Times New Roman"/>
                <a:cs typeface="Times New Roman"/>
              </a:rPr>
              <a:t> </a:t>
            </a:r>
            <a:r>
              <a:rPr b="1" spc="-5" dirty="0">
                <a:solidFill>
                  <a:srgbClr val="A5A5A5"/>
                </a:solidFill>
                <a:latin typeface="Calibri"/>
                <a:cs typeface="Calibri"/>
              </a:rPr>
              <a:t>S</a:t>
            </a:r>
            <a:r>
              <a:rPr b="1" spc="-25" dirty="0">
                <a:solidFill>
                  <a:srgbClr val="A5A5A5"/>
                </a:solidFill>
                <a:latin typeface="Calibri"/>
                <a:cs typeface="Calibri"/>
              </a:rPr>
              <a:t>t</a:t>
            </a:r>
            <a:r>
              <a:rPr b="1" spc="-10" dirty="0">
                <a:solidFill>
                  <a:srgbClr val="A5A5A5"/>
                </a:solidFill>
                <a:latin typeface="Calibri"/>
                <a:cs typeface="Calibri"/>
              </a:rPr>
              <a:t>e</a:t>
            </a:r>
            <a:r>
              <a:rPr b="1" spc="-5" dirty="0">
                <a:solidFill>
                  <a:srgbClr val="A5A5A5"/>
                </a:solidFill>
                <a:latin typeface="Calibri"/>
                <a:cs typeface="Calibri"/>
              </a:rPr>
              <a:t>phan</a:t>
            </a:r>
            <a:r>
              <a:rPr b="1" dirty="0">
                <a:solidFill>
                  <a:srgbClr val="A5A5A5"/>
                </a:solidFill>
                <a:latin typeface="Calibri"/>
                <a:cs typeface="Calibri"/>
              </a:rPr>
              <a:t>e</a:t>
            </a:r>
            <a:r>
              <a:rPr b="1" spc="-45" dirty="0">
                <a:solidFill>
                  <a:srgbClr val="A5A5A5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A5A5A5"/>
                </a:solidFill>
                <a:latin typeface="Calibri"/>
                <a:cs typeface="Calibri"/>
              </a:rPr>
              <a:t>M</a:t>
            </a:r>
            <a:r>
              <a:rPr b="1" spc="-5" dirty="0">
                <a:solidFill>
                  <a:srgbClr val="A5A5A5"/>
                </a:solidFill>
                <a:latin typeface="Calibri"/>
                <a:cs typeface="Calibri"/>
              </a:rPr>
              <a:t>aa</a:t>
            </a:r>
            <a:r>
              <a:rPr b="1" spc="-25" dirty="0">
                <a:solidFill>
                  <a:srgbClr val="A5A5A5"/>
                </a:solidFill>
                <a:latin typeface="Calibri"/>
                <a:cs typeface="Calibri"/>
              </a:rPr>
              <a:t>r</a:t>
            </a:r>
            <a:r>
              <a:rPr b="1" spc="-10" dirty="0">
                <a:solidFill>
                  <a:srgbClr val="A5A5A5"/>
                </a:solidFill>
                <a:latin typeface="Calibri"/>
                <a:cs typeface="Calibri"/>
              </a:rPr>
              <a:t>e</a:t>
            </a:r>
            <a:r>
              <a:rPr b="1" dirty="0">
                <a:solidFill>
                  <a:srgbClr val="A5A5A5"/>
                </a:solidFill>
                <a:latin typeface="Calibri"/>
                <a:cs typeface="Calibri"/>
              </a:rPr>
              <a:t>k</a:t>
            </a:r>
            <a:r>
              <a:rPr b="1" spc="-40" dirty="0">
                <a:solidFill>
                  <a:srgbClr val="A5A5A5"/>
                </a:solidFill>
                <a:latin typeface="Times New Roman"/>
                <a:cs typeface="Times New Roman"/>
              </a:rPr>
              <a:t> </a:t>
            </a:r>
            <a:r>
              <a:rPr b="1" spc="5" dirty="0">
                <a:solidFill>
                  <a:srgbClr val="0563C1"/>
                </a:solidFill>
                <a:latin typeface="Calibri"/>
                <a:cs typeface="Calibri"/>
                <a:hlinkClick r:id="rId2"/>
              </a:rPr>
              <a:t>ww</a:t>
            </a:r>
            <a:r>
              <a:rPr b="1" spc="-110" dirty="0">
                <a:solidFill>
                  <a:srgbClr val="0563C1"/>
                </a:solidFill>
                <a:latin typeface="Calibri"/>
                <a:cs typeface="Calibri"/>
                <a:hlinkClick r:id="rId2"/>
              </a:rPr>
              <a:t>w</a:t>
            </a:r>
            <a:r>
              <a:rPr b="1" spc="-10" dirty="0">
                <a:solidFill>
                  <a:srgbClr val="0563C1"/>
                </a:solidFill>
                <a:latin typeface="Calibri"/>
                <a:cs typeface="Calibri"/>
                <a:hlinkClick r:id="rId2"/>
              </a:rPr>
              <a:t>.</a:t>
            </a:r>
            <a:r>
              <a:rPr b="1" spc="-5" dirty="0">
                <a:solidFill>
                  <a:srgbClr val="0563C1"/>
                </a:solidFill>
                <a:latin typeface="Calibri"/>
                <a:cs typeface="Calibri"/>
                <a:hlinkClick r:id="rId2"/>
              </a:rPr>
              <a:t>d</a:t>
            </a:r>
            <a:r>
              <a:rPr b="1" spc="-20" dirty="0">
                <a:solidFill>
                  <a:srgbClr val="0563C1"/>
                </a:solidFill>
                <a:latin typeface="Calibri"/>
                <a:cs typeface="Calibri"/>
                <a:hlinkClick r:id="rId2"/>
              </a:rPr>
              <a:t>at</a:t>
            </a:r>
            <a:r>
              <a:rPr b="1" spc="-5" dirty="0">
                <a:solidFill>
                  <a:srgbClr val="0563C1"/>
                </a:solidFill>
                <a:latin typeface="Calibri"/>
                <a:cs typeface="Calibri"/>
                <a:hlinkClick r:id="rId2"/>
              </a:rPr>
              <a:t>acumulu</a:t>
            </a:r>
            <a:r>
              <a:rPr b="1" spc="-10" dirty="0">
                <a:solidFill>
                  <a:srgbClr val="0563C1"/>
                </a:solidFill>
                <a:latin typeface="Calibri"/>
                <a:cs typeface="Calibri"/>
                <a:hlinkClick r:id="rId2"/>
              </a:rPr>
              <a:t>s.</a:t>
            </a:r>
            <a:r>
              <a:rPr b="1" spc="-15" dirty="0">
                <a:solidFill>
                  <a:srgbClr val="0563C1"/>
                </a:solidFill>
                <a:latin typeface="Calibri"/>
                <a:cs typeface="Calibri"/>
                <a:hlinkClick r:id="rId2"/>
              </a:rPr>
              <a:t>c</a:t>
            </a:r>
            <a:r>
              <a:rPr b="1" spc="-5" dirty="0">
                <a:solidFill>
                  <a:srgbClr val="0563C1"/>
                </a:solidFill>
                <a:latin typeface="Calibri"/>
                <a:cs typeface="Calibri"/>
                <a:hlinkClick r:id="rId2"/>
              </a:rPr>
              <a:t>o</a:t>
            </a:r>
            <a:r>
              <a:rPr b="1" dirty="0">
                <a:solidFill>
                  <a:srgbClr val="0563C1"/>
                </a:solidFill>
                <a:latin typeface="Calibri"/>
                <a:cs typeface="Calibri"/>
                <a:hlinkClick r:id="rId2"/>
              </a:rPr>
              <a:t>m</a:t>
            </a:r>
            <a:endParaRPr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15006468-BAB3-8E98-D679-7D674EF77A9D}"/>
              </a:ext>
            </a:extLst>
          </p:cNvPr>
          <p:cNvSpPr>
            <a:spLocks/>
          </p:cNvSpPr>
          <p:nvPr/>
        </p:nvSpPr>
        <p:spPr bwMode="auto">
          <a:xfrm>
            <a:off x="11887200" y="4384675"/>
            <a:ext cx="0" cy="2235200"/>
          </a:xfrm>
          <a:custGeom>
            <a:avLst/>
            <a:gdLst>
              <a:gd name="T0" fmla="*/ 0 h 2235200"/>
              <a:gd name="T1" fmla="*/ 2235208 h 2235200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2235200">
                <a:moveTo>
                  <a:pt x="0" y="0"/>
                </a:moveTo>
                <a:lnTo>
                  <a:pt x="0" y="2235208"/>
                </a:lnTo>
              </a:path>
            </a:pathLst>
          </a:custGeom>
          <a:noFill/>
          <a:ln w="13962">
            <a:solidFill>
              <a:srgbClr val="0563C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3B60AF5-AF48-1960-1D3D-C782197CD5AE}"/>
              </a:ext>
            </a:extLst>
          </p:cNvPr>
          <p:cNvGrpSpPr/>
          <p:nvPr/>
        </p:nvGrpSpPr>
        <p:grpSpPr>
          <a:xfrm>
            <a:off x="990600" y="1746250"/>
            <a:ext cx="3879850" cy="3057525"/>
            <a:chOff x="990600" y="1746250"/>
            <a:chExt cx="3879850" cy="3057525"/>
          </a:xfrm>
        </p:grpSpPr>
        <p:sp>
          <p:nvSpPr>
            <p:cNvPr id="9" name="object 5">
              <a:extLst>
                <a:ext uri="{FF2B5EF4-FFF2-40B4-BE49-F238E27FC236}">
                  <a16:creationId xmlns:a16="http://schemas.microsoft.com/office/drawing/2014/main" id="{88F1DAA4-8D57-EBFD-87A5-8B215ED04D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6425" y="2941638"/>
              <a:ext cx="2217738" cy="1249362"/>
            </a:xfrm>
            <a:prstGeom prst="rect">
              <a:avLst/>
            </a:prstGeom>
            <a:blipFill dpi="0" rotWithShape="1">
              <a:blip r:embed="rId3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prstClr val="black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0" name="object 6">
              <a:extLst>
                <a:ext uri="{FF2B5EF4-FFF2-40B4-BE49-F238E27FC236}">
                  <a16:creationId xmlns:a16="http://schemas.microsoft.com/office/drawing/2014/main" id="{5BFB2CF1-A400-3000-0A49-99DC15A4D2BE}"/>
                </a:ext>
              </a:extLst>
            </p:cNvPr>
            <p:cNvSpPr txBox="1"/>
            <p:nvPr/>
          </p:nvSpPr>
          <p:spPr>
            <a:xfrm>
              <a:off x="990600" y="1746250"/>
              <a:ext cx="3879850" cy="330200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12700">
                <a:defRPr/>
              </a:pPr>
              <a:r>
                <a:rPr sz="2400" b="1" spc="-25" dirty="0">
                  <a:solidFill>
                    <a:srgbClr val="444949"/>
                  </a:solidFill>
                  <a:latin typeface="Calibri"/>
                  <a:cs typeface="Calibri"/>
                </a:rPr>
                <a:t>H</a:t>
              </a:r>
              <a:r>
                <a:rPr sz="2400" b="1" spc="-15" dirty="0">
                  <a:solidFill>
                    <a:srgbClr val="444949"/>
                  </a:solidFill>
                  <a:latin typeface="Calibri"/>
                  <a:cs typeface="Calibri"/>
                </a:rPr>
                <a:t>a</a:t>
              </a:r>
              <a:r>
                <a:rPr sz="2400" b="1" spc="-35" dirty="0">
                  <a:solidFill>
                    <a:srgbClr val="444949"/>
                  </a:solidFill>
                  <a:latin typeface="Calibri"/>
                  <a:cs typeface="Calibri"/>
                </a:rPr>
                <a:t>r</a:t>
              </a:r>
              <a:r>
                <a:rPr sz="2400" b="1" spc="-20" dirty="0">
                  <a:solidFill>
                    <a:srgbClr val="444949"/>
                  </a:solidFill>
                  <a:latin typeface="Calibri"/>
                  <a:cs typeface="Calibri"/>
                </a:rPr>
                <a:t>d</a:t>
              </a:r>
              <a:r>
                <a:rPr sz="2400" b="1" spc="-30" dirty="0">
                  <a:solidFill>
                    <a:srgbClr val="444949"/>
                  </a:solidFill>
                  <a:latin typeface="Calibri"/>
                  <a:cs typeface="Calibri"/>
                </a:rPr>
                <a:t>w</a:t>
              </a:r>
              <a:r>
                <a:rPr sz="2400" b="1" spc="-15" dirty="0">
                  <a:solidFill>
                    <a:srgbClr val="444949"/>
                  </a:solidFill>
                  <a:latin typeface="Calibri"/>
                  <a:cs typeface="Calibri"/>
                </a:rPr>
                <a:t>a</a:t>
              </a:r>
              <a:r>
                <a:rPr sz="2400" b="1" spc="-35" dirty="0">
                  <a:solidFill>
                    <a:srgbClr val="444949"/>
                  </a:solidFill>
                  <a:latin typeface="Calibri"/>
                  <a:cs typeface="Calibri"/>
                </a:rPr>
                <a:t>r</a:t>
              </a:r>
              <a:r>
                <a:rPr sz="2400" b="1" dirty="0">
                  <a:solidFill>
                    <a:srgbClr val="444949"/>
                  </a:solidFill>
                  <a:latin typeface="Calibri"/>
                  <a:cs typeface="Calibri"/>
                </a:rPr>
                <a:t>e</a:t>
              </a:r>
              <a:r>
                <a:rPr sz="2400" b="1" spc="-60" dirty="0">
                  <a:solidFill>
                    <a:srgbClr val="444949"/>
                  </a:solidFill>
                  <a:latin typeface="Times New Roman"/>
                  <a:cs typeface="Times New Roman"/>
                </a:rPr>
                <a:t> </a:t>
              </a:r>
              <a:r>
                <a:rPr sz="2400" b="1" spc="-60" dirty="0">
                  <a:solidFill>
                    <a:srgbClr val="444949"/>
                  </a:solidFill>
                  <a:latin typeface="Calibri"/>
                  <a:cs typeface="Calibri"/>
                </a:rPr>
                <a:t>K</a:t>
              </a:r>
              <a:r>
                <a:rPr sz="2400" b="1" spc="-20" dirty="0">
                  <a:solidFill>
                    <a:srgbClr val="444949"/>
                  </a:solidFill>
                  <a:latin typeface="Calibri"/>
                  <a:cs typeface="Calibri"/>
                </a:rPr>
                <a:t>e</a:t>
              </a:r>
              <a:r>
                <a:rPr sz="2400" b="1" spc="-15" dirty="0">
                  <a:solidFill>
                    <a:srgbClr val="444949"/>
                  </a:solidFill>
                  <a:latin typeface="Calibri"/>
                  <a:cs typeface="Calibri"/>
                </a:rPr>
                <a:t>y</a:t>
              </a:r>
              <a:r>
                <a:rPr sz="2400" b="1" spc="-65" dirty="0">
                  <a:solidFill>
                    <a:srgbClr val="444949"/>
                  </a:solidFill>
                  <a:latin typeface="Times New Roman"/>
                  <a:cs typeface="Times New Roman"/>
                </a:rPr>
                <a:t> </a:t>
              </a:r>
              <a:r>
                <a:rPr sz="2400" b="1" spc="-50" dirty="0">
                  <a:solidFill>
                    <a:srgbClr val="444949"/>
                  </a:solidFill>
                  <a:latin typeface="Calibri"/>
                  <a:cs typeface="Calibri"/>
                </a:rPr>
                <a:t>F</a:t>
              </a:r>
              <a:r>
                <a:rPr sz="2400" b="1" spc="-20" dirty="0">
                  <a:solidFill>
                    <a:srgbClr val="444949"/>
                  </a:solidFill>
                  <a:latin typeface="Calibri"/>
                  <a:cs typeface="Calibri"/>
                </a:rPr>
                <a:t>o</a:t>
              </a:r>
              <a:r>
                <a:rPr sz="2400" b="1" spc="-15" dirty="0">
                  <a:solidFill>
                    <a:srgbClr val="444949"/>
                  </a:solidFill>
                  <a:latin typeface="Calibri"/>
                  <a:cs typeface="Calibri"/>
                </a:rPr>
                <a:t>b</a:t>
              </a:r>
              <a:r>
                <a:rPr sz="2400" b="1" spc="-65" dirty="0">
                  <a:solidFill>
                    <a:srgbClr val="444949"/>
                  </a:solidFill>
                  <a:latin typeface="Times New Roman"/>
                  <a:cs typeface="Times New Roman"/>
                </a:rPr>
                <a:t> </a:t>
              </a:r>
              <a:r>
                <a:rPr sz="2400" b="1" dirty="0">
                  <a:solidFill>
                    <a:srgbClr val="444949"/>
                  </a:solidFill>
                  <a:latin typeface="Calibri"/>
                  <a:cs typeface="Calibri"/>
                </a:rPr>
                <a:t>M</a:t>
              </a:r>
              <a:r>
                <a:rPr sz="2400" b="1" spc="-155" dirty="0">
                  <a:solidFill>
                    <a:srgbClr val="444949"/>
                  </a:solidFill>
                  <a:latin typeface="Calibri"/>
                  <a:cs typeface="Calibri"/>
                </a:rPr>
                <a:t>F</a:t>
              </a:r>
              <a:r>
                <a:rPr sz="2400" b="1" spc="-15" dirty="0">
                  <a:solidFill>
                    <a:srgbClr val="444949"/>
                  </a:solidFill>
                  <a:latin typeface="Calibri"/>
                  <a:cs typeface="Calibri"/>
                </a:rPr>
                <a:t>A</a:t>
              </a:r>
              <a:r>
                <a:rPr sz="2400" b="1" spc="-70" dirty="0">
                  <a:solidFill>
                    <a:srgbClr val="444949"/>
                  </a:solidFill>
                  <a:latin typeface="Times New Roman"/>
                  <a:cs typeface="Times New Roman"/>
                </a:rPr>
                <a:t> </a:t>
              </a:r>
              <a:r>
                <a:rPr sz="2400" b="1" spc="-5" dirty="0">
                  <a:solidFill>
                    <a:srgbClr val="444949"/>
                  </a:solidFill>
                  <a:latin typeface="Calibri"/>
                  <a:cs typeface="Calibri"/>
                </a:rPr>
                <a:t>D</a:t>
              </a:r>
              <a:r>
                <a:rPr sz="2400" b="1" spc="-10" dirty="0">
                  <a:solidFill>
                    <a:srgbClr val="444949"/>
                  </a:solidFill>
                  <a:latin typeface="Calibri"/>
                  <a:cs typeface="Calibri"/>
                </a:rPr>
                <a:t>e</a:t>
              </a:r>
              <a:r>
                <a:rPr sz="2400" b="1" dirty="0">
                  <a:solidFill>
                    <a:srgbClr val="444949"/>
                  </a:solidFill>
                  <a:latin typeface="Calibri"/>
                  <a:cs typeface="Calibri"/>
                </a:rPr>
                <a:t>v</a:t>
              </a:r>
              <a:r>
                <a:rPr sz="2400" b="1" spc="-15" dirty="0">
                  <a:solidFill>
                    <a:srgbClr val="444949"/>
                  </a:solidFill>
                  <a:latin typeface="Calibri"/>
                  <a:cs typeface="Calibri"/>
                </a:rPr>
                <a:t>i</a:t>
              </a:r>
              <a:r>
                <a:rPr sz="2400" b="1" spc="-5" dirty="0">
                  <a:solidFill>
                    <a:srgbClr val="444949"/>
                  </a:solidFill>
                  <a:latin typeface="Calibri"/>
                  <a:cs typeface="Calibri"/>
                </a:rPr>
                <a:t>c</a:t>
              </a:r>
              <a:r>
                <a:rPr sz="2400" b="1" dirty="0">
                  <a:solidFill>
                    <a:srgbClr val="444949"/>
                  </a:solidFill>
                  <a:latin typeface="Calibri"/>
                  <a:cs typeface="Calibri"/>
                </a:rPr>
                <a:t>e</a:t>
              </a:r>
              <a:endParaRPr sz="2400" dirty="0">
                <a:solidFill>
                  <a:prstClr val="black"/>
                </a:solidFill>
                <a:latin typeface="Calibri"/>
                <a:cs typeface="Calibri"/>
              </a:endParaRPr>
            </a:p>
          </p:txBody>
        </p:sp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34DC0A4B-AEB2-5E5C-5464-8B64391635A8}"/>
                </a:ext>
              </a:extLst>
            </p:cNvPr>
            <p:cNvSpPr txBox="1"/>
            <p:nvPr/>
          </p:nvSpPr>
          <p:spPr>
            <a:xfrm>
              <a:off x="1493838" y="4543425"/>
              <a:ext cx="2952750" cy="260350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12700">
                <a:defRPr/>
              </a:pPr>
              <a:r>
                <a:rPr spc="-15" dirty="0">
                  <a:solidFill>
                    <a:srgbClr val="444949"/>
                  </a:solidFill>
                  <a:latin typeface="Calibri"/>
                  <a:cs typeface="Calibri"/>
                </a:rPr>
                <a:t>P</a:t>
              </a:r>
              <a:r>
                <a:rPr spc="-45" dirty="0">
                  <a:solidFill>
                    <a:srgbClr val="444949"/>
                  </a:solidFill>
                  <a:latin typeface="Calibri"/>
                  <a:cs typeface="Calibri"/>
                </a:rPr>
                <a:t>r</a:t>
              </a:r>
              <a:r>
                <a:rPr spc="-10" dirty="0">
                  <a:solidFill>
                    <a:srgbClr val="444949"/>
                  </a:solidFill>
                  <a:latin typeface="Calibri"/>
                  <a:cs typeface="Calibri"/>
                </a:rPr>
                <a:t>ov</a:t>
              </a:r>
              <a:r>
                <a:rPr spc="-5" dirty="0">
                  <a:solidFill>
                    <a:srgbClr val="444949"/>
                  </a:solidFill>
                  <a:latin typeface="Calibri"/>
                  <a:cs typeface="Calibri"/>
                </a:rPr>
                <a:t>i</a:t>
              </a:r>
              <a:r>
                <a:rPr dirty="0">
                  <a:solidFill>
                    <a:srgbClr val="444949"/>
                  </a:solidFill>
                  <a:latin typeface="Calibri"/>
                  <a:cs typeface="Calibri"/>
                </a:rPr>
                <a:t>d</a:t>
              </a:r>
              <a:r>
                <a:rPr spc="-10" dirty="0">
                  <a:solidFill>
                    <a:srgbClr val="444949"/>
                  </a:solidFill>
                  <a:latin typeface="Calibri"/>
                  <a:cs typeface="Calibri"/>
                </a:rPr>
                <a:t>e</a:t>
              </a:r>
              <a:r>
                <a:rPr dirty="0">
                  <a:solidFill>
                    <a:srgbClr val="444949"/>
                  </a:solidFill>
                  <a:latin typeface="Calibri"/>
                  <a:cs typeface="Calibri"/>
                </a:rPr>
                <a:t>d</a:t>
              </a:r>
              <a:r>
                <a:rPr spc="-35" dirty="0">
                  <a:solidFill>
                    <a:srgbClr val="444949"/>
                  </a:solidFill>
                  <a:latin typeface="Times New Roman"/>
                  <a:cs typeface="Times New Roman"/>
                </a:rPr>
                <a:t> </a:t>
              </a:r>
              <a:r>
                <a:rPr spc="-5" dirty="0">
                  <a:solidFill>
                    <a:srgbClr val="444949"/>
                  </a:solidFill>
                  <a:latin typeface="Calibri"/>
                  <a:cs typeface="Calibri"/>
                </a:rPr>
                <a:t>b</a:t>
              </a:r>
              <a:r>
                <a:rPr spc="-10" dirty="0">
                  <a:solidFill>
                    <a:srgbClr val="444949"/>
                  </a:solidFill>
                  <a:latin typeface="Calibri"/>
                  <a:cs typeface="Calibri"/>
                </a:rPr>
                <a:t>y</a:t>
              </a:r>
              <a:r>
                <a:rPr spc="-40" dirty="0">
                  <a:solidFill>
                    <a:srgbClr val="444949"/>
                  </a:solidFill>
                  <a:latin typeface="Times New Roman"/>
                  <a:cs typeface="Times New Roman"/>
                </a:rPr>
                <a:t> </a:t>
              </a:r>
              <a:r>
                <a:rPr spc="-15" dirty="0">
                  <a:solidFill>
                    <a:srgbClr val="444949"/>
                  </a:solidFill>
                  <a:latin typeface="Calibri"/>
                  <a:cs typeface="Calibri"/>
                </a:rPr>
                <a:t>Gem</a:t>
              </a:r>
              <a:r>
                <a:rPr spc="-5" dirty="0">
                  <a:solidFill>
                    <a:srgbClr val="444949"/>
                  </a:solidFill>
                  <a:latin typeface="Calibri"/>
                  <a:cs typeface="Calibri"/>
                </a:rPr>
                <a:t>al</a:t>
              </a:r>
              <a:r>
                <a:rPr spc="-30" dirty="0">
                  <a:solidFill>
                    <a:srgbClr val="444949"/>
                  </a:solidFill>
                  <a:latin typeface="Calibri"/>
                  <a:cs typeface="Calibri"/>
                </a:rPr>
                <a:t>t</a:t>
              </a:r>
              <a:r>
                <a:rPr dirty="0">
                  <a:solidFill>
                    <a:srgbClr val="444949"/>
                  </a:solidFill>
                  <a:latin typeface="Calibri"/>
                  <a:cs typeface="Calibri"/>
                </a:rPr>
                <a:t>o</a:t>
              </a:r>
              <a:r>
                <a:rPr spc="-40" dirty="0">
                  <a:solidFill>
                    <a:srgbClr val="444949"/>
                  </a:solidFill>
                  <a:latin typeface="Times New Roman"/>
                  <a:cs typeface="Times New Roman"/>
                </a:rPr>
                <a:t> </a:t>
              </a:r>
              <a:r>
                <a:rPr dirty="0">
                  <a:solidFill>
                    <a:srgbClr val="444949"/>
                  </a:solidFill>
                  <a:latin typeface="Calibri"/>
                  <a:cs typeface="Calibri"/>
                </a:rPr>
                <a:t>(</a:t>
              </a:r>
              <a:r>
                <a:rPr spc="-10" dirty="0">
                  <a:solidFill>
                    <a:srgbClr val="444949"/>
                  </a:solidFill>
                  <a:latin typeface="Calibri"/>
                  <a:cs typeface="Calibri"/>
                </a:rPr>
                <a:t>3</a:t>
              </a:r>
              <a:r>
                <a:rPr spc="-37" baseline="23148" dirty="0">
                  <a:solidFill>
                    <a:srgbClr val="444949"/>
                  </a:solidFill>
                  <a:latin typeface="Calibri"/>
                  <a:cs typeface="Calibri"/>
                </a:rPr>
                <a:t>r</a:t>
              </a:r>
              <a:r>
                <a:rPr baseline="23148" dirty="0">
                  <a:solidFill>
                    <a:srgbClr val="444949"/>
                  </a:solidFill>
                  <a:latin typeface="Calibri"/>
                  <a:cs typeface="Calibri"/>
                </a:rPr>
                <a:t>d</a:t>
              </a:r>
              <a:r>
                <a:rPr spc="157" baseline="23148" dirty="0">
                  <a:solidFill>
                    <a:srgbClr val="444949"/>
                  </a:solidFill>
                  <a:latin typeface="Times New Roman"/>
                  <a:cs typeface="Times New Roman"/>
                </a:rPr>
                <a:t> </a:t>
              </a:r>
              <a:r>
                <a:rPr dirty="0">
                  <a:solidFill>
                    <a:srgbClr val="444949"/>
                  </a:solidFill>
                  <a:latin typeface="Calibri"/>
                  <a:cs typeface="Calibri"/>
                </a:rPr>
                <a:t>p</a:t>
              </a:r>
              <a:r>
                <a:rPr spc="-5" dirty="0">
                  <a:solidFill>
                    <a:srgbClr val="444949"/>
                  </a:solidFill>
                  <a:latin typeface="Calibri"/>
                  <a:cs typeface="Calibri"/>
                </a:rPr>
                <a:t>a</a:t>
              </a:r>
              <a:r>
                <a:rPr spc="-15" dirty="0">
                  <a:solidFill>
                    <a:srgbClr val="444949"/>
                  </a:solidFill>
                  <a:latin typeface="Calibri"/>
                  <a:cs typeface="Calibri"/>
                </a:rPr>
                <a:t>rty</a:t>
              </a:r>
              <a:r>
                <a:rPr dirty="0">
                  <a:solidFill>
                    <a:srgbClr val="444949"/>
                  </a:solidFill>
                  <a:latin typeface="Calibri"/>
                  <a:cs typeface="Calibri"/>
                </a:rPr>
                <a:t>)</a:t>
              </a:r>
              <a:endParaRPr>
                <a:solidFill>
                  <a:prstClr val="black"/>
                </a:solidFill>
                <a:latin typeface="Calibri"/>
                <a:cs typeface="Calibri"/>
              </a:endParaRPr>
            </a:p>
          </p:txBody>
        </p:sp>
      </p:grpSp>
      <p:sp>
        <p:nvSpPr>
          <p:cNvPr id="12" name="object 11">
            <a:extLst>
              <a:ext uri="{FF2B5EF4-FFF2-40B4-BE49-F238E27FC236}">
                <a16:creationId xmlns:a16="http://schemas.microsoft.com/office/drawing/2014/main" id="{09CC1EBF-EF00-4387-141E-4039F48DADE4}"/>
              </a:ext>
            </a:extLst>
          </p:cNvPr>
          <p:cNvSpPr txBox="1">
            <a:spLocks/>
          </p:cNvSpPr>
          <p:nvPr/>
        </p:nvSpPr>
        <p:spPr>
          <a:xfrm>
            <a:off x="241300" y="6494463"/>
            <a:ext cx="1277938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de-DE"/>
            </a:defPPr>
            <a:lvl1pPr marL="12700" algn="l" rtl="0" fontAlgn="auto">
              <a:spcBef>
                <a:spcPts val="0"/>
              </a:spcBef>
              <a:spcAft>
                <a:spcPts val="0"/>
              </a:spcAft>
              <a:defRPr sz="1200" b="0" i="0" kern="1200" dirty="0">
                <a:solidFill>
                  <a:schemeClr val="bg1"/>
                </a:solidFill>
                <a:latin typeface="Calibri"/>
                <a:ea typeface="+mn-ea"/>
                <a:cs typeface="Calibri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©</a:t>
            </a:r>
            <a:r>
              <a:rPr kumimoji="0" lang="en-US" sz="12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200" b="0" i="0" u="none" strike="noStrike" kern="1200" cap="none" spc="-5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</a:t>
            </a:r>
            <a:r>
              <a:rPr kumimoji="0" lang="en-US" sz="1200" b="0" i="0" u="none" strike="noStrike" kern="1200" cap="none" spc="-2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</a:t>
            </a:r>
            <a:r>
              <a:rPr kumimoji="0" lang="en-US" sz="12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eph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US" sz="12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ne</a:t>
            </a:r>
            <a:r>
              <a:rPr kumimoji="0" lang="en-US" sz="1200" b="0" i="0" u="none" strike="noStrike" kern="1200" cap="none" spc="-25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200" b="0" i="0" u="none" strike="noStrike" kern="1200" cap="none" spc="-2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</a:t>
            </a:r>
            <a:r>
              <a:rPr kumimoji="0" lang="en-US" sz="12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US" sz="12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</a:t>
            </a:r>
            <a:r>
              <a:rPr kumimoji="0" lang="en-US" sz="12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ek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3EB5ADA-C35B-DCA3-73D9-4407430B9273}"/>
              </a:ext>
            </a:extLst>
          </p:cNvPr>
          <p:cNvGrpSpPr/>
          <p:nvPr/>
        </p:nvGrpSpPr>
        <p:grpSpPr>
          <a:xfrm>
            <a:off x="6757988" y="1666875"/>
            <a:ext cx="4313237" cy="3136900"/>
            <a:chOff x="6757988" y="1666875"/>
            <a:chExt cx="4313237" cy="3136900"/>
          </a:xfrm>
        </p:grpSpPr>
        <p:sp>
          <p:nvSpPr>
            <p:cNvPr id="14" name="object 8">
              <a:extLst>
                <a:ext uri="{FF2B5EF4-FFF2-40B4-BE49-F238E27FC236}">
                  <a16:creationId xmlns:a16="http://schemas.microsoft.com/office/drawing/2014/main" id="{3A1747F2-1E58-08A8-247E-16C74C3491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4325" y="2911475"/>
              <a:ext cx="1958975" cy="1035050"/>
            </a:xfrm>
            <a:prstGeom prst="rect">
              <a:avLst/>
            </a:prstGeom>
            <a:blipFill dpi="0" rotWithShape="1">
              <a:blip r:embed="rId4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prstClr val="black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5" name="object 9">
              <a:extLst>
                <a:ext uri="{FF2B5EF4-FFF2-40B4-BE49-F238E27FC236}">
                  <a16:creationId xmlns:a16="http://schemas.microsoft.com/office/drawing/2014/main" id="{89728ABD-00F4-163C-8ED9-11BE80E3D2BD}"/>
                </a:ext>
              </a:extLst>
            </p:cNvPr>
            <p:cNvSpPr txBox="1"/>
            <p:nvPr/>
          </p:nvSpPr>
          <p:spPr>
            <a:xfrm>
              <a:off x="6757988" y="1666875"/>
              <a:ext cx="4313237" cy="698500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>
              <a:lvl1pPr marL="911225" indent="-898525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fontAlgn="base">
                <a:lnSpc>
                  <a:spcPct val="101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400" b="1" dirty="0">
                  <a:solidFill>
                    <a:srgbClr val="444949"/>
                  </a:solidFill>
                  <a:cs typeface="Calibri" panose="020F0502020204030204" pitchFamily="34" charset="0"/>
                </a:rPr>
                <a:t>Hardware</a:t>
              </a:r>
              <a:r>
                <a:rPr lang="en-US" altLang="en-US" sz="2400" b="1" dirty="0">
                  <a:solidFill>
                    <a:srgbClr val="44494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b="1" dirty="0">
                  <a:solidFill>
                    <a:srgbClr val="444949"/>
                  </a:solidFill>
                  <a:cs typeface="Calibri" panose="020F0502020204030204" pitchFamily="34" charset="0"/>
                </a:rPr>
                <a:t>Key</a:t>
              </a:r>
              <a:r>
                <a:rPr lang="en-US" altLang="en-US" sz="2400" b="1" dirty="0">
                  <a:solidFill>
                    <a:srgbClr val="44494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b="1" dirty="0">
                  <a:solidFill>
                    <a:srgbClr val="444949"/>
                  </a:solidFill>
                  <a:cs typeface="Calibri" panose="020F0502020204030204" pitchFamily="34" charset="0"/>
                </a:rPr>
                <a:t>Fob</a:t>
              </a:r>
              <a:r>
                <a:rPr lang="en-US" altLang="en-US" sz="2400" b="1" dirty="0">
                  <a:solidFill>
                    <a:srgbClr val="44494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b="1" dirty="0">
                  <a:solidFill>
                    <a:srgbClr val="444949"/>
                  </a:solidFill>
                  <a:cs typeface="Calibri" panose="020F0502020204030204" pitchFamily="34" charset="0"/>
                </a:rPr>
                <a:t>MFA</a:t>
              </a:r>
              <a:r>
                <a:rPr lang="en-US" altLang="en-US" sz="2400" b="1" dirty="0">
                  <a:solidFill>
                    <a:srgbClr val="44494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b="1" dirty="0">
                  <a:solidFill>
                    <a:srgbClr val="444949"/>
                  </a:solidFill>
                  <a:cs typeface="Calibri" panose="020F0502020204030204" pitchFamily="34" charset="0"/>
                </a:rPr>
                <a:t>Device</a:t>
              </a:r>
              <a:r>
                <a:rPr lang="en-US" altLang="en-US" sz="2400" b="1" dirty="0">
                  <a:solidFill>
                    <a:srgbClr val="44494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b="1" dirty="0">
                  <a:solidFill>
                    <a:srgbClr val="444949"/>
                  </a:solidFill>
                  <a:cs typeface="Calibri" panose="020F0502020204030204" pitchFamily="34" charset="0"/>
                </a:rPr>
                <a:t>for</a:t>
              </a:r>
              <a:r>
                <a:rPr lang="en-US" altLang="en-US" sz="2400" b="1" dirty="0">
                  <a:solidFill>
                    <a:srgbClr val="44494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b="1" dirty="0">
                  <a:solidFill>
                    <a:srgbClr val="444949"/>
                  </a:solidFill>
                  <a:cs typeface="Calibri" panose="020F0502020204030204" pitchFamily="34" charset="0"/>
                </a:rPr>
                <a:t>AWS</a:t>
              </a:r>
              <a:r>
                <a:rPr lang="en-US" altLang="en-US" sz="2400" b="1" dirty="0">
                  <a:solidFill>
                    <a:srgbClr val="44494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b="1" dirty="0">
                  <a:solidFill>
                    <a:srgbClr val="444949"/>
                  </a:solidFill>
                  <a:cs typeface="Calibri" panose="020F0502020204030204" pitchFamily="34" charset="0"/>
                </a:rPr>
                <a:t>GovCloud</a:t>
              </a:r>
              <a:r>
                <a:rPr lang="en-US" altLang="en-US" sz="2400" b="1" dirty="0">
                  <a:solidFill>
                    <a:srgbClr val="44494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b="1" dirty="0">
                  <a:solidFill>
                    <a:srgbClr val="444949"/>
                  </a:solidFill>
                  <a:cs typeface="Calibri" panose="020F0502020204030204" pitchFamily="34" charset="0"/>
                </a:rPr>
                <a:t>(US)</a:t>
              </a:r>
              <a:endParaRPr lang="en-US" altLang="en-US" sz="2400" dirty="0">
                <a:solidFill>
                  <a:prstClr val="black"/>
                </a:solidFill>
                <a:cs typeface="Calibri" panose="020F0502020204030204" pitchFamily="34" charset="0"/>
              </a:endParaRPr>
            </a:p>
          </p:txBody>
        </p:sp>
        <p:sp>
          <p:nvSpPr>
            <p:cNvPr id="16" name="object 10">
              <a:extLst>
                <a:ext uri="{FF2B5EF4-FFF2-40B4-BE49-F238E27FC236}">
                  <a16:creationId xmlns:a16="http://schemas.microsoft.com/office/drawing/2014/main" id="{395995B9-10AA-D464-E2DC-12814861A45F}"/>
                </a:ext>
              </a:extLst>
            </p:cNvPr>
            <p:cNvSpPr txBox="1"/>
            <p:nvPr/>
          </p:nvSpPr>
          <p:spPr>
            <a:xfrm>
              <a:off x="7421563" y="4543425"/>
              <a:ext cx="3170237" cy="260350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12700">
                <a:defRPr/>
              </a:pPr>
              <a:r>
                <a:rPr spc="-15" dirty="0">
                  <a:solidFill>
                    <a:srgbClr val="444949"/>
                  </a:solidFill>
                  <a:latin typeface="Calibri"/>
                  <a:cs typeface="Calibri"/>
                </a:rPr>
                <a:t>P</a:t>
              </a:r>
              <a:r>
                <a:rPr spc="-45" dirty="0">
                  <a:solidFill>
                    <a:srgbClr val="444949"/>
                  </a:solidFill>
                  <a:latin typeface="Calibri"/>
                  <a:cs typeface="Calibri"/>
                </a:rPr>
                <a:t>r</a:t>
              </a:r>
              <a:r>
                <a:rPr spc="-10" dirty="0">
                  <a:solidFill>
                    <a:srgbClr val="444949"/>
                  </a:solidFill>
                  <a:latin typeface="Calibri"/>
                  <a:cs typeface="Calibri"/>
                </a:rPr>
                <a:t>ov</a:t>
              </a:r>
              <a:r>
                <a:rPr spc="-5" dirty="0">
                  <a:solidFill>
                    <a:srgbClr val="444949"/>
                  </a:solidFill>
                  <a:latin typeface="Calibri"/>
                  <a:cs typeface="Calibri"/>
                </a:rPr>
                <a:t>i</a:t>
              </a:r>
              <a:r>
                <a:rPr dirty="0">
                  <a:solidFill>
                    <a:srgbClr val="444949"/>
                  </a:solidFill>
                  <a:latin typeface="Calibri"/>
                  <a:cs typeface="Calibri"/>
                </a:rPr>
                <a:t>d</a:t>
              </a:r>
              <a:r>
                <a:rPr spc="-10" dirty="0">
                  <a:solidFill>
                    <a:srgbClr val="444949"/>
                  </a:solidFill>
                  <a:latin typeface="Calibri"/>
                  <a:cs typeface="Calibri"/>
                </a:rPr>
                <a:t>e</a:t>
              </a:r>
              <a:r>
                <a:rPr dirty="0">
                  <a:solidFill>
                    <a:srgbClr val="444949"/>
                  </a:solidFill>
                  <a:latin typeface="Calibri"/>
                  <a:cs typeface="Calibri"/>
                </a:rPr>
                <a:t>d</a:t>
              </a:r>
              <a:r>
                <a:rPr spc="-35" dirty="0">
                  <a:solidFill>
                    <a:srgbClr val="444949"/>
                  </a:solidFill>
                  <a:latin typeface="Times New Roman"/>
                  <a:cs typeface="Times New Roman"/>
                </a:rPr>
                <a:t> </a:t>
              </a:r>
              <a:r>
                <a:rPr spc="-5" dirty="0">
                  <a:solidFill>
                    <a:srgbClr val="444949"/>
                  </a:solidFill>
                  <a:latin typeface="Calibri"/>
                  <a:cs typeface="Calibri"/>
                </a:rPr>
                <a:t>b</a:t>
              </a:r>
              <a:r>
                <a:rPr spc="-10" dirty="0">
                  <a:solidFill>
                    <a:srgbClr val="444949"/>
                  </a:solidFill>
                  <a:latin typeface="Calibri"/>
                  <a:cs typeface="Calibri"/>
                </a:rPr>
                <a:t>y</a:t>
              </a:r>
              <a:r>
                <a:rPr spc="-40" dirty="0">
                  <a:solidFill>
                    <a:srgbClr val="444949"/>
                  </a:solidFill>
                  <a:latin typeface="Times New Roman"/>
                  <a:cs typeface="Times New Roman"/>
                </a:rPr>
                <a:t> </a:t>
              </a:r>
              <a:r>
                <a:rPr spc="-5" dirty="0">
                  <a:solidFill>
                    <a:srgbClr val="444949"/>
                  </a:solidFill>
                  <a:latin typeface="Calibri"/>
                  <a:cs typeface="Calibri"/>
                </a:rPr>
                <a:t>S</a:t>
              </a:r>
              <a:r>
                <a:rPr spc="5" dirty="0">
                  <a:solidFill>
                    <a:srgbClr val="444949"/>
                  </a:solidFill>
                  <a:latin typeface="Calibri"/>
                  <a:cs typeface="Calibri"/>
                </a:rPr>
                <a:t>u</a:t>
              </a:r>
              <a:r>
                <a:rPr spc="-40" dirty="0">
                  <a:solidFill>
                    <a:srgbClr val="444949"/>
                  </a:solidFill>
                  <a:latin typeface="Calibri"/>
                  <a:cs typeface="Calibri"/>
                </a:rPr>
                <a:t>r</a:t>
              </a:r>
              <a:r>
                <a:rPr spc="-5" dirty="0">
                  <a:solidFill>
                    <a:srgbClr val="444949"/>
                  </a:solidFill>
                  <a:latin typeface="Calibri"/>
                  <a:cs typeface="Calibri"/>
                </a:rPr>
                <a:t>e</a:t>
              </a:r>
              <a:r>
                <a:rPr spc="-55" dirty="0">
                  <a:solidFill>
                    <a:srgbClr val="444949"/>
                  </a:solidFill>
                  <a:latin typeface="Calibri"/>
                  <a:cs typeface="Calibri"/>
                </a:rPr>
                <a:t>P</a:t>
              </a:r>
              <a:r>
                <a:rPr dirty="0">
                  <a:solidFill>
                    <a:srgbClr val="444949"/>
                  </a:solidFill>
                  <a:latin typeface="Calibri"/>
                  <a:cs typeface="Calibri"/>
                </a:rPr>
                <a:t>a</a:t>
              </a:r>
              <a:r>
                <a:rPr spc="-5" dirty="0">
                  <a:solidFill>
                    <a:srgbClr val="444949"/>
                  </a:solidFill>
                  <a:latin typeface="Calibri"/>
                  <a:cs typeface="Calibri"/>
                </a:rPr>
                <a:t>ss</a:t>
              </a:r>
              <a:r>
                <a:rPr spc="-10" dirty="0">
                  <a:solidFill>
                    <a:srgbClr val="444949"/>
                  </a:solidFill>
                  <a:latin typeface="Calibri"/>
                  <a:cs typeface="Calibri"/>
                </a:rPr>
                <a:t>I</a:t>
              </a:r>
              <a:r>
                <a:rPr dirty="0">
                  <a:solidFill>
                    <a:srgbClr val="444949"/>
                  </a:solidFill>
                  <a:latin typeface="Calibri"/>
                  <a:cs typeface="Calibri"/>
                </a:rPr>
                <a:t>D</a:t>
              </a:r>
              <a:r>
                <a:rPr spc="-40" dirty="0">
                  <a:solidFill>
                    <a:srgbClr val="444949"/>
                  </a:solidFill>
                  <a:latin typeface="Times New Roman"/>
                  <a:cs typeface="Times New Roman"/>
                </a:rPr>
                <a:t> </a:t>
              </a:r>
              <a:r>
                <a:rPr dirty="0">
                  <a:solidFill>
                    <a:srgbClr val="444949"/>
                  </a:solidFill>
                  <a:latin typeface="Calibri"/>
                  <a:cs typeface="Calibri"/>
                </a:rPr>
                <a:t>(3</a:t>
              </a:r>
              <a:r>
                <a:rPr spc="-37" baseline="23148" dirty="0">
                  <a:solidFill>
                    <a:srgbClr val="444949"/>
                  </a:solidFill>
                  <a:latin typeface="Calibri"/>
                  <a:cs typeface="Calibri"/>
                </a:rPr>
                <a:t>r</a:t>
              </a:r>
              <a:r>
                <a:rPr baseline="23148" dirty="0">
                  <a:solidFill>
                    <a:srgbClr val="444949"/>
                  </a:solidFill>
                  <a:latin typeface="Calibri"/>
                  <a:cs typeface="Calibri"/>
                </a:rPr>
                <a:t>d</a:t>
              </a:r>
              <a:r>
                <a:rPr spc="157" baseline="23148" dirty="0">
                  <a:solidFill>
                    <a:srgbClr val="444949"/>
                  </a:solidFill>
                  <a:latin typeface="Times New Roman"/>
                  <a:cs typeface="Times New Roman"/>
                </a:rPr>
                <a:t> </a:t>
              </a:r>
              <a:r>
                <a:rPr dirty="0">
                  <a:solidFill>
                    <a:srgbClr val="444949"/>
                  </a:solidFill>
                  <a:latin typeface="Calibri"/>
                  <a:cs typeface="Calibri"/>
                </a:rPr>
                <a:t>p</a:t>
              </a:r>
              <a:r>
                <a:rPr spc="-5" dirty="0">
                  <a:solidFill>
                    <a:srgbClr val="444949"/>
                  </a:solidFill>
                  <a:latin typeface="Calibri"/>
                  <a:cs typeface="Calibri"/>
                </a:rPr>
                <a:t>a</a:t>
              </a:r>
              <a:r>
                <a:rPr spc="-15" dirty="0">
                  <a:solidFill>
                    <a:srgbClr val="444949"/>
                  </a:solidFill>
                  <a:latin typeface="Calibri"/>
                  <a:cs typeface="Calibri"/>
                </a:rPr>
                <a:t>rty</a:t>
              </a:r>
              <a:r>
                <a:rPr dirty="0">
                  <a:solidFill>
                    <a:srgbClr val="444949"/>
                  </a:solidFill>
                  <a:latin typeface="Calibri"/>
                  <a:cs typeface="Calibri"/>
                </a:rPr>
                <a:t>)</a:t>
              </a:r>
              <a:endParaRPr>
                <a:solidFill>
                  <a:prstClr val="black"/>
                </a:solidFill>
                <a:latin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117516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5E0F6-70B3-CA27-1E6B-1436F342D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users access AWS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8AA77-52FE-E1EA-3C99-DD54E6E49F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access AWS, you have three options:</a:t>
            </a:r>
          </a:p>
          <a:p>
            <a:r>
              <a:rPr lang="en-US" dirty="0"/>
              <a:t>AWS Management Console (protected by password + MFA)</a:t>
            </a:r>
          </a:p>
          <a:p>
            <a:r>
              <a:rPr lang="en-US" dirty="0"/>
              <a:t>AWS Command Line Interface (CLI): protected by access keys</a:t>
            </a:r>
          </a:p>
          <a:p>
            <a:r>
              <a:rPr lang="en-US" dirty="0"/>
              <a:t>AWS Software Developer Kit (SDK) - for code: protected by access keys</a:t>
            </a:r>
          </a:p>
          <a:p>
            <a:r>
              <a:rPr lang="en-US" dirty="0"/>
              <a:t>Access Keys are generated through the AWS Console</a:t>
            </a:r>
          </a:p>
          <a:p>
            <a:r>
              <a:rPr lang="en-US" b="1" dirty="0"/>
              <a:t>Users manage their own access keys</a:t>
            </a:r>
          </a:p>
          <a:p>
            <a:pPr lvl="1"/>
            <a:r>
              <a:rPr lang="en-US" dirty="0"/>
              <a:t>Access Keys are secret, just like a password. Don’t share them</a:t>
            </a:r>
          </a:p>
          <a:p>
            <a:pPr lvl="1"/>
            <a:r>
              <a:rPr lang="en-US" dirty="0"/>
              <a:t>Access Key ID ~= username</a:t>
            </a:r>
          </a:p>
          <a:p>
            <a:pPr lvl="1"/>
            <a:r>
              <a:rPr lang="en-US" dirty="0"/>
              <a:t>Secret Access Key ~= password</a:t>
            </a:r>
          </a:p>
          <a:p>
            <a:endParaRPr lang="en-US" dirty="0"/>
          </a:p>
        </p:txBody>
      </p:sp>
      <p:sp>
        <p:nvSpPr>
          <p:cNvPr id="4" name="object 6">
            <a:extLst>
              <a:ext uri="{FF2B5EF4-FFF2-40B4-BE49-F238E27FC236}">
                <a16:creationId xmlns:a16="http://schemas.microsoft.com/office/drawing/2014/main" id="{CE5305D4-5643-051D-84E6-38EBCC976D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7475" y="488949"/>
            <a:ext cx="1076325" cy="1077913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69558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8640C-F3D8-E3C0-4240-56BA01D96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(Fake) Access Keys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504728-57C3-DF78-DC71-F58467C8806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/>
              <a:t>Access key ID</a:t>
            </a:r>
            <a:r>
              <a:rPr lang="en-US" dirty="0"/>
              <a:t>: AKIASK4E37PV4983d6C</a:t>
            </a:r>
          </a:p>
          <a:p>
            <a:r>
              <a:rPr lang="en-US" b="1" dirty="0"/>
              <a:t>Secret Access Key: </a:t>
            </a:r>
            <a:r>
              <a:rPr lang="en-US" dirty="0"/>
              <a:t>AZPN3zojWozWCndIjhB0Unh8239a1bzbzO5fqqkZq</a:t>
            </a:r>
          </a:p>
          <a:p>
            <a:r>
              <a:rPr lang="en-US" b="1" dirty="0"/>
              <a:t>Remember</a:t>
            </a:r>
            <a:r>
              <a:rPr lang="en-US" dirty="0"/>
              <a:t> : don’t share your access keys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AE2354-B97B-64FE-AEEC-0F4754132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352" y="1825625"/>
            <a:ext cx="4851097" cy="2904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7526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2F6CC-3308-EF58-CC9D-68D7E6D4E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the AWS CLI?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4BEA7-EB3F-80C1-BBC3-A8F84F9D3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tool that enables you to interact with AWS services using commands in your command-line shell</a:t>
            </a:r>
          </a:p>
          <a:p>
            <a:r>
              <a:rPr lang="en-US" dirty="0"/>
              <a:t>Direct access to the public APIs of AWS services</a:t>
            </a:r>
          </a:p>
          <a:p>
            <a:r>
              <a:rPr lang="en-US" dirty="0"/>
              <a:t>You can develop scripts to manage your resources</a:t>
            </a:r>
          </a:p>
          <a:p>
            <a:r>
              <a:rPr lang="en-US" dirty="0"/>
              <a:t>It’s open-source https://github.com/aws/aws-cli</a:t>
            </a:r>
          </a:p>
          <a:p>
            <a:r>
              <a:rPr lang="en-US" dirty="0"/>
              <a:t>Alternative to using AWS Management Console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F32604-A9A6-EA68-E39D-730DC2CB5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001" y="4555286"/>
            <a:ext cx="7425572" cy="1621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9770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BF308-0ECB-CF6B-9762-AB6466DFE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the AWS SDK?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1A262-88F5-230B-6DC3-23751FB7D65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AWS Software Development Kit (AWS SDK)</a:t>
            </a:r>
          </a:p>
          <a:p>
            <a:r>
              <a:rPr lang="en-US" dirty="0"/>
              <a:t>Language-specific APIs (set of libraries)</a:t>
            </a:r>
          </a:p>
          <a:p>
            <a:r>
              <a:rPr lang="en-US" dirty="0"/>
              <a:t>Enables you to access and manage AWS services programmatically</a:t>
            </a:r>
          </a:p>
          <a:p>
            <a:r>
              <a:rPr lang="en-US" dirty="0"/>
              <a:t>Embedded within your application</a:t>
            </a:r>
          </a:p>
          <a:p>
            <a:r>
              <a:rPr lang="en-US" dirty="0"/>
              <a:t>Supports</a:t>
            </a:r>
          </a:p>
          <a:p>
            <a:r>
              <a:rPr lang="en-US" dirty="0"/>
              <a:t>SDKs (JavaScript, Python, PHP, .NET, Ruby, Java, Go, Node.js, C++)</a:t>
            </a:r>
          </a:p>
          <a:p>
            <a:r>
              <a:rPr lang="en-US" dirty="0"/>
              <a:t>Mobile SDKs (Android, iOS, …)</a:t>
            </a:r>
          </a:p>
          <a:p>
            <a:r>
              <a:rPr lang="en-US" dirty="0"/>
              <a:t>IoT Device SDKs (Embedded C, Arduino, …)</a:t>
            </a:r>
          </a:p>
          <a:p>
            <a:r>
              <a:rPr lang="en-US" b="1" dirty="0"/>
              <a:t>Example</a:t>
            </a:r>
            <a:r>
              <a:rPr lang="en-US" dirty="0"/>
              <a:t>: AWS CLI is built on AWS SDK for Python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E08862-D446-68FF-8403-8640324CA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9846" y="550637"/>
            <a:ext cx="1133954" cy="1140051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AA482D78-9335-54E6-4173-1AC1B6BDF960}"/>
              </a:ext>
            </a:extLst>
          </p:cNvPr>
          <p:cNvGrpSpPr/>
          <p:nvPr/>
        </p:nvGrpSpPr>
        <p:grpSpPr>
          <a:xfrm>
            <a:off x="6955228" y="1150143"/>
            <a:ext cx="4127500" cy="4557713"/>
            <a:chOff x="8064500" y="854075"/>
            <a:chExt cx="4127500" cy="4557713"/>
          </a:xfrm>
        </p:grpSpPr>
        <p:sp>
          <p:nvSpPr>
            <p:cNvPr id="8" name="object 4">
              <a:extLst>
                <a:ext uri="{FF2B5EF4-FFF2-40B4-BE49-F238E27FC236}">
                  <a16:creationId xmlns:a16="http://schemas.microsoft.com/office/drawing/2014/main" id="{21A64053-9C5B-0CEC-53A3-CABE2D543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64500" y="854075"/>
              <a:ext cx="4127500" cy="4557713"/>
            </a:xfrm>
            <a:prstGeom prst="rect">
              <a:avLst/>
            </a:prstGeom>
            <a:blipFill dpi="0" rotWithShape="1">
              <a:blip r:embed="rId3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D80C71C-2575-C35C-CF9F-ADA98F4DC1DE}"/>
                </a:ext>
              </a:extLst>
            </p:cNvPr>
            <p:cNvGrpSpPr/>
            <p:nvPr/>
          </p:nvGrpSpPr>
          <p:grpSpPr>
            <a:xfrm>
              <a:off x="9153525" y="2687638"/>
              <a:ext cx="1712913" cy="2236787"/>
              <a:chOff x="9153525" y="2687638"/>
              <a:chExt cx="1712913" cy="2236787"/>
            </a:xfrm>
          </p:grpSpPr>
          <p:sp>
            <p:nvSpPr>
              <p:cNvPr id="10" name="object 7">
                <a:extLst>
                  <a:ext uri="{FF2B5EF4-FFF2-40B4-BE49-F238E27FC236}">
                    <a16:creationId xmlns:a16="http://schemas.microsoft.com/office/drawing/2014/main" id="{B3360995-11D8-BC0E-348C-C85A613F12DB}"/>
                  </a:ext>
                </a:extLst>
              </p:cNvPr>
              <p:cNvSpPr txBox="1"/>
              <p:nvPr/>
            </p:nvSpPr>
            <p:spPr>
              <a:xfrm>
                <a:off x="9956800" y="2905125"/>
                <a:ext cx="873125" cy="254000"/>
              </a:xfrm>
              <a:prstGeom prst="rect">
                <a:avLst/>
              </a:prstGeom>
            </p:spPr>
            <p:txBody>
              <a:bodyPr lIns="0" tIns="0" rIns="0" bIns="0">
                <a:spAutoFit/>
              </a:bodyPr>
              <a:lstStyle/>
              <a:p>
                <a:pPr marL="127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spc="-90" dirty="0">
                    <a:solidFill>
                      <a:srgbClr val="444949"/>
                    </a:solidFill>
                    <a:latin typeface="Calibri"/>
                    <a:cs typeface="Calibri"/>
                  </a:rPr>
                  <a:t>A</a:t>
                </a:r>
                <a:r>
                  <a:rPr spc="-30" dirty="0">
                    <a:solidFill>
                      <a:srgbClr val="444949"/>
                    </a:solidFill>
                    <a:latin typeface="Calibri"/>
                    <a:cs typeface="Calibri"/>
                  </a:rPr>
                  <a:t>W</a:t>
                </a:r>
                <a:r>
                  <a:rPr dirty="0">
                    <a:solidFill>
                      <a:srgbClr val="444949"/>
                    </a:solidFill>
                    <a:latin typeface="Calibri"/>
                    <a:cs typeface="Calibri"/>
                  </a:rPr>
                  <a:t>S</a:t>
                </a:r>
                <a:r>
                  <a:rPr spc="-40" dirty="0">
                    <a:solidFill>
                      <a:srgbClr val="444949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pc="-5" dirty="0">
                    <a:solidFill>
                      <a:srgbClr val="444949"/>
                    </a:solidFill>
                    <a:latin typeface="Calibri"/>
                    <a:cs typeface="Calibri"/>
                  </a:rPr>
                  <a:t>S</a:t>
                </a:r>
                <a:r>
                  <a:rPr spc="5" dirty="0">
                    <a:solidFill>
                      <a:srgbClr val="444949"/>
                    </a:solidFill>
                    <a:latin typeface="Calibri"/>
                    <a:cs typeface="Calibri"/>
                  </a:rPr>
                  <a:t>D</a:t>
                </a:r>
                <a:r>
                  <a:rPr spc="-10" dirty="0">
                    <a:solidFill>
                      <a:srgbClr val="444949"/>
                    </a:solidFill>
                    <a:latin typeface="Calibri"/>
                    <a:cs typeface="Calibri"/>
                  </a:rPr>
                  <a:t>K</a:t>
                </a:r>
                <a:endParaRPr dirty="0">
                  <a:latin typeface="Calibri"/>
                  <a:cs typeface="Calibri"/>
                </a:endParaRPr>
              </a:p>
            </p:txBody>
          </p:sp>
          <p:sp>
            <p:nvSpPr>
              <p:cNvPr id="11" name="object 8">
                <a:extLst>
                  <a:ext uri="{FF2B5EF4-FFF2-40B4-BE49-F238E27FC236}">
                    <a16:creationId xmlns:a16="http://schemas.microsoft.com/office/drawing/2014/main" id="{330B1F1A-A05C-4B6D-3E73-2A0EA9ED42A3}"/>
                  </a:ext>
                </a:extLst>
              </p:cNvPr>
              <p:cNvSpPr txBox="1"/>
              <p:nvPr/>
            </p:nvSpPr>
            <p:spPr>
              <a:xfrm>
                <a:off x="9153525" y="4645025"/>
                <a:ext cx="1712913" cy="279400"/>
              </a:xfrm>
              <a:prstGeom prst="rect">
                <a:avLst/>
              </a:prstGeom>
            </p:spPr>
            <p:txBody>
              <a:bodyPr lIns="0" tIns="0" rIns="0" bIns="0">
                <a:spAutoFit/>
              </a:bodyPr>
              <a:lstStyle/>
              <a:p>
                <a:pPr marL="127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sz="2000" spc="-150" dirty="0">
                    <a:solidFill>
                      <a:srgbClr val="444949"/>
                    </a:solidFill>
                    <a:latin typeface="Calibri"/>
                    <a:cs typeface="Calibri"/>
                  </a:rPr>
                  <a:t>Y</a:t>
                </a:r>
                <a:r>
                  <a:rPr sz="2000" spc="-5" dirty="0">
                    <a:solidFill>
                      <a:srgbClr val="444949"/>
                    </a:solidFill>
                    <a:latin typeface="Calibri"/>
                    <a:cs typeface="Calibri"/>
                  </a:rPr>
                  <a:t>ou</a:t>
                </a:r>
                <a:r>
                  <a:rPr sz="2000" dirty="0">
                    <a:solidFill>
                      <a:srgbClr val="444949"/>
                    </a:solidFill>
                    <a:latin typeface="Calibri"/>
                    <a:cs typeface="Calibri"/>
                  </a:rPr>
                  <a:t>r</a:t>
                </a:r>
                <a:r>
                  <a:rPr sz="2000" spc="-50" dirty="0">
                    <a:solidFill>
                      <a:srgbClr val="444949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2000" spc="-10" dirty="0">
                    <a:solidFill>
                      <a:srgbClr val="444949"/>
                    </a:solidFill>
                    <a:latin typeface="Calibri"/>
                    <a:cs typeface="Calibri"/>
                  </a:rPr>
                  <a:t>A</a:t>
                </a:r>
                <a:r>
                  <a:rPr sz="2000" spc="-5" dirty="0">
                    <a:solidFill>
                      <a:srgbClr val="444949"/>
                    </a:solidFill>
                    <a:latin typeface="Calibri"/>
                    <a:cs typeface="Calibri"/>
                  </a:rPr>
                  <a:t>pp</a:t>
                </a:r>
                <a:r>
                  <a:rPr sz="2000" dirty="0">
                    <a:solidFill>
                      <a:srgbClr val="444949"/>
                    </a:solidFill>
                    <a:latin typeface="Calibri"/>
                    <a:cs typeface="Calibri"/>
                  </a:rPr>
                  <a:t>li</a:t>
                </a:r>
                <a:r>
                  <a:rPr sz="2000" spc="-25" dirty="0">
                    <a:solidFill>
                      <a:srgbClr val="444949"/>
                    </a:solidFill>
                    <a:latin typeface="Calibri"/>
                    <a:cs typeface="Calibri"/>
                  </a:rPr>
                  <a:t>c</a:t>
                </a:r>
                <a:r>
                  <a:rPr sz="2000" spc="-15" dirty="0">
                    <a:solidFill>
                      <a:srgbClr val="444949"/>
                    </a:solidFill>
                    <a:latin typeface="Calibri"/>
                    <a:cs typeface="Calibri"/>
                  </a:rPr>
                  <a:t>a</a:t>
                </a:r>
                <a:r>
                  <a:rPr sz="2000" spc="-5" dirty="0">
                    <a:solidFill>
                      <a:srgbClr val="444949"/>
                    </a:solidFill>
                    <a:latin typeface="Calibri"/>
                    <a:cs typeface="Calibri"/>
                  </a:rPr>
                  <a:t>t</a:t>
                </a:r>
                <a:r>
                  <a:rPr sz="2000" dirty="0">
                    <a:solidFill>
                      <a:srgbClr val="444949"/>
                    </a:solidFill>
                    <a:latin typeface="Calibri"/>
                    <a:cs typeface="Calibri"/>
                  </a:rPr>
                  <a:t>i</a:t>
                </a:r>
                <a:r>
                  <a:rPr sz="2000" spc="-5" dirty="0">
                    <a:solidFill>
                      <a:srgbClr val="444949"/>
                    </a:solidFill>
                    <a:latin typeface="Calibri"/>
                    <a:cs typeface="Calibri"/>
                  </a:rPr>
                  <a:t>o</a:t>
                </a:r>
                <a:r>
                  <a:rPr sz="2000" dirty="0">
                    <a:solidFill>
                      <a:srgbClr val="444949"/>
                    </a:solidFill>
                    <a:latin typeface="Calibri"/>
                    <a:cs typeface="Calibri"/>
                  </a:rPr>
                  <a:t>n</a:t>
                </a:r>
                <a:endParaRPr sz="2000" dirty="0">
                  <a:latin typeface="Calibri"/>
                  <a:cs typeface="Calibri"/>
                </a:endParaRPr>
              </a:p>
            </p:txBody>
          </p:sp>
          <p:sp>
            <p:nvSpPr>
              <p:cNvPr id="12" name="object 9">
                <a:extLst>
                  <a:ext uri="{FF2B5EF4-FFF2-40B4-BE49-F238E27FC236}">
                    <a16:creationId xmlns:a16="http://schemas.microsoft.com/office/drawing/2014/main" id="{9F983F3C-30E8-7242-1F63-4919866B86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47188" y="2687638"/>
                <a:ext cx="639762" cy="639762"/>
              </a:xfrm>
              <a:prstGeom prst="rect">
                <a:avLst/>
              </a:prstGeom>
              <a:blipFill dpi="0" rotWithShape="1">
                <a:blip r:embed="rId4"/>
                <a:srcRect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448868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90FD2-B280-A4DA-785C-15833F94F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IAM Roles for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08E46-B7DE-4C7B-EABE-972F58D63E5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AWS service will need to perform actions on your behalf</a:t>
            </a:r>
          </a:p>
          <a:p>
            <a:r>
              <a:rPr lang="en-US" dirty="0"/>
              <a:t>To do so, we will assign permissions to AWS services with IAM Roles</a:t>
            </a:r>
          </a:p>
          <a:p>
            <a:r>
              <a:rPr lang="en-US" dirty="0"/>
              <a:t>Common roles:</a:t>
            </a:r>
          </a:p>
          <a:p>
            <a:r>
              <a:rPr lang="en-US" dirty="0"/>
              <a:t>EC2 Instance Roles</a:t>
            </a:r>
          </a:p>
          <a:p>
            <a:r>
              <a:rPr lang="en-US" dirty="0"/>
              <a:t>Lambda Function Roles</a:t>
            </a:r>
          </a:p>
          <a:p>
            <a:r>
              <a:rPr lang="en-US" dirty="0"/>
              <a:t>Roles for CloudFormation</a:t>
            </a:r>
          </a:p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CB5523B-0E88-E859-0132-3A45F571550A}"/>
              </a:ext>
            </a:extLst>
          </p:cNvPr>
          <p:cNvGrpSpPr/>
          <p:nvPr/>
        </p:nvGrpSpPr>
        <p:grpSpPr>
          <a:xfrm>
            <a:off x="6945313" y="1101725"/>
            <a:ext cx="4408487" cy="4699000"/>
            <a:chOff x="6945313" y="1101725"/>
            <a:chExt cx="4408487" cy="4699000"/>
          </a:xfrm>
        </p:grpSpPr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DC15892A-EA88-7BFB-D3DE-7EE8D577769A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5313" y="1101725"/>
              <a:ext cx="4408487" cy="2438400"/>
            </a:xfrm>
            <a:custGeom>
              <a:avLst/>
              <a:gdLst>
                <a:gd name="T0" fmla="*/ 0 w 4409440"/>
                <a:gd name="T1" fmla="*/ 2437327 h 2437765"/>
                <a:gd name="T2" fmla="*/ 4409084 w 4409440"/>
                <a:gd name="T3" fmla="*/ 2437327 h 2437765"/>
                <a:gd name="T4" fmla="*/ 4409084 w 4409440"/>
                <a:gd name="T5" fmla="*/ 0 h 2437765"/>
                <a:gd name="T6" fmla="*/ 0 w 4409440"/>
                <a:gd name="T7" fmla="*/ 0 h 2437765"/>
                <a:gd name="T8" fmla="*/ 0 w 4409440"/>
                <a:gd name="T9" fmla="*/ 2437327 h 24377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9440" h="2437765">
                  <a:moveTo>
                    <a:pt x="0" y="2437327"/>
                  </a:moveTo>
                  <a:lnTo>
                    <a:pt x="4409084" y="2437327"/>
                  </a:lnTo>
                  <a:lnTo>
                    <a:pt x="4409084" y="0"/>
                  </a:lnTo>
                  <a:lnTo>
                    <a:pt x="0" y="0"/>
                  </a:lnTo>
                  <a:lnTo>
                    <a:pt x="0" y="2437327"/>
                  </a:lnTo>
                  <a:close/>
                </a:path>
              </a:pathLst>
            </a:custGeom>
            <a:noFill/>
            <a:ln w="12700">
              <a:solidFill>
                <a:srgbClr val="44494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19FE76D4-1A47-B9E1-1544-99D1914CD2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97813" y="2127250"/>
              <a:ext cx="1149350" cy="1149350"/>
            </a:xfrm>
            <a:prstGeom prst="rect">
              <a:avLst/>
            </a:prstGeom>
            <a:blipFill dpi="0" rotWithShape="1">
              <a:blip r:embed="rId2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8" name="object 9">
              <a:extLst>
                <a:ext uri="{FF2B5EF4-FFF2-40B4-BE49-F238E27FC236}">
                  <a16:creationId xmlns:a16="http://schemas.microsoft.com/office/drawing/2014/main" id="{CCE4EA7B-0CE4-A123-1466-935E92DC03D3}"/>
                </a:ext>
              </a:extLst>
            </p:cNvPr>
            <p:cNvSpPr txBox="1"/>
            <p:nvPr/>
          </p:nvSpPr>
          <p:spPr>
            <a:xfrm>
              <a:off x="9217025" y="1358900"/>
              <a:ext cx="1879600" cy="1731963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>
              <a:lvl1pPr marL="44450" indent="-33338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r>
                <a:rPr lang="en-US" altLang="en-US" sz="2400" b="1">
                  <a:solidFill>
                    <a:srgbClr val="444949"/>
                  </a:solidFill>
                  <a:cs typeface="Calibri" panose="020F0502020204030204" pitchFamily="34" charset="0"/>
                </a:rPr>
                <a:t>IAM</a:t>
              </a:r>
              <a:r>
                <a:rPr lang="en-US" altLang="en-US" sz="2400" b="1">
                  <a:solidFill>
                    <a:srgbClr val="44494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b="1">
                  <a:solidFill>
                    <a:srgbClr val="444949"/>
                  </a:solidFill>
                  <a:cs typeface="Calibri" panose="020F0502020204030204" pitchFamily="34" charset="0"/>
                </a:rPr>
                <a:t>Role</a:t>
              </a:r>
              <a:endParaRPr lang="en-US" altLang="en-US" sz="2400">
                <a:cs typeface="Calibri" panose="020F0502020204030204" pitchFamily="34" charset="0"/>
              </a:endParaRPr>
            </a:p>
            <a:p>
              <a:endPara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altLang="en-US" sz="21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01000"/>
                </a:lnSpc>
              </a:pPr>
              <a:r>
                <a:rPr lang="en-US" altLang="en-US" sz="2400">
                  <a:solidFill>
                    <a:srgbClr val="444949"/>
                  </a:solidFill>
                  <a:cs typeface="Calibri" panose="020F0502020204030204" pitchFamily="34" charset="0"/>
                </a:rPr>
                <a:t>EC2</a:t>
              </a:r>
              <a:r>
                <a:rPr lang="en-US" altLang="en-US" sz="2400">
                  <a:solidFill>
                    <a:srgbClr val="44494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>
                  <a:solidFill>
                    <a:srgbClr val="444949"/>
                  </a:solidFill>
                  <a:cs typeface="Calibri" panose="020F0502020204030204" pitchFamily="34" charset="0"/>
                </a:rPr>
                <a:t>Instance</a:t>
              </a:r>
              <a:r>
                <a:rPr lang="en-US" altLang="en-US" sz="2400">
                  <a:solidFill>
                    <a:srgbClr val="44494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>
                  <a:solidFill>
                    <a:srgbClr val="444949"/>
                  </a:solidFill>
                  <a:cs typeface="Calibri" panose="020F0502020204030204" pitchFamily="34" charset="0"/>
                </a:rPr>
                <a:t>(virtual</a:t>
              </a:r>
              <a:r>
                <a:rPr lang="en-US" altLang="en-US" sz="2400">
                  <a:solidFill>
                    <a:srgbClr val="44494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>
                  <a:solidFill>
                    <a:srgbClr val="444949"/>
                  </a:solidFill>
                  <a:cs typeface="Calibri" panose="020F0502020204030204" pitchFamily="34" charset="0"/>
                </a:rPr>
                <a:t>server)</a:t>
              </a:r>
              <a:endParaRPr lang="en-US" altLang="en-US" sz="2400">
                <a:cs typeface="Calibri" panose="020F0502020204030204" pitchFamily="34" charset="0"/>
              </a:endParaRPr>
            </a:p>
          </p:txBody>
        </p:sp>
        <p:sp>
          <p:nvSpPr>
            <p:cNvPr id="9" name="object 10">
              <a:extLst>
                <a:ext uri="{FF2B5EF4-FFF2-40B4-BE49-F238E27FC236}">
                  <a16:creationId xmlns:a16="http://schemas.microsoft.com/office/drawing/2014/main" id="{D641EDFC-19F5-497C-149E-426565171F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02675" y="4906963"/>
              <a:ext cx="892175" cy="893762"/>
            </a:xfrm>
            <a:prstGeom prst="rect">
              <a:avLst/>
            </a:prstGeom>
            <a:blipFill dpi="0" rotWithShape="1">
              <a:blip r:embed="rId3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" name="object 11">
              <a:extLst>
                <a:ext uri="{FF2B5EF4-FFF2-40B4-BE49-F238E27FC236}">
                  <a16:creationId xmlns:a16="http://schemas.microsoft.com/office/drawing/2014/main" id="{C4D3327F-DFEB-122F-79BE-7A63757E194F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0663" y="3540125"/>
              <a:ext cx="76200" cy="1368425"/>
            </a:xfrm>
            <a:custGeom>
              <a:avLst/>
              <a:gdLst>
                <a:gd name="T0" fmla="*/ 34930 w 76200"/>
                <a:gd name="T1" fmla="*/ 1292867 h 1369060"/>
                <a:gd name="T2" fmla="*/ 0 w 76200"/>
                <a:gd name="T3" fmla="*/ 1292867 h 1369060"/>
                <a:gd name="T4" fmla="*/ 38099 w 76200"/>
                <a:gd name="T5" fmla="*/ 1369067 h 1369060"/>
                <a:gd name="T6" fmla="*/ 69847 w 76200"/>
                <a:gd name="T7" fmla="*/ 1305571 h 1369060"/>
                <a:gd name="T8" fmla="*/ 34930 w 76200"/>
                <a:gd name="T9" fmla="*/ 1305571 h 1369060"/>
                <a:gd name="T10" fmla="*/ 34930 w 76200"/>
                <a:gd name="T11" fmla="*/ 1292867 h 1369060"/>
                <a:gd name="T12" fmla="*/ 41300 w 76200"/>
                <a:gd name="T13" fmla="*/ 0 h 1369060"/>
                <a:gd name="T14" fmla="*/ 34930 w 76200"/>
                <a:gd name="T15" fmla="*/ 0 h 1369060"/>
                <a:gd name="T16" fmla="*/ 34930 w 76200"/>
                <a:gd name="T17" fmla="*/ 1305571 h 1369060"/>
                <a:gd name="T18" fmla="*/ 41300 w 76200"/>
                <a:gd name="T19" fmla="*/ 1305571 h 1369060"/>
                <a:gd name="T20" fmla="*/ 41300 w 76200"/>
                <a:gd name="T21" fmla="*/ 0 h 1369060"/>
                <a:gd name="T22" fmla="*/ 76199 w 76200"/>
                <a:gd name="T23" fmla="*/ 1292867 h 1369060"/>
                <a:gd name="T24" fmla="*/ 41300 w 76200"/>
                <a:gd name="T25" fmla="*/ 1292867 h 1369060"/>
                <a:gd name="T26" fmla="*/ 41300 w 76200"/>
                <a:gd name="T27" fmla="*/ 1305571 h 1369060"/>
                <a:gd name="T28" fmla="*/ 69847 w 76200"/>
                <a:gd name="T29" fmla="*/ 1305571 h 1369060"/>
                <a:gd name="T30" fmla="*/ 76199 w 76200"/>
                <a:gd name="T31" fmla="*/ 1292867 h 13690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6200" h="1369060">
                  <a:moveTo>
                    <a:pt x="34930" y="1292867"/>
                  </a:moveTo>
                  <a:lnTo>
                    <a:pt x="0" y="1292867"/>
                  </a:lnTo>
                  <a:lnTo>
                    <a:pt x="38099" y="1369067"/>
                  </a:lnTo>
                  <a:lnTo>
                    <a:pt x="69847" y="1305571"/>
                  </a:lnTo>
                  <a:lnTo>
                    <a:pt x="34930" y="1305571"/>
                  </a:lnTo>
                  <a:lnTo>
                    <a:pt x="34930" y="1292867"/>
                  </a:lnTo>
                  <a:close/>
                </a:path>
                <a:path w="76200" h="1369060">
                  <a:moveTo>
                    <a:pt x="41300" y="0"/>
                  </a:moveTo>
                  <a:lnTo>
                    <a:pt x="34930" y="0"/>
                  </a:lnTo>
                  <a:lnTo>
                    <a:pt x="34930" y="1305571"/>
                  </a:lnTo>
                  <a:lnTo>
                    <a:pt x="41300" y="1305571"/>
                  </a:lnTo>
                  <a:lnTo>
                    <a:pt x="41300" y="0"/>
                  </a:lnTo>
                  <a:close/>
                </a:path>
                <a:path w="76200" h="1369060">
                  <a:moveTo>
                    <a:pt x="76199" y="1292867"/>
                  </a:moveTo>
                  <a:lnTo>
                    <a:pt x="41300" y="1292867"/>
                  </a:lnTo>
                  <a:lnTo>
                    <a:pt x="41300" y="1305571"/>
                  </a:lnTo>
                  <a:lnTo>
                    <a:pt x="69847" y="1305571"/>
                  </a:lnTo>
                  <a:lnTo>
                    <a:pt x="76199" y="1292867"/>
                  </a:lnTo>
                  <a:close/>
                </a:path>
              </a:pathLst>
            </a:custGeom>
            <a:solidFill>
              <a:srgbClr val="44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1" name="object 12">
              <a:extLst>
                <a:ext uri="{FF2B5EF4-FFF2-40B4-BE49-F238E27FC236}">
                  <a16:creationId xmlns:a16="http://schemas.microsoft.com/office/drawing/2014/main" id="{4F48B999-919C-F87A-90E7-E7F10E655BF8}"/>
                </a:ext>
              </a:extLst>
            </p:cNvPr>
            <p:cNvSpPr txBox="1"/>
            <p:nvPr/>
          </p:nvSpPr>
          <p:spPr>
            <a:xfrm>
              <a:off x="9250363" y="4110038"/>
              <a:ext cx="1125537" cy="254000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127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spc="-20" dirty="0">
                  <a:solidFill>
                    <a:srgbClr val="444949"/>
                  </a:solidFill>
                  <a:latin typeface="Calibri"/>
                  <a:cs typeface="Calibri"/>
                </a:rPr>
                <a:t>A</a:t>
              </a:r>
              <a:r>
                <a:rPr spc="-10" dirty="0">
                  <a:solidFill>
                    <a:srgbClr val="444949"/>
                  </a:solidFill>
                  <a:latin typeface="Calibri"/>
                  <a:cs typeface="Calibri"/>
                </a:rPr>
                <a:t>cc</a:t>
              </a:r>
              <a:r>
                <a:rPr spc="-5" dirty="0">
                  <a:solidFill>
                    <a:srgbClr val="444949"/>
                  </a:solidFill>
                  <a:latin typeface="Calibri"/>
                  <a:cs typeface="Calibri"/>
                </a:rPr>
                <a:t>es</a:t>
              </a:r>
              <a:r>
                <a:rPr dirty="0">
                  <a:solidFill>
                    <a:srgbClr val="444949"/>
                  </a:solidFill>
                  <a:latin typeface="Calibri"/>
                  <a:cs typeface="Calibri"/>
                </a:rPr>
                <a:t>s</a:t>
              </a:r>
              <a:r>
                <a:rPr spc="-45" dirty="0">
                  <a:solidFill>
                    <a:srgbClr val="444949"/>
                  </a:solidFill>
                  <a:latin typeface="Times New Roman"/>
                  <a:cs typeface="Times New Roman"/>
                </a:rPr>
                <a:t> </a:t>
              </a:r>
              <a:r>
                <a:rPr spc="-90" dirty="0">
                  <a:solidFill>
                    <a:srgbClr val="444949"/>
                  </a:solidFill>
                  <a:latin typeface="Calibri"/>
                  <a:cs typeface="Calibri"/>
                </a:rPr>
                <a:t>A</a:t>
              </a:r>
              <a:r>
                <a:rPr spc="-30" dirty="0">
                  <a:solidFill>
                    <a:srgbClr val="444949"/>
                  </a:solidFill>
                  <a:latin typeface="Calibri"/>
                  <a:cs typeface="Calibri"/>
                </a:rPr>
                <a:t>W</a:t>
              </a:r>
              <a:r>
                <a:rPr dirty="0">
                  <a:solidFill>
                    <a:srgbClr val="444949"/>
                  </a:solidFill>
                  <a:latin typeface="Calibri"/>
                  <a:cs typeface="Calibri"/>
                </a:rPr>
                <a:t>S</a:t>
              </a:r>
              <a:endParaRPr dirty="0">
                <a:latin typeface="Calibri"/>
                <a:cs typeface="Calibri"/>
              </a:endParaRPr>
            </a:p>
          </p:txBody>
        </p:sp>
        <p:sp>
          <p:nvSpPr>
            <p:cNvPr id="12" name="object 13">
              <a:extLst>
                <a:ext uri="{FF2B5EF4-FFF2-40B4-BE49-F238E27FC236}">
                  <a16:creationId xmlns:a16="http://schemas.microsoft.com/office/drawing/2014/main" id="{1F156A59-F47C-610B-BBA4-9C2D0BD0E377}"/>
                </a:ext>
              </a:extLst>
            </p:cNvPr>
            <p:cNvSpPr>
              <a:spLocks/>
            </p:cNvSpPr>
            <p:nvPr/>
          </p:nvSpPr>
          <p:spPr bwMode="auto">
            <a:xfrm>
              <a:off x="8434388" y="1744663"/>
              <a:ext cx="76200" cy="384175"/>
            </a:xfrm>
            <a:custGeom>
              <a:avLst/>
              <a:gdLst>
                <a:gd name="T0" fmla="*/ 34923 w 76200"/>
                <a:gd name="T1" fmla="*/ 307787 h 384175"/>
                <a:gd name="T2" fmla="*/ 0 w 76200"/>
                <a:gd name="T3" fmla="*/ 307787 h 384175"/>
                <a:gd name="T4" fmla="*/ 38099 w 76200"/>
                <a:gd name="T5" fmla="*/ 383987 h 384175"/>
                <a:gd name="T6" fmla="*/ 69860 w 76200"/>
                <a:gd name="T7" fmla="*/ 320466 h 384175"/>
                <a:gd name="T8" fmla="*/ 34923 w 76200"/>
                <a:gd name="T9" fmla="*/ 320466 h 384175"/>
                <a:gd name="T10" fmla="*/ 34923 w 76200"/>
                <a:gd name="T11" fmla="*/ 307787 h 384175"/>
                <a:gd name="T12" fmla="*/ 41269 w 76200"/>
                <a:gd name="T13" fmla="*/ 63470 h 384175"/>
                <a:gd name="T14" fmla="*/ 34923 w 76200"/>
                <a:gd name="T15" fmla="*/ 63470 h 384175"/>
                <a:gd name="T16" fmla="*/ 34923 w 76200"/>
                <a:gd name="T17" fmla="*/ 320466 h 384175"/>
                <a:gd name="T18" fmla="*/ 41269 w 76200"/>
                <a:gd name="T19" fmla="*/ 320466 h 384175"/>
                <a:gd name="T20" fmla="*/ 41269 w 76200"/>
                <a:gd name="T21" fmla="*/ 63470 h 384175"/>
                <a:gd name="T22" fmla="*/ 76199 w 76200"/>
                <a:gd name="T23" fmla="*/ 307787 h 384175"/>
                <a:gd name="T24" fmla="*/ 41269 w 76200"/>
                <a:gd name="T25" fmla="*/ 307787 h 384175"/>
                <a:gd name="T26" fmla="*/ 41269 w 76200"/>
                <a:gd name="T27" fmla="*/ 320466 h 384175"/>
                <a:gd name="T28" fmla="*/ 69860 w 76200"/>
                <a:gd name="T29" fmla="*/ 320466 h 384175"/>
                <a:gd name="T30" fmla="*/ 76199 w 76200"/>
                <a:gd name="T31" fmla="*/ 307787 h 384175"/>
                <a:gd name="T32" fmla="*/ 38099 w 76200"/>
                <a:gd name="T33" fmla="*/ 0 h 384175"/>
                <a:gd name="T34" fmla="*/ 0 w 76200"/>
                <a:gd name="T35" fmla="*/ 76199 h 384175"/>
                <a:gd name="T36" fmla="*/ 34923 w 76200"/>
                <a:gd name="T37" fmla="*/ 76199 h 384175"/>
                <a:gd name="T38" fmla="*/ 34923 w 76200"/>
                <a:gd name="T39" fmla="*/ 63470 h 384175"/>
                <a:gd name="T40" fmla="*/ 69835 w 76200"/>
                <a:gd name="T41" fmla="*/ 63470 h 384175"/>
                <a:gd name="T42" fmla="*/ 38099 w 76200"/>
                <a:gd name="T43" fmla="*/ 0 h 384175"/>
                <a:gd name="T44" fmla="*/ 69835 w 76200"/>
                <a:gd name="T45" fmla="*/ 63470 h 384175"/>
                <a:gd name="T46" fmla="*/ 41269 w 76200"/>
                <a:gd name="T47" fmla="*/ 63470 h 384175"/>
                <a:gd name="T48" fmla="*/ 41269 w 76200"/>
                <a:gd name="T49" fmla="*/ 76199 h 384175"/>
                <a:gd name="T50" fmla="*/ 76199 w 76200"/>
                <a:gd name="T51" fmla="*/ 76199 h 384175"/>
                <a:gd name="T52" fmla="*/ 69835 w 76200"/>
                <a:gd name="T53" fmla="*/ 63470 h 384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6200" h="384175">
                  <a:moveTo>
                    <a:pt x="34923" y="307787"/>
                  </a:moveTo>
                  <a:lnTo>
                    <a:pt x="0" y="307787"/>
                  </a:lnTo>
                  <a:lnTo>
                    <a:pt x="38099" y="383987"/>
                  </a:lnTo>
                  <a:lnTo>
                    <a:pt x="69860" y="320466"/>
                  </a:lnTo>
                  <a:lnTo>
                    <a:pt x="34923" y="320466"/>
                  </a:lnTo>
                  <a:lnTo>
                    <a:pt x="34923" y="307787"/>
                  </a:lnTo>
                  <a:close/>
                </a:path>
                <a:path w="76200" h="384175">
                  <a:moveTo>
                    <a:pt x="41269" y="63470"/>
                  </a:moveTo>
                  <a:lnTo>
                    <a:pt x="34923" y="63470"/>
                  </a:lnTo>
                  <a:lnTo>
                    <a:pt x="34923" y="320466"/>
                  </a:lnTo>
                  <a:lnTo>
                    <a:pt x="41269" y="320466"/>
                  </a:lnTo>
                  <a:lnTo>
                    <a:pt x="41269" y="63470"/>
                  </a:lnTo>
                  <a:close/>
                </a:path>
                <a:path w="76200" h="384175">
                  <a:moveTo>
                    <a:pt x="76199" y="307787"/>
                  </a:moveTo>
                  <a:lnTo>
                    <a:pt x="41269" y="307787"/>
                  </a:lnTo>
                  <a:lnTo>
                    <a:pt x="41269" y="320466"/>
                  </a:lnTo>
                  <a:lnTo>
                    <a:pt x="69860" y="320466"/>
                  </a:lnTo>
                  <a:lnTo>
                    <a:pt x="76199" y="307787"/>
                  </a:lnTo>
                  <a:close/>
                </a:path>
                <a:path w="76200" h="384175">
                  <a:moveTo>
                    <a:pt x="38099" y="0"/>
                  </a:moveTo>
                  <a:lnTo>
                    <a:pt x="0" y="76199"/>
                  </a:lnTo>
                  <a:lnTo>
                    <a:pt x="34923" y="76199"/>
                  </a:lnTo>
                  <a:lnTo>
                    <a:pt x="34923" y="63470"/>
                  </a:lnTo>
                  <a:lnTo>
                    <a:pt x="69835" y="63470"/>
                  </a:lnTo>
                  <a:lnTo>
                    <a:pt x="38099" y="0"/>
                  </a:lnTo>
                  <a:close/>
                </a:path>
                <a:path w="76200" h="384175">
                  <a:moveTo>
                    <a:pt x="69835" y="63470"/>
                  </a:moveTo>
                  <a:lnTo>
                    <a:pt x="41269" y="63470"/>
                  </a:lnTo>
                  <a:lnTo>
                    <a:pt x="41269" y="76199"/>
                  </a:lnTo>
                  <a:lnTo>
                    <a:pt x="76199" y="76199"/>
                  </a:lnTo>
                  <a:lnTo>
                    <a:pt x="69835" y="63470"/>
                  </a:lnTo>
                  <a:close/>
                </a:path>
              </a:pathLst>
            </a:custGeom>
            <a:solidFill>
              <a:srgbClr val="44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3" name="object 14">
              <a:extLst>
                <a:ext uri="{FF2B5EF4-FFF2-40B4-BE49-F238E27FC236}">
                  <a16:creationId xmlns:a16="http://schemas.microsoft.com/office/drawing/2014/main" id="{1A98D581-D90E-E9ED-F1DC-46C16939CD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20350" y="3952875"/>
              <a:ext cx="539750" cy="539750"/>
            </a:xfrm>
            <a:prstGeom prst="rect">
              <a:avLst/>
            </a:prstGeom>
            <a:blipFill dpi="0" rotWithShape="1">
              <a:blip r:embed="rId4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607952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CA0E4-4774-AC47-11FD-445E6300B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IAM Security Tools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D22A9D9-9C4A-020D-26F3-B25BA0DEE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IAM Credentials Report (account-level)</a:t>
            </a:r>
          </a:p>
          <a:p>
            <a:pPr lvl="1"/>
            <a:r>
              <a:rPr lang="en-US" dirty="0"/>
              <a:t>a report that lists all your account's users and the status of their various credentials</a:t>
            </a:r>
          </a:p>
          <a:p>
            <a:r>
              <a:rPr lang="en-US" b="1" dirty="0"/>
              <a:t>IAM Access Advisor (user-level)</a:t>
            </a:r>
          </a:p>
          <a:p>
            <a:pPr lvl="1"/>
            <a:r>
              <a:rPr lang="en-US" dirty="0"/>
              <a:t>Access advisor shows the service permissions granted to a user and when those services were last accessed.</a:t>
            </a:r>
          </a:p>
          <a:p>
            <a:pPr lvl="1"/>
            <a:r>
              <a:rPr lang="en-US" dirty="0"/>
              <a:t>You can use this information to revise your policies.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61462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C9D7D-A226-016D-48B7-A4C9232D6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IAM Guidelines &amp; 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E4820-1A6A-BCF2-BFEB-3360CCABE5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Don’t use the root account except for AWS account setup</a:t>
            </a:r>
          </a:p>
          <a:p>
            <a:r>
              <a:rPr lang="en-US" dirty="0"/>
              <a:t>One physical user = One AWS user</a:t>
            </a:r>
          </a:p>
          <a:p>
            <a:r>
              <a:rPr lang="en-US" dirty="0"/>
              <a:t>Assign users to groups and assign permissions to groups</a:t>
            </a:r>
          </a:p>
          <a:p>
            <a:r>
              <a:rPr lang="en-US" dirty="0"/>
              <a:t>Create a strong password policy</a:t>
            </a:r>
          </a:p>
          <a:p>
            <a:r>
              <a:rPr lang="en-US" dirty="0"/>
              <a:t>Use and enforce the use of Multi Factor Authentication (MFA)</a:t>
            </a:r>
          </a:p>
          <a:p>
            <a:r>
              <a:rPr lang="en-US" dirty="0"/>
              <a:t>Create and use Roles for giving permissions to AWS services</a:t>
            </a:r>
          </a:p>
          <a:p>
            <a:r>
              <a:rPr lang="en-US" dirty="0"/>
              <a:t>Use Access Keys for Programmatic Access (CLI / SDK)</a:t>
            </a:r>
          </a:p>
          <a:p>
            <a:r>
              <a:rPr lang="en-US" dirty="0"/>
              <a:t>Audit permissions of your account using IAM Credentials Report &amp; IAM Access Advisor</a:t>
            </a:r>
          </a:p>
          <a:p>
            <a:r>
              <a:rPr lang="en-US" dirty="0"/>
              <a:t>Never share IAM user s &amp; Access Keys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7696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7AD8B9-FDC5-E1D9-EF30-001790C4DF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3503" y="3291840"/>
            <a:ext cx="7402161" cy="1359346"/>
          </a:xfrm>
        </p:spPr>
        <p:txBody>
          <a:bodyPr/>
          <a:lstStyle/>
          <a:p>
            <a:r>
              <a:rPr lang="en-US" sz="4000" dirty="0"/>
              <a:t>Amazon EC2 – Basics</a:t>
            </a: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4700118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C9D7D-A226-016D-48B7-A4C9232D6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Amazon EC2						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E4820-1A6A-BCF2-BFEB-3360CCABE5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EC2 is one of the most popular of AWS’ offering</a:t>
            </a:r>
          </a:p>
          <a:p>
            <a:r>
              <a:rPr lang="en-US" dirty="0"/>
              <a:t>EC2 = Elastic Compute Cloud = Infrastructure as a Service</a:t>
            </a:r>
          </a:p>
          <a:p>
            <a:r>
              <a:rPr lang="en-US" dirty="0"/>
              <a:t>It mainly consists in the capability of :</a:t>
            </a:r>
          </a:p>
          <a:p>
            <a:r>
              <a:rPr lang="en-US" dirty="0"/>
              <a:t>Renting virtual machines (EC2)</a:t>
            </a:r>
          </a:p>
          <a:p>
            <a:r>
              <a:rPr lang="en-US" dirty="0"/>
              <a:t>Storing data on virtual drives (EBS)</a:t>
            </a:r>
          </a:p>
          <a:p>
            <a:r>
              <a:rPr lang="en-US" dirty="0"/>
              <a:t>Distributing load across machines (ELB)</a:t>
            </a:r>
          </a:p>
          <a:p>
            <a:r>
              <a:rPr lang="en-US" dirty="0"/>
              <a:t>Scaling the services using an auto-scaling group (ASG)</a:t>
            </a:r>
          </a:p>
          <a:p>
            <a:endParaRPr lang="en-US" dirty="0"/>
          </a:p>
          <a:p>
            <a:r>
              <a:rPr lang="en-US" dirty="0"/>
              <a:t>Knowing EC2 is fundamental to understand how the Cloud works</a:t>
            </a:r>
          </a:p>
          <a:p>
            <a:endParaRPr lang="en-US" dirty="0"/>
          </a:p>
        </p:txBody>
      </p:sp>
      <p:sp>
        <p:nvSpPr>
          <p:cNvPr id="4" name="object 6">
            <a:extLst>
              <a:ext uri="{FF2B5EF4-FFF2-40B4-BE49-F238E27FC236}">
                <a16:creationId xmlns:a16="http://schemas.microsoft.com/office/drawing/2014/main" id="{6FD13F14-0059-CD80-D0B3-3D90E3B2AF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12401" y="522287"/>
            <a:ext cx="1011237" cy="1011237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99944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C9D7D-A226-016D-48B7-A4C9232D6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EC2 sizing &amp; configuration options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E4820-1A6A-BCF2-BFEB-3360CCABE5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Operating System (OS): Linux, Windows or Mac OS</a:t>
            </a:r>
          </a:p>
          <a:p>
            <a:r>
              <a:rPr lang="en-US" dirty="0"/>
              <a:t>How much compute power &amp; cores (CPU)</a:t>
            </a:r>
          </a:p>
          <a:p>
            <a:r>
              <a:rPr lang="en-US" dirty="0"/>
              <a:t>How much random-access memory (RAM)</a:t>
            </a:r>
          </a:p>
          <a:p>
            <a:r>
              <a:rPr lang="en-US" dirty="0"/>
              <a:t>How much storage space:</a:t>
            </a:r>
          </a:p>
          <a:p>
            <a:r>
              <a:rPr lang="en-US" dirty="0"/>
              <a:t>Network-attached (EBS &amp; EFS)</a:t>
            </a:r>
          </a:p>
          <a:p>
            <a:r>
              <a:rPr lang="en-US" dirty="0"/>
              <a:t>hardware (EC2 Instance Store)</a:t>
            </a:r>
          </a:p>
          <a:p>
            <a:r>
              <a:rPr lang="en-US" dirty="0"/>
              <a:t>Network card: speed of the card, Public IP address</a:t>
            </a:r>
          </a:p>
          <a:p>
            <a:r>
              <a:rPr lang="en-US" dirty="0"/>
              <a:t>Firewall rules: security group</a:t>
            </a:r>
          </a:p>
          <a:p>
            <a:r>
              <a:rPr lang="en-US" dirty="0"/>
              <a:t>Bootstrap script (configure at first launch): EC2 User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0896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C9D7D-A226-016D-48B7-A4C9232D6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EC2 User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E4820-1A6A-BCF2-BFEB-3360CCABE5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possible to bootstrap our instances using an EC2 User data script.</a:t>
            </a:r>
          </a:p>
          <a:p>
            <a:r>
              <a:rPr lang="en-US" dirty="0"/>
              <a:t>bootstrapping means launching commands when a machine starts</a:t>
            </a:r>
          </a:p>
          <a:p>
            <a:r>
              <a:rPr lang="en-US" dirty="0"/>
              <a:t>That script is only run once at the instance first start</a:t>
            </a:r>
          </a:p>
          <a:p>
            <a:r>
              <a:rPr lang="en-US" dirty="0"/>
              <a:t>EC2 user data is used to automate boot tasks such as:</a:t>
            </a:r>
          </a:p>
          <a:p>
            <a:r>
              <a:rPr lang="en-US" dirty="0"/>
              <a:t>Installing updates</a:t>
            </a:r>
          </a:p>
          <a:p>
            <a:r>
              <a:rPr lang="en-US" dirty="0"/>
              <a:t>Installing software</a:t>
            </a:r>
          </a:p>
          <a:p>
            <a:r>
              <a:rPr lang="en-US" dirty="0"/>
              <a:t>Downloading common files from the internet</a:t>
            </a:r>
          </a:p>
          <a:p>
            <a:r>
              <a:rPr lang="en-US" dirty="0"/>
              <a:t>Anything you can think of</a:t>
            </a:r>
          </a:p>
          <a:p>
            <a:r>
              <a:rPr lang="en-US" dirty="0"/>
              <a:t>The EC2 User Data Script runs with the root user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9758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C9D7D-A226-016D-48B7-A4C9232D6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Hands-On:</a:t>
            </a:r>
            <a:br>
              <a:rPr lang="en-US" dirty="0"/>
            </a:br>
            <a:r>
              <a:rPr lang="en-US" dirty="0"/>
              <a:t>Launching an EC2 Instance running Linux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E4820-1A6A-BCF2-BFEB-3360CCABE5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We’ll be launching our first virtual server using the AWS Console</a:t>
            </a:r>
          </a:p>
          <a:p>
            <a:r>
              <a:rPr lang="en-US" dirty="0"/>
              <a:t>We’ll get a first high-level approach to the various parameters</a:t>
            </a:r>
          </a:p>
          <a:p>
            <a:r>
              <a:rPr lang="en-US" dirty="0"/>
              <a:t>We’ll see that our web server is launched using EC2 user data</a:t>
            </a:r>
          </a:p>
          <a:p>
            <a:r>
              <a:rPr lang="en-US" dirty="0"/>
              <a:t>We’ll learn how to start / stop / terminate our instance.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7233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74BAB-D39D-A4C1-8032-4EA67AD92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EC2 Instance Types -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8BB0F-2F47-6C8B-E41A-1FFA7DDBE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use different types of EC2 instances that are </a:t>
            </a:r>
            <a:r>
              <a:rPr lang="en-US" dirty="0" err="1"/>
              <a:t>optimised</a:t>
            </a:r>
            <a:r>
              <a:rPr lang="en-US" dirty="0"/>
              <a:t> for different use cases (https://aws.amazon.com/ec2/instance-types/)</a:t>
            </a:r>
          </a:p>
          <a:p>
            <a:r>
              <a:rPr lang="en-US" dirty="0"/>
              <a:t>AWS has the following naming convention:</a:t>
            </a:r>
          </a:p>
          <a:p>
            <a:endParaRPr lang="en-US" dirty="0"/>
          </a:p>
          <a:p>
            <a:r>
              <a:rPr lang="en-US" dirty="0"/>
              <a:t>m5.2xlarge</a:t>
            </a:r>
          </a:p>
          <a:p>
            <a:endParaRPr lang="en-US" dirty="0"/>
          </a:p>
          <a:p>
            <a:r>
              <a:rPr lang="en-US" dirty="0"/>
              <a:t>m: instance class</a:t>
            </a:r>
          </a:p>
          <a:p>
            <a:r>
              <a:rPr lang="en-US" dirty="0"/>
              <a:t>5: generation (AWS improves them over time)</a:t>
            </a:r>
          </a:p>
          <a:p>
            <a:r>
              <a:rPr lang="en-US" dirty="0"/>
              <a:t>2xlarge: size within the instance class</a:t>
            </a:r>
          </a:p>
          <a:p>
            <a:endParaRPr lang="en-US" dirty="0"/>
          </a:p>
        </p:txBody>
      </p:sp>
      <p:sp>
        <p:nvSpPr>
          <p:cNvPr id="4" name="object 6">
            <a:extLst>
              <a:ext uri="{FF2B5EF4-FFF2-40B4-BE49-F238E27FC236}">
                <a16:creationId xmlns:a16="http://schemas.microsoft.com/office/drawing/2014/main" id="{0C8D8E63-D3E9-673F-65B5-4FD4ADA6D4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20225" y="2459038"/>
            <a:ext cx="1933575" cy="3963987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06059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E1E6F-0B47-8E4B-AF3D-7AD1662FC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EC2 Instance Types – General 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69C20-AC6B-9CD4-B5AB-27E627C28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Great for a diversity of workloads such as web servers or code repositories</a:t>
            </a:r>
          </a:p>
          <a:p>
            <a:r>
              <a:rPr lang="en-US" dirty="0"/>
              <a:t>Balance between:</a:t>
            </a:r>
          </a:p>
          <a:p>
            <a:r>
              <a:rPr lang="en-US" dirty="0"/>
              <a:t>Compute</a:t>
            </a:r>
          </a:p>
          <a:p>
            <a:r>
              <a:rPr lang="en-US" dirty="0"/>
              <a:t>Memory</a:t>
            </a:r>
          </a:p>
          <a:p>
            <a:r>
              <a:rPr lang="en-US" dirty="0"/>
              <a:t>Networking</a:t>
            </a:r>
          </a:p>
          <a:p>
            <a:r>
              <a:rPr lang="en-US" dirty="0"/>
              <a:t>In the course, we will be using the t2.micro which is a General Purpose EC2 instance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A36E63-6250-EAAF-6F87-05F883EF1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1253" y="4610155"/>
            <a:ext cx="6639119" cy="156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6455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7B870-2BC2-9C12-D836-F44651E51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EC2 Instance Types – Compute Optimized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681F2-20B2-D164-01C5-0128BE35F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Great for compute-intensive tasks that require high performance processors:</a:t>
            </a:r>
          </a:p>
          <a:p>
            <a:r>
              <a:rPr lang="en-US" dirty="0"/>
              <a:t>Batch processing workloads</a:t>
            </a:r>
          </a:p>
          <a:p>
            <a:r>
              <a:rPr lang="en-US" dirty="0"/>
              <a:t>Media transcoding</a:t>
            </a:r>
          </a:p>
          <a:p>
            <a:r>
              <a:rPr lang="en-US" dirty="0"/>
              <a:t>High performance web servers</a:t>
            </a:r>
          </a:p>
          <a:p>
            <a:r>
              <a:rPr lang="en-US" dirty="0"/>
              <a:t>High performance computing (HPC)</a:t>
            </a:r>
          </a:p>
          <a:p>
            <a:r>
              <a:rPr lang="en-US" dirty="0"/>
              <a:t>Scientific modeling &amp; machine learning</a:t>
            </a:r>
          </a:p>
          <a:p>
            <a:r>
              <a:rPr lang="en-US" dirty="0"/>
              <a:t>Dedicated gaming servers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BAB97E-BA8B-EB6B-406D-30400DFA5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4159" y="4781671"/>
            <a:ext cx="5901439" cy="153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5932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12590-19D0-FA46-A9FC-D5CC1DC3C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EC2 Instance Types – Memory Optimized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B6C42-67D7-4E67-D69D-10DD7F526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Fast performance for workloads that process large data sets in memory</a:t>
            </a:r>
          </a:p>
          <a:p>
            <a:r>
              <a:rPr lang="en-US" b="1" dirty="0"/>
              <a:t>Use cases:</a:t>
            </a:r>
          </a:p>
          <a:p>
            <a:r>
              <a:rPr lang="en-US" dirty="0"/>
              <a:t>High performance, relational/non-relational databases</a:t>
            </a:r>
          </a:p>
          <a:p>
            <a:r>
              <a:rPr lang="en-US" dirty="0"/>
              <a:t>Distributed web scale cache stores</a:t>
            </a:r>
          </a:p>
          <a:p>
            <a:r>
              <a:rPr lang="en-US" dirty="0"/>
              <a:t>In-memory databases optimized for BI (business intelligence)</a:t>
            </a:r>
          </a:p>
          <a:p>
            <a:r>
              <a:rPr lang="en-US" dirty="0"/>
              <a:t>Applications performing real-time processing of big unstructured data</a:t>
            </a:r>
          </a:p>
          <a:p>
            <a:endParaRPr lang="en-US" dirty="0"/>
          </a:p>
        </p:txBody>
      </p:sp>
      <p:sp>
        <p:nvSpPr>
          <p:cNvPr id="4" name="object 6">
            <a:extLst>
              <a:ext uri="{FF2B5EF4-FFF2-40B4-BE49-F238E27FC236}">
                <a16:creationId xmlns:a16="http://schemas.microsoft.com/office/drawing/2014/main" id="{8B423A21-8808-C530-1056-3A7B2892D1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5204" y="4526743"/>
            <a:ext cx="7061200" cy="13081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35214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A73DB-D506-17D3-D6BC-57E368ED2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EC2 Instance Types – Storage Optimized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1A39B-1391-D43A-1739-C4B48F5F27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Great for storage-intensive tasks that require high, sequential read and write access to large data sets on local storage</a:t>
            </a:r>
          </a:p>
          <a:p>
            <a:r>
              <a:rPr lang="en-US" b="1" dirty="0"/>
              <a:t>Use cases:</a:t>
            </a:r>
          </a:p>
          <a:p>
            <a:r>
              <a:rPr lang="en-US" dirty="0"/>
              <a:t>High frequency online transaction processing (OLTP) systems</a:t>
            </a:r>
          </a:p>
          <a:p>
            <a:r>
              <a:rPr lang="en-US" dirty="0"/>
              <a:t>Relational &amp; NoSQL databases</a:t>
            </a:r>
          </a:p>
          <a:p>
            <a:r>
              <a:rPr lang="en-US" dirty="0"/>
              <a:t>Cache for in-memory databases (for example, Redis)</a:t>
            </a:r>
          </a:p>
          <a:p>
            <a:r>
              <a:rPr lang="en-US" dirty="0"/>
              <a:t>Data warehousing applications</a:t>
            </a:r>
          </a:p>
          <a:p>
            <a:r>
              <a:rPr lang="en-US" dirty="0"/>
              <a:t>Distributed file systems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708FE3-33ED-E952-803F-1A59A74F1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0357" y="4933271"/>
            <a:ext cx="5998984" cy="124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4755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919B8-6BB0-095C-7052-92F95A445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EC2 Instance Types: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3A40C-FC68-4C7D-ED85-CD5C9ABD9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8716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31D68-7C28-982D-1E3F-47AA6F3E9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Security 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95DE4-82ED-E4C6-E1E3-29EF8B5ECE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Security Groups are the fundamental of network security in AWS</a:t>
            </a:r>
          </a:p>
          <a:p>
            <a:r>
              <a:rPr lang="en-US" dirty="0"/>
              <a:t>They control how traffic is allowed into or out of our EC2 Instances.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Security groups only contain rules</a:t>
            </a:r>
          </a:p>
          <a:p>
            <a:r>
              <a:rPr lang="en-US" dirty="0"/>
              <a:t>Security groups rules can reference by IP or by security group</a:t>
            </a:r>
          </a:p>
          <a:p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3174C7A-89C2-8EEE-593D-4513213EC112}"/>
              </a:ext>
            </a:extLst>
          </p:cNvPr>
          <p:cNvGrpSpPr/>
          <p:nvPr/>
        </p:nvGrpSpPr>
        <p:grpSpPr>
          <a:xfrm>
            <a:off x="2308225" y="2668588"/>
            <a:ext cx="6977063" cy="1344612"/>
            <a:chOff x="2308225" y="2668588"/>
            <a:chExt cx="6977063" cy="1344612"/>
          </a:xfrm>
        </p:grpSpPr>
        <p:sp>
          <p:nvSpPr>
            <p:cNvPr id="16" name="object 4">
              <a:extLst>
                <a:ext uri="{FF2B5EF4-FFF2-40B4-BE49-F238E27FC236}">
                  <a16:creationId xmlns:a16="http://schemas.microsoft.com/office/drawing/2014/main" id="{A3C919E7-32CC-CC45-D233-CD0A40BC895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5750" y="2668588"/>
              <a:ext cx="3919538" cy="1344612"/>
            </a:xfrm>
            <a:custGeom>
              <a:avLst/>
              <a:gdLst>
                <a:gd name="T0" fmla="*/ 0 w 3919854"/>
                <a:gd name="T1" fmla="*/ 1345097 h 1345564"/>
                <a:gd name="T2" fmla="*/ 3919758 w 3919854"/>
                <a:gd name="T3" fmla="*/ 1345097 h 1345564"/>
                <a:gd name="T4" fmla="*/ 3919758 w 3919854"/>
                <a:gd name="T5" fmla="*/ 0 h 1345564"/>
                <a:gd name="T6" fmla="*/ 0 w 3919854"/>
                <a:gd name="T7" fmla="*/ 0 h 1345564"/>
                <a:gd name="T8" fmla="*/ 0 w 3919854"/>
                <a:gd name="T9" fmla="*/ 1345097 h 13455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19854" h="1345564">
                  <a:moveTo>
                    <a:pt x="0" y="1345097"/>
                  </a:moveTo>
                  <a:lnTo>
                    <a:pt x="3919758" y="1345097"/>
                  </a:lnTo>
                  <a:lnTo>
                    <a:pt x="3919758" y="0"/>
                  </a:lnTo>
                  <a:lnTo>
                    <a:pt x="0" y="0"/>
                  </a:lnTo>
                  <a:lnTo>
                    <a:pt x="0" y="1345097"/>
                  </a:lnTo>
                  <a:close/>
                </a:path>
              </a:pathLst>
            </a:custGeom>
            <a:noFill/>
            <a:ln w="12700">
              <a:solidFill>
                <a:srgbClr val="38699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7" name="object 16">
              <a:extLst>
                <a:ext uri="{FF2B5EF4-FFF2-40B4-BE49-F238E27FC236}">
                  <a16:creationId xmlns:a16="http://schemas.microsoft.com/office/drawing/2014/main" id="{D45C2018-EA94-2F89-E5EF-53E2C8076CB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6175" y="3124200"/>
              <a:ext cx="2782888" cy="76200"/>
            </a:xfrm>
            <a:custGeom>
              <a:avLst/>
              <a:gdLst>
                <a:gd name="T0" fmla="*/ 2706776 w 2783204"/>
                <a:gd name="T1" fmla="*/ 0 h 76200"/>
                <a:gd name="T2" fmla="*/ 2706776 w 2783204"/>
                <a:gd name="T3" fmla="*/ 76199 h 76200"/>
                <a:gd name="T4" fmla="*/ 2776624 w 2783204"/>
                <a:gd name="T5" fmla="*/ 41276 h 76200"/>
                <a:gd name="T6" fmla="*/ 2719459 w 2783204"/>
                <a:gd name="T7" fmla="*/ 41276 h 76200"/>
                <a:gd name="T8" fmla="*/ 2719459 w 2783204"/>
                <a:gd name="T9" fmla="*/ 34930 h 76200"/>
                <a:gd name="T10" fmla="*/ 2776636 w 2783204"/>
                <a:gd name="T11" fmla="*/ 34930 h 76200"/>
                <a:gd name="T12" fmla="*/ 2706776 w 2783204"/>
                <a:gd name="T13" fmla="*/ 0 h 76200"/>
                <a:gd name="T14" fmla="*/ 2706776 w 2783204"/>
                <a:gd name="T15" fmla="*/ 34930 h 76200"/>
                <a:gd name="T16" fmla="*/ 0 w 2783204"/>
                <a:gd name="T17" fmla="*/ 34930 h 76200"/>
                <a:gd name="T18" fmla="*/ 0 w 2783204"/>
                <a:gd name="T19" fmla="*/ 41276 h 76200"/>
                <a:gd name="T20" fmla="*/ 2706776 w 2783204"/>
                <a:gd name="T21" fmla="*/ 41276 h 76200"/>
                <a:gd name="T22" fmla="*/ 2706776 w 2783204"/>
                <a:gd name="T23" fmla="*/ 34930 h 76200"/>
                <a:gd name="T24" fmla="*/ 2776636 w 2783204"/>
                <a:gd name="T25" fmla="*/ 34930 h 76200"/>
                <a:gd name="T26" fmla="*/ 2719459 w 2783204"/>
                <a:gd name="T27" fmla="*/ 34930 h 76200"/>
                <a:gd name="T28" fmla="*/ 2719459 w 2783204"/>
                <a:gd name="T29" fmla="*/ 41276 h 76200"/>
                <a:gd name="T30" fmla="*/ 2776624 w 2783204"/>
                <a:gd name="T31" fmla="*/ 41276 h 76200"/>
                <a:gd name="T32" fmla="*/ 2782976 w 2783204"/>
                <a:gd name="T33" fmla="*/ 38099 h 76200"/>
                <a:gd name="T34" fmla="*/ 2776636 w 2783204"/>
                <a:gd name="T35" fmla="*/ 34930 h 76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83204" h="76200">
                  <a:moveTo>
                    <a:pt x="2706776" y="0"/>
                  </a:moveTo>
                  <a:lnTo>
                    <a:pt x="2706776" y="76199"/>
                  </a:lnTo>
                  <a:lnTo>
                    <a:pt x="2776624" y="41276"/>
                  </a:lnTo>
                  <a:lnTo>
                    <a:pt x="2719459" y="41276"/>
                  </a:lnTo>
                  <a:lnTo>
                    <a:pt x="2719459" y="34930"/>
                  </a:lnTo>
                  <a:lnTo>
                    <a:pt x="2776636" y="34930"/>
                  </a:lnTo>
                  <a:lnTo>
                    <a:pt x="2706776" y="0"/>
                  </a:lnTo>
                  <a:close/>
                </a:path>
                <a:path w="2783204" h="76200">
                  <a:moveTo>
                    <a:pt x="2706776" y="34930"/>
                  </a:moveTo>
                  <a:lnTo>
                    <a:pt x="0" y="34930"/>
                  </a:lnTo>
                  <a:lnTo>
                    <a:pt x="0" y="41276"/>
                  </a:lnTo>
                  <a:lnTo>
                    <a:pt x="2706776" y="41276"/>
                  </a:lnTo>
                  <a:lnTo>
                    <a:pt x="2706776" y="34930"/>
                  </a:lnTo>
                  <a:close/>
                </a:path>
                <a:path w="2783204" h="76200">
                  <a:moveTo>
                    <a:pt x="2776636" y="34930"/>
                  </a:moveTo>
                  <a:lnTo>
                    <a:pt x="2719459" y="34930"/>
                  </a:lnTo>
                  <a:lnTo>
                    <a:pt x="2719459" y="41276"/>
                  </a:lnTo>
                  <a:lnTo>
                    <a:pt x="2776624" y="41276"/>
                  </a:lnTo>
                  <a:lnTo>
                    <a:pt x="2782976" y="38099"/>
                  </a:lnTo>
                  <a:lnTo>
                    <a:pt x="2776636" y="34930"/>
                  </a:lnTo>
                  <a:close/>
                </a:path>
              </a:pathLst>
            </a:custGeom>
            <a:solidFill>
              <a:srgbClr val="44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8" name="object 17">
              <a:extLst>
                <a:ext uri="{FF2B5EF4-FFF2-40B4-BE49-F238E27FC236}">
                  <a16:creationId xmlns:a16="http://schemas.microsoft.com/office/drawing/2014/main" id="{1C689734-0821-D7F8-8B9C-6207A1B9A6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6175" y="3503613"/>
              <a:ext cx="2782888" cy="76200"/>
            </a:xfrm>
            <a:custGeom>
              <a:avLst/>
              <a:gdLst>
                <a:gd name="T0" fmla="*/ 76199 w 2783204"/>
                <a:gd name="T1" fmla="*/ 0 h 76200"/>
                <a:gd name="T2" fmla="*/ 0 w 2783204"/>
                <a:gd name="T3" fmla="*/ 38099 h 76200"/>
                <a:gd name="T4" fmla="*/ 76199 w 2783204"/>
                <a:gd name="T5" fmla="*/ 76199 h 76200"/>
                <a:gd name="T6" fmla="*/ 76199 w 2783204"/>
                <a:gd name="T7" fmla="*/ 41245 h 76200"/>
                <a:gd name="T8" fmla="*/ 63517 w 2783204"/>
                <a:gd name="T9" fmla="*/ 41245 h 76200"/>
                <a:gd name="T10" fmla="*/ 63517 w 2783204"/>
                <a:gd name="T11" fmla="*/ 34899 h 76200"/>
                <a:gd name="T12" fmla="*/ 76199 w 2783204"/>
                <a:gd name="T13" fmla="*/ 34899 h 76200"/>
                <a:gd name="T14" fmla="*/ 76199 w 2783204"/>
                <a:gd name="T15" fmla="*/ 0 h 76200"/>
                <a:gd name="T16" fmla="*/ 76199 w 2783204"/>
                <a:gd name="T17" fmla="*/ 34899 h 76200"/>
                <a:gd name="T18" fmla="*/ 63517 w 2783204"/>
                <a:gd name="T19" fmla="*/ 34899 h 76200"/>
                <a:gd name="T20" fmla="*/ 63517 w 2783204"/>
                <a:gd name="T21" fmla="*/ 41245 h 76200"/>
                <a:gd name="T22" fmla="*/ 76199 w 2783204"/>
                <a:gd name="T23" fmla="*/ 41245 h 76200"/>
                <a:gd name="T24" fmla="*/ 76199 w 2783204"/>
                <a:gd name="T25" fmla="*/ 34899 h 76200"/>
                <a:gd name="T26" fmla="*/ 2782976 w 2783204"/>
                <a:gd name="T27" fmla="*/ 34899 h 76200"/>
                <a:gd name="T28" fmla="*/ 76199 w 2783204"/>
                <a:gd name="T29" fmla="*/ 34899 h 76200"/>
                <a:gd name="T30" fmla="*/ 76199 w 2783204"/>
                <a:gd name="T31" fmla="*/ 41245 h 76200"/>
                <a:gd name="T32" fmla="*/ 2782976 w 2783204"/>
                <a:gd name="T33" fmla="*/ 41245 h 76200"/>
                <a:gd name="T34" fmla="*/ 2782976 w 2783204"/>
                <a:gd name="T35" fmla="*/ 34899 h 76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83204" h="76200">
                  <a:moveTo>
                    <a:pt x="76199" y="0"/>
                  </a:moveTo>
                  <a:lnTo>
                    <a:pt x="0" y="38099"/>
                  </a:lnTo>
                  <a:lnTo>
                    <a:pt x="76199" y="76199"/>
                  </a:lnTo>
                  <a:lnTo>
                    <a:pt x="76199" y="41245"/>
                  </a:lnTo>
                  <a:lnTo>
                    <a:pt x="63517" y="41245"/>
                  </a:lnTo>
                  <a:lnTo>
                    <a:pt x="63517" y="34899"/>
                  </a:lnTo>
                  <a:lnTo>
                    <a:pt x="76199" y="34899"/>
                  </a:lnTo>
                  <a:lnTo>
                    <a:pt x="76199" y="0"/>
                  </a:lnTo>
                  <a:close/>
                </a:path>
                <a:path w="2783204" h="76200">
                  <a:moveTo>
                    <a:pt x="76199" y="34899"/>
                  </a:moveTo>
                  <a:lnTo>
                    <a:pt x="63517" y="34899"/>
                  </a:lnTo>
                  <a:lnTo>
                    <a:pt x="63517" y="41245"/>
                  </a:lnTo>
                  <a:lnTo>
                    <a:pt x="76199" y="41245"/>
                  </a:lnTo>
                  <a:lnTo>
                    <a:pt x="76199" y="34899"/>
                  </a:lnTo>
                  <a:close/>
                </a:path>
                <a:path w="2783204" h="76200">
                  <a:moveTo>
                    <a:pt x="2782976" y="34899"/>
                  </a:moveTo>
                  <a:lnTo>
                    <a:pt x="76199" y="34899"/>
                  </a:lnTo>
                  <a:lnTo>
                    <a:pt x="76199" y="41245"/>
                  </a:lnTo>
                  <a:lnTo>
                    <a:pt x="2782976" y="41245"/>
                  </a:lnTo>
                  <a:lnTo>
                    <a:pt x="2782976" y="34899"/>
                  </a:lnTo>
                  <a:close/>
                </a:path>
              </a:pathLst>
            </a:custGeom>
            <a:solidFill>
              <a:srgbClr val="44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9" name="object 18">
              <a:extLst>
                <a:ext uri="{FF2B5EF4-FFF2-40B4-BE49-F238E27FC236}">
                  <a16:creationId xmlns:a16="http://schemas.microsoft.com/office/drawing/2014/main" id="{254DC43A-D717-35B9-3834-E26F19ACE2CF}"/>
                </a:ext>
              </a:extLst>
            </p:cNvPr>
            <p:cNvSpPr txBox="1"/>
            <p:nvPr/>
          </p:nvSpPr>
          <p:spPr>
            <a:xfrm>
              <a:off x="3648075" y="2863850"/>
              <a:ext cx="1574800" cy="635000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>
              <a:lvl1pPr marL="127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39000"/>
                </a:lnSpc>
              </a:pPr>
              <a:r>
                <a:rPr lang="en-US" altLang="en-US" dirty="0">
                  <a:solidFill>
                    <a:srgbClr val="444949"/>
                  </a:solidFill>
                  <a:cs typeface="Calibri" panose="020F0502020204030204" pitchFamily="34" charset="0"/>
                </a:rPr>
                <a:t>Inbound</a:t>
              </a:r>
              <a:r>
                <a:rPr lang="en-US" altLang="en-US" dirty="0">
                  <a:solidFill>
                    <a:srgbClr val="44494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dirty="0">
                  <a:solidFill>
                    <a:srgbClr val="444949"/>
                  </a:solidFill>
                  <a:cs typeface="Calibri" panose="020F0502020204030204" pitchFamily="34" charset="0"/>
                </a:rPr>
                <a:t>traffic</a:t>
              </a:r>
              <a:r>
                <a:rPr lang="en-US" altLang="en-US" dirty="0">
                  <a:solidFill>
                    <a:srgbClr val="44494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dirty="0">
                  <a:solidFill>
                    <a:srgbClr val="444949"/>
                  </a:solidFill>
                  <a:cs typeface="Calibri" panose="020F0502020204030204" pitchFamily="34" charset="0"/>
                </a:rPr>
                <a:t>Outbound</a:t>
              </a:r>
              <a:r>
                <a:rPr lang="en-US" altLang="en-US" dirty="0">
                  <a:solidFill>
                    <a:srgbClr val="44494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dirty="0">
                  <a:solidFill>
                    <a:srgbClr val="444949"/>
                  </a:solidFill>
                  <a:cs typeface="Calibri" panose="020F0502020204030204" pitchFamily="34" charset="0"/>
                </a:rPr>
                <a:t>traffic</a:t>
              </a:r>
              <a:endParaRPr lang="en-US" altLang="en-US" dirty="0">
                <a:cs typeface="Calibri" panose="020F0502020204030204" pitchFamily="34" charset="0"/>
              </a:endParaRPr>
            </a:p>
          </p:txBody>
        </p:sp>
        <p:sp>
          <p:nvSpPr>
            <p:cNvPr id="20" name="object 19">
              <a:extLst>
                <a:ext uri="{FF2B5EF4-FFF2-40B4-BE49-F238E27FC236}">
                  <a16:creationId xmlns:a16="http://schemas.microsoft.com/office/drawing/2014/main" id="{9611A044-A4C3-D880-2352-1C8ED230850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5750" y="2668588"/>
              <a:ext cx="666750" cy="1344612"/>
            </a:xfrm>
            <a:custGeom>
              <a:avLst/>
              <a:gdLst>
                <a:gd name="T0" fmla="*/ 0 w 666114"/>
                <a:gd name="T1" fmla="*/ 1345097 h 1345564"/>
                <a:gd name="T2" fmla="*/ 665927 w 666114"/>
                <a:gd name="T3" fmla="*/ 1345097 h 1345564"/>
                <a:gd name="T4" fmla="*/ 665927 w 666114"/>
                <a:gd name="T5" fmla="*/ 0 h 1345564"/>
                <a:gd name="T6" fmla="*/ 0 w 666114"/>
                <a:gd name="T7" fmla="*/ 0 h 1345564"/>
                <a:gd name="T8" fmla="*/ 0 w 666114"/>
                <a:gd name="T9" fmla="*/ 1345097 h 13455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6114" h="1345564">
                  <a:moveTo>
                    <a:pt x="0" y="1345097"/>
                  </a:moveTo>
                  <a:lnTo>
                    <a:pt x="665927" y="1345097"/>
                  </a:lnTo>
                  <a:lnTo>
                    <a:pt x="665927" y="0"/>
                  </a:lnTo>
                  <a:lnTo>
                    <a:pt x="0" y="0"/>
                  </a:lnTo>
                  <a:lnTo>
                    <a:pt x="0" y="1345097"/>
                  </a:lnTo>
                  <a:close/>
                </a:path>
              </a:pathLst>
            </a:custGeom>
            <a:solidFill>
              <a:srgbClr val="5091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1" name="object 20">
              <a:extLst>
                <a:ext uri="{FF2B5EF4-FFF2-40B4-BE49-F238E27FC236}">
                  <a16:creationId xmlns:a16="http://schemas.microsoft.com/office/drawing/2014/main" id="{BDAF0B28-5365-8028-31BA-7C73D7AAB7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5750" y="2668588"/>
              <a:ext cx="666750" cy="1344612"/>
            </a:xfrm>
            <a:custGeom>
              <a:avLst/>
              <a:gdLst>
                <a:gd name="T0" fmla="*/ 0 w 666114"/>
                <a:gd name="T1" fmla="*/ 1345097 h 1345564"/>
                <a:gd name="T2" fmla="*/ 665927 w 666114"/>
                <a:gd name="T3" fmla="*/ 1345097 h 1345564"/>
                <a:gd name="T4" fmla="*/ 665927 w 666114"/>
                <a:gd name="T5" fmla="*/ 0 h 1345564"/>
                <a:gd name="T6" fmla="*/ 0 w 666114"/>
                <a:gd name="T7" fmla="*/ 0 h 1345564"/>
                <a:gd name="T8" fmla="*/ 0 w 666114"/>
                <a:gd name="T9" fmla="*/ 1345097 h 13455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6114" h="1345564">
                  <a:moveTo>
                    <a:pt x="0" y="1345097"/>
                  </a:moveTo>
                  <a:lnTo>
                    <a:pt x="665927" y="1345097"/>
                  </a:lnTo>
                  <a:lnTo>
                    <a:pt x="665927" y="0"/>
                  </a:lnTo>
                  <a:lnTo>
                    <a:pt x="0" y="0"/>
                  </a:lnTo>
                  <a:lnTo>
                    <a:pt x="0" y="1345097"/>
                  </a:lnTo>
                  <a:close/>
                </a:path>
              </a:pathLst>
            </a:custGeom>
            <a:noFill/>
            <a:ln w="12700">
              <a:solidFill>
                <a:srgbClr val="38699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2" name="object 21">
              <a:extLst>
                <a:ext uri="{FF2B5EF4-FFF2-40B4-BE49-F238E27FC236}">
                  <a16:creationId xmlns:a16="http://schemas.microsoft.com/office/drawing/2014/main" id="{9EE4F6F0-B5EB-4F59-1734-C24726DAAB2A}"/>
                </a:ext>
              </a:extLst>
            </p:cNvPr>
            <p:cNvSpPr txBox="1"/>
            <p:nvPr/>
          </p:nvSpPr>
          <p:spPr>
            <a:xfrm>
              <a:off x="5449447" y="2954671"/>
              <a:ext cx="520700" cy="774065"/>
            </a:xfrm>
            <a:prstGeom prst="rect">
              <a:avLst/>
            </a:prstGeom>
          </p:spPr>
          <p:txBody>
            <a:bodyPr vert="vert270" lIns="0" tIns="0" rIns="0" bIns="0">
              <a:spAutoFit/>
            </a:bodyPr>
            <a:lstStyle/>
            <a:p>
              <a:pPr marL="97790" marR="5080" indent="-85725" fontAlgn="auto">
                <a:lnSpc>
                  <a:spcPts val="21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spc="-5" dirty="0">
                  <a:solidFill>
                    <a:srgbClr val="FFFFFF"/>
                  </a:solidFill>
                  <a:latin typeface="Calibri"/>
                  <a:cs typeface="Calibri"/>
                </a:rPr>
                <a:t>S</a:t>
              </a:r>
              <a:r>
                <a:rPr spc="5" dirty="0">
                  <a:solidFill>
                    <a:srgbClr val="FFFFFF"/>
                  </a:solidFill>
                  <a:latin typeface="Calibri"/>
                  <a:cs typeface="Calibri"/>
                </a:rPr>
                <a:t>e</a:t>
              </a:r>
              <a:r>
                <a:rPr dirty="0">
                  <a:solidFill>
                    <a:srgbClr val="FFFFFF"/>
                  </a:solidFill>
                  <a:latin typeface="Calibri"/>
                  <a:cs typeface="Calibri"/>
                </a:rPr>
                <a:t>c</a:t>
              </a:r>
              <a:r>
                <a:rPr spc="5" dirty="0">
                  <a:solidFill>
                    <a:srgbClr val="FFFFFF"/>
                  </a:solidFill>
                  <a:latin typeface="Calibri"/>
                  <a:cs typeface="Calibri"/>
                </a:rPr>
                <a:t>u</a:t>
              </a:r>
              <a:r>
                <a:rPr spc="-5" dirty="0">
                  <a:solidFill>
                    <a:srgbClr val="FFFFFF"/>
                  </a:solidFill>
                  <a:latin typeface="Calibri"/>
                  <a:cs typeface="Calibri"/>
                </a:rPr>
                <a:t>rit</a:t>
              </a:r>
              <a:r>
                <a:rPr dirty="0">
                  <a:solidFill>
                    <a:srgbClr val="FFFFFF"/>
                  </a:solidFill>
                  <a:latin typeface="Calibri"/>
                  <a:cs typeface="Calibri"/>
                </a:rPr>
                <a:t>y</a:t>
              </a:r>
              <a:r>
                <a:rPr dirty="0">
                  <a:solidFill>
                    <a:srgbClr val="FFFFFF"/>
                  </a:solidFill>
                  <a:latin typeface="Times New Roman"/>
                  <a:cs typeface="Times New Roman"/>
                </a:rPr>
                <a:t> </a:t>
              </a:r>
              <a:r>
                <a:rPr dirty="0">
                  <a:solidFill>
                    <a:srgbClr val="FFFFFF"/>
                  </a:solidFill>
                  <a:latin typeface="Calibri"/>
                  <a:cs typeface="Calibri"/>
                </a:rPr>
                <a:t>G</a:t>
              </a:r>
              <a:r>
                <a:rPr spc="-35" dirty="0">
                  <a:solidFill>
                    <a:srgbClr val="FFFFFF"/>
                  </a:solidFill>
                  <a:latin typeface="Calibri"/>
                  <a:cs typeface="Calibri"/>
                </a:rPr>
                <a:t>r</a:t>
              </a:r>
              <a:r>
                <a:rPr dirty="0">
                  <a:solidFill>
                    <a:srgbClr val="FFFFFF"/>
                  </a:solidFill>
                  <a:latin typeface="Calibri"/>
                  <a:cs typeface="Calibri"/>
                </a:rPr>
                <a:t>oup</a:t>
              </a:r>
              <a:endParaRPr dirty="0">
                <a:latin typeface="Calibri"/>
                <a:cs typeface="Calibri"/>
              </a:endParaRPr>
            </a:p>
          </p:txBody>
        </p:sp>
        <p:sp>
          <p:nvSpPr>
            <p:cNvPr id="23" name="object 22">
              <a:extLst>
                <a:ext uri="{FF2B5EF4-FFF2-40B4-BE49-F238E27FC236}">
                  <a16:creationId xmlns:a16="http://schemas.microsoft.com/office/drawing/2014/main" id="{20413CC6-6E4B-E504-7150-95A691FA460D}"/>
                </a:ext>
              </a:extLst>
            </p:cNvPr>
            <p:cNvSpPr txBox="1"/>
            <p:nvPr/>
          </p:nvSpPr>
          <p:spPr>
            <a:xfrm>
              <a:off x="2308225" y="3181350"/>
              <a:ext cx="992188" cy="381000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127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sz="2800" b="1" spc="-5" dirty="0">
                  <a:solidFill>
                    <a:srgbClr val="444949"/>
                  </a:solidFill>
                  <a:latin typeface="Calibri"/>
                  <a:cs typeface="Calibri"/>
                </a:rPr>
                <a:t>WWW</a:t>
              </a:r>
              <a:endParaRPr sz="2800">
                <a:latin typeface="Calibri"/>
                <a:cs typeface="Calibri"/>
              </a:endParaRPr>
            </a:p>
          </p:txBody>
        </p:sp>
        <p:sp>
          <p:nvSpPr>
            <p:cNvPr id="24" name="object 23">
              <a:extLst>
                <a:ext uri="{FF2B5EF4-FFF2-40B4-BE49-F238E27FC236}">
                  <a16:creationId xmlns:a16="http://schemas.microsoft.com/office/drawing/2014/main" id="{04F0C4B0-FF9C-2509-B12F-12123DB5A9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67475" y="2828925"/>
              <a:ext cx="1055688" cy="1054100"/>
            </a:xfrm>
            <a:prstGeom prst="rect">
              <a:avLst/>
            </a:prstGeom>
            <a:blipFill dpi="0" rotWithShape="1">
              <a:blip r:embed="rId2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5" name="object 24">
              <a:extLst>
                <a:ext uri="{FF2B5EF4-FFF2-40B4-BE49-F238E27FC236}">
                  <a16:creationId xmlns:a16="http://schemas.microsoft.com/office/drawing/2014/main" id="{ECC65AF0-689D-5610-1448-9A63B8665E88}"/>
                </a:ext>
              </a:extLst>
            </p:cNvPr>
            <p:cNvSpPr txBox="1"/>
            <p:nvPr/>
          </p:nvSpPr>
          <p:spPr>
            <a:xfrm>
              <a:off x="7704138" y="3222625"/>
              <a:ext cx="1203325" cy="254000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127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spc="-25" dirty="0">
                  <a:solidFill>
                    <a:srgbClr val="444949"/>
                  </a:solidFill>
                  <a:latin typeface="Calibri"/>
                  <a:cs typeface="Calibri"/>
                </a:rPr>
                <a:t>E</a:t>
              </a:r>
              <a:r>
                <a:rPr dirty="0">
                  <a:solidFill>
                    <a:srgbClr val="444949"/>
                  </a:solidFill>
                  <a:latin typeface="Calibri"/>
                  <a:cs typeface="Calibri"/>
                </a:rPr>
                <a:t>C</a:t>
              </a:r>
              <a:r>
                <a:rPr spc="-10" dirty="0">
                  <a:solidFill>
                    <a:srgbClr val="444949"/>
                  </a:solidFill>
                  <a:latin typeface="Calibri"/>
                  <a:cs typeface="Calibri"/>
                </a:rPr>
                <a:t>2</a:t>
              </a:r>
              <a:r>
                <a:rPr spc="-40" dirty="0">
                  <a:solidFill>
                    <a:srgbClr val="444949"/>
                  </a:solidFill>
                  <a:latin typeface="Times New Roman"/>
                  <a:cs typeface="Times New Roman"/>
                </a:rPr>
                <a:t> </a:t>
              </a:r>
              <a:r>
                <a:rPr spc="-10" dirty="0">
                  <a:solidFill>
                    <a:srgbClr val="444949"/>
                  </a:solidFill>
                  <a:latin typeface="Calibri"/>
                  <a:cs typeface="Calibri"/>
                </a:rPr>
                <a:t>I</a:t>
              </a:r>
              <a:r>
                <a:rPr dirty="0">
                  <a:solidFill>
                    <a:srgbClr val="444949"/>
                  </a:solidFill>
                  <a:latin typeface="Calibri"/>
                  <a:cs typeface="Calibri"/>
                </a:rPr>
                <a:t>n</a:t>
              </a:r>
              <a:r>
                <a:rPr spc="-25" dirty="0">
                  <a:solidFill>
                    <a:srgbClr val="444949"/>
                  </a:solidFill>
                  <a:latin typeface="Calibri"/>
                  <a:cs typeface="Calibri"/>
                </a:rPr>
                <a:t>st</a:t>
              </a:r>
              <a:r>
                <a:rPr dirty="0">
                  <a:solidFill>
                    <a:srgbClr val="444949"/>
                  </a:solidFill>
                  <a:latin typeface="Calibri"/>
                  <a:cs typeface="Calibri"/>
                </a:rPr>
                <a:t>an</a:t>
              </a:r>
              <a:r>
                <a:rPr spc="-10" dirty="0">
                  <a:solidFill>
                    <a:srgbClr val="444949"/>
                  </a:solidFill>
                  <a:latin typeface="Calibri"/>
                  <a:cs typeface="Calibri"/>
                </a:rPr>
                <a:t>ce</a:t>
              </a:r>
              <a:endParaRPr>
                <a:latin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451262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449D3-0538-2CF0-916F-E06478959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Groups Deep Dive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9C15C-04E7-571D-F2DA-E0C788D915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Security groups are acting as a “firewall” on EC2 instances</a:t>
            </a:r>
          </a:p>
          <a:p>
            <a:r>
              <a:rPr lang="en-US" b="1" dirty="0"/>
              <a:t>They regulate:</a:t>
            </a:r>
          </a:p>
          <a:p>
            <a:pPr lvl="1"/>
            <a:r>
              <a:rPr lang="en-US" dirty="0"/>
              <a:t>Access to Ports</a:t>
            </a:r>
          </a:p>
          <a:p>
            <a:pPr lvl="1"/>
            <a:r>
              <a:rPr lang="en-US" dirty="0" err="1"/>
              <a:t>Authorised</a:t>
            </a:r>
            <a:r>
              <a:rPr lang="en-US" dirty="0"/>
              <a:t> IP ranges – IPv4 and IPv6</a:t>
            </a:r>
          </a:p>
          <a:p>
            <a:pPr lvl="1"/>
            <a:r>
              <a:rPr lang="en-US" dirty="0"/>
              <a:t>Control of inbound network (from other to the instance)</a:t>
            </a:r>
          </a:p>
          <a:p>
            <a:pPr lvl="1"/>
            <a:r>
              <a:rPr lang="en-US" dirty="0"/>
              <a:t>Control of outbound network (from the instance to other)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3A3D21-DFF6-8B63-9AD1-675A0FCEF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734" y="4580636"/>
            <a:ext cx="11452486" cy="173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868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6177C-A2A0-C11C-F6A2-879A3DF20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Groups Diagram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CEBF084-5262-3C74-CECC-30297A491462}"/>
              </a:ext>
            </a:extLst>
          </p:cNvPr>
          <p:cNvGrpSpPr/>
          <p:nvPr/>
        </p:nvGrpSpPr>
        <p:grpSpPr>
          <a:xfrm>
            <a:off x="1028700" y="1725613"/>
            <a:ext cx="10763250" cy="4102100"/>
            <a:chOff x="1028700" y="1725613"/>
            <a:chExt cx="10763250" cy="410210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0BE8FA9-1F2F-B10A-F8B9-DC00E71B32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8700" y="1725613"/>
              <a:ext cx="1844675" cy="4102100"/>
            </a:xfrm>
            <a:custGeom>
              <a:avLst/>
              <a:gdLst>
                <a:gd name="T0" fmla="*/ 0 w 1844039"/>
                <a:gd name="T1" fmla="*/ 4101571 h 4102100"/>
                <a:gd name="T2" fmla="*/ 1843707 w 1844039"/>
                <a:gd name="T3" fmla="*/ 4101571 h 4102100"/>
                <a:gd name="T4" fmla="*/ 1843707 w 1844039"/>
                <a:gd name="T5" fmla="*/ 0 h 4102100"/>
                <a:gd name="T6" fmla="*/ 0 w 1844039"/>
                <a:gd name="T7" fmla="*/ 0 h 4102100"/>
                <a:gd name="T8" fmla="*/ 0 w 1844039"/>
                <a:gd name="T9" fmla="*/ 4101571 h 4102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44039" h="4102100">
                  <a:moveTo>
                    <a:pt x="0" y="4101571"/>
                  </a:moveTo>
                  <a:lnTo>
                    <a:pt x="1843707" y="4101571"/>
                  </a:lnTo>
                  <a:lnTo>
                    <a:pt x="1843707" y="0"/>
                  </a:lnTo>
                  <a:lnTo>
                    <a:pt x="0" y="0"/>
                  </a:lnTo>
                  <a:lnTo>
                    <a:pt x="0" y="4101571"/>
                  </a:lnTo>
                  <a:close/>
                </a:path>
              </a:pathLst>
            </a:custGeom>
            <a:solidFill>
              <a:srgbClr val="5091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8BDFE348-0353-494B-B45A-F6D555717A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8700" y="1725613"/>
              <a:ext cx="1844675" cy="4102100"/>
            </a:xfrm>
            <a:custGeom>
              <a:avLst/>
              <a:gdLst>
                <a:gd name="T0" fmla="*/ 0 w 1844039"/>
                <a:gd name="T1" fmla="*/ 4101571 h 4102100"/>
                <a:gd name="T2" fmla="*/ 1843707 w 1844039"/>
                <a:gd name="T3" fmla="*/ 4101571 h 4102100"/>
                <a:gd name="T4" fmla="*/ 1843707 w 1844039"/>
                <a:gd name="T5" fmla="*/ 0 h 4102100"/>
                <a:gd name="T6" fmla="*/ 0 w 1844039"/>
                <a:gd name="T7" fmla="*/ 0 h 4102100"/>
                <a:gd name="T8" fmla="*/ 0 w 1844039"/>
                <a:gd name="T9" fmla="*/ 4101571 h 4102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44039" h="4102100">
                  <a:moveTo>
                    <a:pt x="0" y="4101571"/>
                  </a:moveTo>
                  <a:lnTo>
                    <a:pt x="1843707" y="4101571"/>
                  </a:lnTo>
                  <a:lnTo>
                    <a:pt x="1843707" y="0"/>
                  </a:lnTo>
                  <a:lnTo>
                    <a:pt x="0" y="0"/>
                  </a:lnTo>
                  <a:lnTo>
                    <a:pt x="0" y="4101571"/>
                  </a:lnTo>
                  <a:close/>
                </a:path>
              </a:pathLst>
            </a:custGeom>
            <a:noFill/>
            <a:ln w="12700">
              <a:solidFill>
                <a:srgbClr val="38699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F857C31A-DF9C-55B5-4928-E6B84A4B2046}"/>
                </a:ext>
              </a:extLst>
            </p:cNvPr>
            <p:cNvSpPr txBox="1"/>
            <p:nvPr/>
          </p:nvSpPr>
          <p:spPr>
            <a:xfrm>
              <a:off x="1263650" y="3527425"/>
              <a:ext cx="1376363" cy="519113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>
              <a:lvl1pPr marL="12700" indent="85725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ts val="2088"/>
                </a:lnSpc>
              </a:pPr>
              <a:r>
                <a:rPr lang="en-US" altLang="en-US">
                  <a:solidFill>
                    <a:srgbClr val="FFFFFF"/>
                  </a:solidFill>
                  <a:cs typeface="Calibri" panose="020F0502020204030204" pitchFamily="34" charset="0"/>
                </a:rPr>
                <a:t>EC2</a:t>
              </a:r>
              <a:r>
                <a:rPr lang="en-US" altLang="en-US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>
                  <a:solidFill>
                    <a:srgbClr val="FFFFFF"/>
                  </a:solidFill>
                  <a:cs typeface="Calibri" panose="020F0502020204030204" pitchFamily="34" charset="0"/>
                </a:rPr>
                <a:t>Instance</a:t>
              </a:r>
              <a:r>
                <a:rPr lang="en-US" altLang="en-US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>
                  <a:solidFill>
                    <a:srgbClr val="FFFFFF"/>
                  </a:solidFill>
                  <a:cs typeface="Calibri" panose="020F0502020204030204" pitchFamily="34" charset="0"/>
                </a:rPr>
                <a:t>IP</a:t>
              </a:r>
              <a:r>
                <a:rPr lang="en-US" altLang="en-US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>
                  <a:solidFill>
                    <a:srgbClr val="FFFFFF"/>
                  </a:solidFill>
                  <a:cs typeface="Calibri" panose="020F0502020204030204" pitchFamily="34" charset="0"/>
                </a:rPr>
                <a:t>XX.XX.XX.XX</a:t>
              </a:r>
              <a:endParaRPr lang="en-US" altLang="en-US">
                <a:cs typeface="Calibri" panose="020F0502020204030204" pitchFamily="34" charset="0"/>
              </a:endParaRPr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8078D4B9-0641-350E-5F0E-2D7089D4ED4F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5638" y="2693988"/>
              <a:ext cx="2535237" cy="342900"/>
            </a:xfrm>
            <a:custGeom>
              <a:avLst/>
              <a:gdLst>
                <a:gd name="T0" fmla="*/ 171754 w 2535554"/>
                <a:gd name="T1" fmla="*/ 0 h 343535"/>
                <a:gd name="T2" fmla="*/ 0 w 2535554"/>
                <a:gd name="T3" fmla="*/ 171754 h 343535"/>
                <a:gd name="T4" fmla="*/ 171754 w 2535554"/>
                <a:gd name="T5" fmla="*/ 343509 h 343535"/>
                <a:gd name="T6" fmla="*/ 171754 w 2535554"/>
                <a:gd name="T7" fmla="*/ 257647 h 343535"/>
                <a:gd name="T8" fmla="*/ 2535265 w 2535554"/>
                <a:gd name="T9" fmla="*/ 257647 h 343535"/>
                <a:gd name="T10" fmla="*/ 2535265 w 2535554"/>
                <a:gd name="T11" fmla="*/ 85892 h 343535"/>
                <a:gd name="T12" fmla="*/ 171754 w 2535554"/>
                <a:gd name="T13" fmla="*/ 85892 h 343535"/>
                <a:gd name="T14" fmla="*/ 171754 w 2535554"/>
                <a:gd name="T15" fmla="*/ 0 h 343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35554" h="343535">
                  <a:moveTo>
                    <a:pt x="171754" y="0"/>
                  </a:moveTo>
                  <a:lnTo>
                    <a:pt x="0" y="171754"/>
                  </a:lnTo>
                  <a:lnTo>
                    <a:pt x="171754" y="343509"/>
                  </a:lnTo>
                  <a:lnTo>
                    <a:pt x="171754" y="257647"/>
                  </a:lnTo>
                  <a:lnTo>
                    <a:pt x="2535265" y="257647"/>
                  </a:lnTo>
                  <a:lnTo>
                    <a:pt x="2535265" y="85892"/>
                  </a:lnTo>
                  <a:lnTo>
                    <a:pt x="171754" y="85892"/>
                  </a:lnTo>
                  <a:lnTo>
                    <a:pt x="171754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8229CBCF-43CA-E171-A62E-8CA304F64204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5638" y="2693988"/>
              <a:ext cx="2535237" cy="342900"/>
            </a:xfrm>
            <a:custGeom>
              <a:avLst/>
              <a:gdLst>
                <a:gd name="T0" fmla="*/ 0 w 2535554"/>
                <a:gd name="T1" fmla="*/ 171754 h 343535"/>
                <a:gd name="T2" fmla="*/ 171754 w 2535554"/>
                <a:gd name="T3" fmla="*/ 0 h 343535"/>
                <a:gd name="T4" fmla="*/ 171754 w 2535554"/>
                <a:gd name="T5" fmla="*/ 85892 h 343535"/>
                <a:gd name="T6" fmla="*/ 2535295 w 2535554"/>
                <a:gd name="T7" fmla="*/ 85892 h 343535"/>
                <a:gd name="T8" fmla="*/ 2535295 w 2535554"/>
                <a:gd name="T9" fmla="*/ 257647 h 343535"/>
                <a:gd name="T10" fmla="*/ 171754 w 2535554"/>
                <a:gd name="T11" fmla="*/ 257647 h 343535"/>
                <a:gd name="T12" fmla="*/ 171754 w 2535554"/>
                <a:gd name="T13" fmla="*/ 343509 h 343535"/>
                <a:gd name="T14" fmla="*/ 0 w 2535554"/>
                <a:gd name="T15" fmla="*/ 171754 h 343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35554" h="343535">
                  <a:moveTo>
                    <a:pt x="0" y="171754"/>
                  </a:moveTo>
                  <a:lnTo>
                    <a:pt x="171754" y="0"/>
                  </a:lnTo>
                  <a:lnTo>
                    <a:pt x="171754" y="85892"/>
                  </a:lnTo>
                  <a:lnTo>
                    <a:pt x="2535295" y="85892"/>
                  </a:lnTo>
                  <a:lnTo>
                    <a:pt x="2535295" y="257647"/>
                  </a:lnTo>
                  <a:lnTo>
                    <a:pt x="171754" y="257647"/>
                  </a:lnTo>
                  <a:lnTo>
                    <a:pt x="171754" y="343509"/>
                  </a:lnTo>
                  <a:lnTo>
                    <a:pt x="0" y="171754"/>
                  </a:lnTo>
                  <a:close/>
                </a:path>
              </a:pathLst>
            </a:custGeom>
            <a:noFill/>
            <a:ln w="12700">
              <a:solidFill>
                <a:srgbClr val="44494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FCE68B59-514E-9A24-7981-7394AE5FDE53}"/>
                </a:ext>
              </a:extLst>
            </p:cNvPr>
            <p:cNvSpPr txBox="1"/>
            <p:nvPr/>
          </p:nvSpPr>
          <p:spPr>
            <a:xfrm>
              <a:off x="7491413" y="2752725"/>
              <a:ext cx="698500" cy="254000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127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spc="-55" dirty="0">
                  <a:solidFill>
                    <a:srgbClr val="FFFFFF"/>
                  </a:solidFill>
                  <a:latin typeface="Calibri"/>
                  <a:cs typeface="Calibri"/>
                </a:rPr>
                <a:t>P</a:t>
              </a:r>
              <a:r>
                <a:rPr spc="-10" dirty="0">
                  <a:solidFill>
                    <a:srgbClr val="FFFFFF"/>
                  </a:solidFill>
                  <a:latin typeface="Calibri"/>
                  <a:cs typeface="Calibri"/>
                </a:rPr>
                <a:t>o</a:t>
              </a:r>
              <a:r>
                <a:rPr spc="-15" dirty="0">
                  <a:solidFill>
                    <a:srgbClr val="FFFFFF"/>
                  </a:solidFill>
                  <a:latin typeface="Calibri"/>
                  <a:cs typeface="Calibri"/>
                </a:rPr>
                <a:t>r</a:t>
              </a:r>
              <a:r>
                <a:rPr spc="-10" dirty="0">
                  <a:solidFill>
                    <a:srgbClr val="FFFFFF"/>
                  </a:solidFill>
                  <a:latin typeface="Calibri"/>
                  <a:cs typeface="Calibri"/>
                </a:rPr>
                <a:t>t</a:t>
              </a:r>
              <a:r>
                <a:rPr spc="-45" dirty="0">
                  <a:solidFill>
                    <a:srgbClr val="FFFFFF"/>
                  </a:solidFill>
                  <a:latin typeface="Times New Roman"/>
                  <a:cs typeface="Times New Roman"/>
                </a:rPr>
                <a:t> </a:t>
              </a:r>
              <a:r>
                <a:rPr spc="-10" dirty="0">
                  <a:solidFill>
                    <a:srgbClr val="FFFFFF"/>
                  </a:solidFill>
                  <a:latin typeface="Calibri"/>
                  <a:cs typeface="Calibri"/>
                </a:rPr>
                <a:t>22</a:t>
              </a:r>
              <a:endParaRPr>
                <a:latin typeface="Calibri"/>
                <a:cs typeface="Calibri"/>
              </a:endParaRPr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B13581B1-07EF-4842-BB64-9060CDF106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6250" y="2122488"/>
              <a:ext cx="6524625" cy="344487"/>
            </a:xfrm>
            <a:custGeom>
              <a:avLst/>
              <a:gdLst>
                <a:gd name="T0" fmla="*/ 171760 w 6524625"/>
                <a:gd name="T1" fmla="*/ 0 h 343535"/>
                <a:gd name="T2" fmla="*/ 0 w 6524625"/>
                <a:gd name="T3" fmla="*/ 171754 h 343535"/>
                <a:gd name="T4" fmla="*/ 171760 w 6524625"/>
                <a:gd name="T5" fmla="*/ 343540 h 343535"/>
                <a:gd name="T6" fmla="*/ 171760 w 6524625"/>
                <a:gd name="T7" fmla="*/ 257647 h 343535"/>
                <a:gd name="T8" fmla="*/ 6524225 w 6524625"/>
                <a:gd name="T9" fmla="*/ 257647 h 343535"/>
                <a:gd name="T10" fmla="*/ 6524225 w 6524625"/>
                <a:gd name="T11" fmla="*/ 85892 h 343535"/>
                <a:gd name="T12" fmla="*/ 171760 w 6524625"/>
                <a:gd name="T13" fmla="*/ 85892 h 343535"/>
                <a:gd name="T14" fmla="*/ 171760 w 6524625"/>
                <a:gd name="T15" fmla="*/ 0 h 343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524625" h="343535">
                  <a:moveTo>
                    <a:pt x="171760" y="0"/>
                  </a:moveTo>
                  <a:lnTo>
                    <a:pt x="0" y="171754"/>
                  </a:lnTo>
                  <a:lnTo>
                    <a:pt x="171760" y="343540"/>
                  </a:lnTo>
                  <a:lnTo>
                    <a:pt x="171760" y="257647"/>
                  </a:lnTo>
                  <a:lnTo>
                    <a:pt x="6524225" y="257647"/>
                  </a:lnTo>
                  <a:lnTo>
                    <a:pt x="6524225" y="85892"/>
                  </a:lnTo>
                  <a:lnTo>
                    <a:pt x="171760" y="85892"/>
                  </a:lnTo>
                  <a:lnTo>
                    <a:pt x="171760" y="0"/>
                  </a:lnTo>
                  <a:close/>
                </a:path>
              </a:pathLst>
            </a:custGeom>
            <a:solidFill>
              <a:srgbClr val="70AD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60B99716-A4EE-F3EC-9464-DAB578E964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6250" y="2122488"/>
              <a:ext cx="6524625" cy="344487"/>
            </a:xfrm>
            <a:custGeom>
              <a:avLst/>
              <a:gdLst>
                <a:gd name="T0" fmla="*/ 0 w 6524625"/>
                <a:gd name="T1" fmla="*/ 171754 h 343535"/>
                <a:gd name="T2" fmla="*/ 171760 w 6524625"/>
                <a:gd name="T3" fmla="*/ 0 h 343535"/>
                <a:gd name="T4" fmla="*/ 171760 w 6524625"/>
                <a:gd name="T5" fmla="*/ 85892 h 343535"/>
                <a:gd name="T6" fmla="*/ 6524225 w 6524625"/>
                <a:gd name="T7" fmla="*/ 85892 h 343535"/>
                <a:gd name="T8" fmla="*/ 6524225 w 6524625"/>
                <a:gd name="T9" fmla="*/ 257647 h 343535"/>
                <a:gd name="T10" fmla="*/ 171760 w 6524625"/>
                <a:gd name="T11" fmla="*/ 257647 h 343535"/>
                <a:gd name="T12" fmla="*/ 171760 w 6524625"/>
                <a:gd name="T13" fmla="*/ 343540 h 343535"/>
                <a:gd name="T14" fmla="*/ 0 w 6524625"/>
                <a:gd name="T15" fmla="*/ 171754 h 343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524625" h="343535">
                  <a:moveTo>
                    <a:pt x="0" y="171754"/>
                  </a:moveTo>
                  <a:lnTo>
                    <a:pt x="171760" y="0"/>
                  </a:lnTo>
                  <a:lnTo>
                    <a:pt x="171760" y="85892"/>
                  </a:lnTo>
                  <a:lnTo>
                    <a:pt x="6524225" y="85892"/>
                  </a:lnTo>
                  <a:lnTo>
                    <a:pt x="6524225" y="257647"/>
                  </a:lnTo>
                  <a:lnTo>
                    <a:pt x="171760" y="257647"/>
                  </a:lnTo>
                  <a:lnTo>
                    <a:pt x="171760" y="343540"/>
                  </a:lnTo>
                  <a:lnTo>
                    <a:pt x="0" y="171754"/>
                  </a:lnTo>
                  <a:close/>
                </a:path>
              </a:pathLst>
            </a:custGeom>
            <a:noFill/>
            <a:ln w="12700">
              <a:solidFill>
                <a:srgbClr val="507E3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871E574A-54F8-C55C-F961-CC45ACCCB8F4}"/>
                </a:ext>
              </a:extLst>
            </p:cNvPr>
            <p:cNvSpPr txBox="1"/>
            <p:nvPr/>
          </p:nvSpPr>
          <p:spPr>
            <a:xfrm>
              <a:off x="7493000" y="2182813"/>
              <a:ext cx="698500" cy="254000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127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spc="-55" dirty="0">
                  <a:solidFill>
                    <a:srgbClr val="FFFFFF"/>
                  </a:solidFill>
                  <a:latin typeface="Calibri"/>
                  <a:cs typeface="Calibri"/>
                </a:rPr>
                <a:t>P</a:t>
              </a:r>
              <a:r>
                <a:rPr spc="-10" dirty="0">
                  <a:solidFill>
                    <a:srgbClr val="FFFFFF"/>
                  </a:solidFill>
                  <a:latin typeface="Calibri"/>
                  <a:cs typeface="Calibri"/>
                </a:rPr>
                <a:t>o</a:t>
              </a:r>
              <a:r>
                <a:rPr spc="-15" dirty="0">
                  <a:solidFill>
                    <a:srgbClr val="FFFFFF"/>
                  </a:solidFill>
                  <a:latin typeface="Calibri"/>
                  <a:cs typeface="Calibri"/>
                </a:rPr>
                <a:t>r</a:t>
              </a:r>
              <a:r>
                <a:rPr spc="-10" dirty="0">
                  <a:solidFill>
                    <a:srgbClr val="FFFFFF"/>
                  </a:solidFill>
                  <a:latin typeface="Calibri"/>
                  <a:cs typeface="Calibri"/>
                </a:rPr>
                <a:t>t</a:t>
              </a:r>
              <a:r>
                <a:rPr spc="-45" dirty="0">
                  <a:solidFill>
                    <a:srgbClr val="FFFFFF"/>
                  </a:solidFill>
                  <a:latin typeface="Times New Roman"/>
                  <a:cs typeface="Times New Roman"/>
                </a:rPr>
                <a:t> </a:t>
              </a:r>
              <a:r>
                <a:rPr spc="-10" dirty="0">
                  <a:solidFill>
                    <a:srgbClr val="FFFFFF"/>
                  </a:solidFill>
                  <a:latin typeface="Calibri"/>
                  <a:cs typeface="Calibri"/>
                </a:rPr>
                <a:t>22</a:t>
              </a:r>
              <a:endParaRPr>
                <a:latin typeface="Calibri"/>
                <a:cs typeface="Calibri"/>
              </a:endParaRPr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14A2E938-CEE2-16BD-EE3E-6736565695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1900" y="1955800"/>
              <a:ext cx="3790950" cy="1260475"/>
            </a:xfrm>
            <a:custGeom>
              <a:avLst/>
              <a:gdLst>
                <a:gd name="T0" fmla="*/ 0 w 3790315"/>
                <a:gd name="T1" fmla="*/ 1261027 h 1261110"/>
                <a:gd name="T2" fmla="*/ 3790126 w 3790315"/>
                <a:gd name="T3" fmla="*/ 1261027 h 1261110"/>
                <a:gd name="T4" fmla="*/ 3790126 w 3790315"/>
                <a:gd name="T5" fmla="*/ 0 h 1261110"/>
                <a:gd name="T6" fmla="*/ 0 w 3790315"/>
                <a:gd name="T7" fmla="*/ 0 h 1261110"/>
                <a:gd name="T8" fmla="*/ 0 w 3790315"/>
                <a:gd name="T9" fmla="*/ 1261027 h 1261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0315" h="1261110">
                  <a:moveTo>
                    <a:pt x="0" y="1261027"/>
                  </a:moveTo>
                  <a:lnTo>
                    <a:pt x="3790126" y="1261027"/>
                  </a:lnTo>
                  <a:lnTo>
                    <a:pt x="3790126" y="0"/>
                  </a:lnTo>
                  <a:lnTo>
                    <a:pt x="0" y="0"/>
                  </a:lnTo>
                  <a:lnTo>
                    <a:pt x="0" y="1261027"/>
                  </a:lnTo>
                  <a:close/>
                </a:path>
              </a:pathLst>
            </a:custGeom>
            <a:solidFill>
              <a:srgbClr val="F698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75454030-1383-B80D-F866-9D79BF8781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1900" y="1955800"/>
              <a:ext cx="3790950" cy="1260475"/>
            </a:xfrm>
            <a:custGeom>
              <a:avLst/>
              <a:gdLst>
                <a:gd name="T0" fmla="*/ 0 w 3790315"/>
                <a:gd name="T1" fmla="*/ 1261027 h 1261110"/>
                <a:gd name="T2" fmla="*/ 3790126 w 3790315"/>
                <a:gd name="T3" fmla="*/ 1261027 h 1261110"/>
                <a:gd name="T4" fmla="*/ 3790126 w 3790315"/>
                <a:gd name="T5" fmla="*/ 0 h 1261110"/>
                <a:gd name="T6" fmla="*/ 0 w 3790315"/>
                <a:gd name="T7" fmla="*/ 0 h 1261110"/>
                <a:gd name="T8" fmla="*/ 0 w 3790315"/>
                <a:gd name="T9" fmla="*/ 1261027 h 1261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0315" h="1261110">
                  <a:moveTo>
                    <a:pt x="0" y="1261027"/>
                  </a:moveTo>
                  <a:lnTo>
                    <a:pt x="3790126" y="1261027"/>
                  </a:lnTo>
                  <a:lnTo>
                    <a:pt x="3790126" y="0"/>
                  </a:lnTo>
                  <a:lnTo>
                    <a:pt x="0" y="0"/>
                  </a:lnTo>
                  <a:lnTo>
                    <a:pt x="0" y="1261027"/>
                  </a:lnTo>
                  <a:close/>
                </a:path>
              </a:pathLst>
            </a:custGeom>
            <a:noFill/>
            <a:ln w="12700">
              <a:solidFill>
                <a:srgbClr val="B56E0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01013A2C-AFCD-1A43-9A3A-141748BD7662}"/>
                </a:ext>
              </a:extLst>
            </p:cNvPr>
            <p:cNvSpPr txBox="1"/>
            <p:nvPr/>
          </p:nvSpPr>
          <p:spPr>
            <a:xfrm>
              <a:off x="3232150" y="2198688"/>
              <a:ext cx="2332038" cy="800100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>
              <a:lvl1pPr marL="388938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ts val="2113"/>
                </a:lnSpc>
              </a:pPr>
              <a:r>
                <a:rPr lang="en-US" altLang="en-US">
                  <a:solidFill>
                    <a:srgbClr val="FFFFFF"/>
                  </a:solidFill>
                  <a:cs typeface="Calibri" panose="020F0502020204030204" pitchFamily="34" charset="0"/>
                </a:rPr>
                <a:t>Security</a:t>
              </a:r>
              <a:r>
                <a:rPr lang="en-US" altLang="en-US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>
                  <a:solidFill>
                    <a:srgbClr val="FFFFFF"/>
                  </a:solidFill>
                  <a:cs typeface="Calibri" panose="020F0502020204030204" pitchFamily="34" charset="0"/>
                </a:rPr>
                <a:t>Group</a:t>
              </a:r>
              <a:r>
                <a:rPr lang="en-US" altLang="en-US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>
                  <a:solidFill>
                    <a:srgbClr val="FFFFFF"/>
                  </a:solidFill>
                  <a:cs typeface="Calibri" panose="020F0502020204030204" pitchFamily="34" charset="0"/>
                </a:rPr>
                <a:t>1</a:t>
              </a:r>
              <a:r>
                <a:rPr lang="en-US" altLang="en-US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>
                  <a:solidFill>
                    <a:srgbClr val="FFFFFF"/>
                  </a:solidFill>
                  <a:cs typeface="Calibri" panose="020F0502020204030204" pitchFamily="34" charset="0"/>
                </a:rPr>
                <a:t>Inbound</a:t>
              </a:r>
              <a:endParaRPr lang="en-US" altLang="en-US">
                <a:cs typeface="Calibri" panose="020F0502020204030204" pitchFamily="34" charset="0"/>
              </a:endParaRPr>
            </a:p>
            <a:p>
              <a:pPr algn="ctr">
                <a:lnSpc>
                  <a:spcPts val="2125"/>
                </a:lnSpc>
              </a:pPr>
              <a:r>
                <a:rPr lang="en-US" altLang="en-US">
                  <a:solidFill>
                    <a:srgbClr val="FFFFFF"/>
                  </a:solidFill>
                  <a:cs typeface="Calibri" panose="020F0502020204030204" pitchFamily="34" charset="0"/>
                </a:rPr>
                <a:t>Filter</a:t>
              </a:r>
              <a:r>
                <a:rPr lang="en-US" altLang="en-US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>
                  <a:solidFill>
                    <a:srgbClr val="FFFFFF"/>
                  </a:solidFill>
                  <a:cs typeface="Calibri" panose="020F0502020204030204" pitchFamily="34" charset="0"/>
                </a:rPr>
                <a:t>IP</a:t>
              </a:r>
              <a:r>
                <a:rPr lang="en-US" altLang="en-US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>
                  <a:solidFill>
                    <a:srgbClr val="FFFFFF"/>
                  </a:solidFill>
                  <a:cs typeface="Calibri" panose="020F0502020204030204" pitchFamily="34" charset="0"/>
                </a:rPr>
                <a:t>/</a:t>
              </a:r>
              <a:r>
                <a:rPr lang="en-US" altLang="en-US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>
                  <a:solidFill>
                    <a:srgbClr val="FFFFFF"/>
                  </a:solidFill>
                  <a:cs typeface="Calibri" panose="020F0502020204030204" pitchFamily="34" charset="0"/>
                </a:rPr>
                <a:t>Port</a:t>
              </a:r>
              <a:r>
                <a:rPr lang="en-US" altLang="en-US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>
                  <a:solidFill>
                    <a:srgbClr val="FFFFFF"/>
                  </a:solidFill>
                  <a:cs typeface="Calibri" panose="020F0502020204030204" pitchFamily="34" charset="0"/>
                </a:rPr>
                <a:t>with</a:t>
              </a:r>
              <a:r>
                <a:rPr lang="en-US" altLang="en-US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>
                  <a:solidFill>
                    <a:srgbClr val="FFFFFF"/>
                  </a:solidFill>
                  <a:cs typeface="Calibri" panose="020F0502020204030204" pitchFamily="34" charset="0"/>
                </a:rPr>
                <a:t>Rules</a:t>
              </a:r>
              <a:endParaRPr lang="en-US" altLang="en-US">
                <a:cs typeface="Calibri" panose="020F0502020204030204" pitchFamily="34" charset="0"/>
              </a:endParaRPr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8E1D3631-2C12-05AC-8972-F9642DF5D6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6250" y="4811713"/>
              <a:ext cx="6524625" cy="342900"/>
            </a:xfrm>
            <a:custGeom>
              <a:avLst/>
              <a:gdLst>
                <a:gd name="T0" fmla="*/ 6352470 w 6524625"/>
                <a:gd name="T1" fmla="*/ 0 h 343535"/>
                <a:gd name="T2" fmla="*/ 6352470 w 6524625"/>
                <a:gd name="T3" fmla="*/ 85880 h 343535"/>
                <a:gd name="T4" fmla="*/ 0 w 6524625"/>
                <a:gd name="T5" fmla="*/ 85880 h 343535"/>
                <a:gd name="T6" fmla="*/ 0 w 6524625"/>
                <a:gd name="T7" fmla="*/ 257638 h 343535"/>
                <a:gd name="T8" fmla="*/ 6352470 w 6524625"/>
                <a:gd name="T9" fmla="*/ 257638 h 343535"/>
                <a:gd name="T10" fmla="*/ 6352470 w 6524625"/>
                <a:gd name="T11" fmla="*/ 343518 h 343535"/>
                <a:gd name="T12" fmla="*/ 6524225 w 6524625"/>
                <a:gd name="T13" fmla="*/ 171757 h 343535"/>
                <a:gd name="T14" fmla="*/ 6352470 w 6524625"/>
                <a:gd name="T15" fmla="*/ 0 h 343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524625" h="343535">
                  <a:moveTo>
                    <a:pt x="6352470" y="0"/>
                  </a:moveTo>
                  <a:lnTo>
                    <a:pt x="6352470" y="85880"/>
                  </a:lnTo>
                  <a:lnTo>
                    <a:pt x="0" y="85880"/>
                  </a:lnTo>
                  <a:lnTo>
                    <a:pt x="0" y="257638"/>
                  </a:lnTo>
                  <a:lnTo>
                    <a:pt x="6352470" y="257638"/>
                  </a:lnTo>
                  <a:lnTo>
                    <a:pt x="6352470" y="343518"/>
                  </a:lnTo>
                  <a:lnTo>
                    <a:pt x="6524225" y="171757"/>
                  </a:lnTo>
                  <a:lnTo>
                    <a:pt x="6352470" y="0"/>
                  </a:lnTo>
                  <a:close/>
                </a:path>
              </a:pathLst>
            </a:custGeom>
            <a:solidFill>
              <a:srgbClr val="70AD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DAD1D474-028C-AD4B-E2BD-E60E0E67B2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6250" y="4811713"/>
              <a:ext cx="6524625" cy="342900"/>
            </a:xfrm>
            <a:custGeom>
              <a:avLst/>
              <a:gdLst>
                <a:gd name="T0" fmla="*/ 0 w 6524625"/>
                <a:gd name="T1" fmla="*/ 85880 h 343535"/>
                <a:gd name="T2" fmla="*/ 6352470 w 6524625"/>
                <a:gd name="T3" fmla="*/ 85880 h 343535"/>
                <a:gd name="T4" fmla="*/ 6352470 w 6524625"/>
                <a:gd name="T5" fmla="*/ 0 h 343535"/>
                <a:gd name="T6" fmla="*/ 6524225 w 6524625"/>
                <a:gd name="T7" fmla="*/ 171757 h 343535"/>
                <a:gd name="T8" fmla="*/ 6352470 w 6524625"/>
                <a:gd name="T9" fmla="*/ 343518 h 343535"/>
                <a:gd name="T10" fmla="*/ 6352470 w 6524625"/>
                <a:gd name="T11" fmla="*/ 257638 h 343535"/>
                <a:gd name="T12" fmla="*/ 0 w 6524625"/>
                <a:gd name="T13" fmla="*/ 257638 h 343535"/>
                <a:gd name="T14" fmla="*/ 0 w 6524625"/>
                <a:gd name="T15" fmla="*/ 85880 h 343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524625" h="343535">
                  <a:moveTo>
                    <a:pt x="0" y="85880"/>
                  </a:moveTo>
                  <a:lnTo>
                    <a:pt x="6352470" y="85880"/>
                  </a:lnTo>
                  <a:lnTo>
                    <a:pt x="6352470" y="0"/>
                  </a:lnTo>
                  <a:lnTo>
                    <a:pt x="6524225" y="171757"/>
                  </a:lnTo>
                  <a:lnTo>
                    <a:pt x="6352470" y="343518"/>
                  </a:lnTo>
                  <a:lnTo>
                    <a:pt x="6352470" y="257638"/>
                  </a:lnTo>
                  <a:lnTo>
                    <a:pt x="0" y="257638"/>
                  </a:lnTo>
                  <a:lnTo>
                    <a:pt x="0" y="85880"/>
                  </a:lnTo>
                  <a:close/>
                </a:path>
              </a:pathLst>
            </a:custGeom>
            <a:noFill/>
            <a:ln w="12700">
              <a:solidFill>
                <a:srgbClr val="507E3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25B47A8B-1295-81A4-38EB-6DE62E14AFB2}"/>
                </a:ext>
              </a:extLst>
            </p:cNvPr>
            <p:cNvSpPr txBox="1"/>
            <p:nvPr/>
          </p:nvSpPr>
          <p:spPr>
            <a:xfrm>
              <a:off x="7286625" y="4872038"/>
              <a:ext cx="819150" cy="254000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127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spc="-5" dirty="0">
                  <a:solidFill>
                    <a:srgbClr val="FFFFFF"/>
                  </a:solidFill>
                  <a:latin typeface="Calibri"/>
                  <a:cs typeface="Calibri"/>
                </a:rPr>
                <a:t>A</a:t>
              </a:r>
              <a:r>
                <a:rPr spc="-30" dirty="0">
                  <a:solidFill>
                    <a:srgbClr val="FFFFFF"/>
                  </a:solidFill>
                  <a:latin typeface="Calibri"/>
                  <a:cs typeface="Calibri"/>
                </a:rPr>
                <a:t>n</a:t>
              </a:r>
              <a:r>
                <a:rPr spc="-10" dirty="0">
                  <a:solidFill>
                    <a:srgbClr val="FFFFFF"/>
                  </a:solidFill>
                  <a:latin typeface="Calibri"/>
                  <a:cs typeface="Calibri"/>
                </a:rPr>
                <a:t>y</a:t>
              </a:r>
              <a:r>
                <a:rPr spc="-40" dirty="0">
                  <a:solidFill>
                    <a:srgbClr val="FFFFFF"/>
                  </a:solidFill>
                  <a:latin typeface="Times New Roman"/>
                  <a:cs typeface="Times New Roman"/>
                </a:rPr>
                <a:t> </a:t>
              </a:r>
              <a:r>
                <a:rPr spc="-55" dirty="0">
                  <a:solidFill>
                    <a:srgbClr val="FFFFFF"/>
                  </a:solidFill>
                  <a:latin typeface="Calibri"/>
                  <a:cs typeface="Calibri"/>
                </a:rPr>
                <a:t>P</a:t>
              </a:r>
              <a:r>
                <a:rPr dirty="0">
                  <a:solidFill>
                    <a:srgbClr val="FFFFFF"/>
                  </a:solidFill>
                  <a:latin typeface="Calibri"/>
                  <a:cs typeface="Calibri"/>
                </a:rPr>
                <a:t>o</a:t>
              </a:r>
              <a:r>
                <a:rPr spc="-15" dirty="0">
                  <a:solidFill>
                    <a:srgbClr val="FFFFFF"/>
                  </a:solidFill>
                  <a:latin typeface="Calibri"/>
                  <a:cs typeface="Calibri"/>
                </a:rPr>
                <a:t>r</a:t>
              </a:r>
              <a:r>
                <a:rPr spc="-10" dirty="0">
                  <a:solidFill>
                    <a:srgbClr val="FFFFFF"/>
                  </a:solidFill>
                  <a:latin typeface="Calibri"/>
                  <a:cs typeface="Calibri"/>
                </a:rPr>
                <a:t>t</a:t>
              </a:r>
              <a:endParaRPr>
                <a:latin typeface="Calibri"/>
                <a:cs typeface="Calibri"/>
              </a:endParaRPr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EF2D140E-579D-0D27-CD41-74FFD74125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1900" y="4311650"/>
              <a:ext cx="3790950" cy="1263650"/>
            </a:xfrm>
            <a:custGeom>
              <a:avLst/>
              <a:gdLst>
                <a:gd name="T0" fmla="*/ 0 w 3790315"/>
                <a:gd name="T1" fmla="*/ 1263609 h 1263650"/>
                <a:gd name="T2" fmla="*/ 3790126 w 3790315"/>
                <a:gd name="T3" fmla="*/ 1263609 h 1263650"/>
                <a:gd name="T4" fmla="*/ 3790126 w 3790315"/>
                <a:gd name="T5" fmla="*/ 0 h 1263650"/>
                <a:gd name="T6" fmla="*/ 0 w 3790315"/>
                <a:gd name="T7" fmla="*/ 0 h 1263650"/>
                <a:gd name="T8" fmla="*/ 0 w 3790315"/>
                <a:gd name="T9" fmla="*/ 1263609 h 1263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0315" h="1263650">
                  <a:moveTo>
                    <a:pt x="0" y="1263609"/>
                  </a:moveTo>
                  <a:lnTo>
                    <a:pt x="3790126" y="1263609"/>
                  </a:lnTo>
                  <a:lnTo>
                    <a:pt x="3790126" y="0"/>
                  </a:lnTo>
                  <a:lnTo>
                    <a:pt x="0" y="0"/>
                  </a:lnTo>
                  <a:lnTo>
                    <a:pt x="0" y="1263609"/>
                  </a:lnTo>
                  <a:close/>
                </a:path>
              </a:pathLst>
            </a:custGeom>
            <a:solidFill>
              <a:srgbClr val="F698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82447558-1BCD-6B52-6B2D-C6E0A527C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1900" y="4311650"/>
              <a:ext cx="3790950" cy="1263650"/>
            </a:xfrm>
            <a:custGeom>
              <a:avLst/>
              <a:gdLst>
                <a:gd name="T0" fmla="*/ 0 w 3790315"/>
                <a:gd name="T1" fmla="*/ 1263609 h 1263650"/>
                <a:gd name="T2" fmla="*/ 3790126 w 3790315"/>
                <a:gd name="T3" fmla="*/ 1263609 h 1263650"/>
                <a:gd name="T4" fmla="*/ 3790126 w 3790315"/>
                <a:gd name="T5" fmla="*/ 0 h 1263650"/>
                <a:gd name="T6" fmla="*/ 0 w 3790315"/>
                <a:gd name="T7" fmla="*/ 0 h 1263650"/>
                <a:gd name="T8" fmla="*/ 0 w 3790315"/>
                <a:gd name="T9" fmla="*/ 1263609 h 1263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0315" h="1263650">
                  <a:moveTo>
                    <a:pt x="0" y="1263609"/>
                  </a:moveTo>
                  <a:lnTo>
                    <a:pt x="3790126" y="1263609"/>
                  </a:lnTo>
                  <a:lnTo>
                    <a:pt x="3790126" y="0"/>
                  </a:lnTo>
                  <a:lnTo>
                    <a:pt x="0" y="0"/>
                  </a:lnTo>
                  <a:lnTo>
                    <a:pt x="0" y="1263609"/>
                  </a:lnTo>
                  <a:close/>
                </a:path>
              </a:pathLst>
            </a:custGeom>
            <a:noFill/>
            <a:ln w="12700">
              <a:solidFill>
                <a:srgbClr val="B56E0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2D07DDA5-AAA6-638F-A427-D7C8608C912B}"/>
                </a:ext>
              </a:extLst>
            </p:cNvPr>
            <p:cNvSpPr txBox="1"/>
            <p:nvPr/>
          </p:nvSpPr>
          <p:spPr>
            <a:xfrm>
              <a:off x="3232150" y="4557713"/>
              <a:ext cx="2332038" cy="800100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>
              <a:lvl1pPr marL="388938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ts val="2088"/>
                </a:lnSpc>
              </a:pPr>
              <a:r>
                <a:rPr lang="en-US" altLang="en-US" dirty="0">
                  <a:solidFill>
                    <a:srgbClr val="FFFFFF"/>
                  </a:solidFill>
                  <a:cs typeface="Calibri" panose="020F0502020204030204" pitchFamily="34" charset="0"/>
                </a:rPr>
                <a:t>Security</a:t>
              </a:r>
              <a:r>
                <a:rPr lang="en-US" altLang="en-US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dirty="0">
                  <a:solidFill>
                    <a:srgbClr val="FFFFFF"/>
                  </a:solidFill>
                  <a:cs typeface="Calibri" panose="020F0502020204030204" pitchFamily="34" charset="0"/>
                </a:rPr>
                <a:t>Group</a:t>
              </a:r>
              <a:r>
                <a:rPr lang="en-US" altLang="en-US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dirty="0">
                  <a:solidFill>
                    <a:srgbClr val="FFFFFF"/>
                  </a:solidFill>
                  <a:cs typeface="Calibri" panose="020F0502020204030204" pitchFamily="34" charset="0"/>
                </a:rPr>
                <a:t>1</a:t>
              </a:r>
              <a:r>
                <a:rPr lang="en-US" altLang="en-US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dirty="0">
                  <a:solidFill>
                    <a:srgbClr val="FFFFFF"/>
                  </a:solidFill>
                  <a:cs typeface="Calibri" panose="020F0502020204030204" pitchFamily="34" charset="0"/>
                </a:rPr>
                <a:t>Outbound</a:t>
              </a:r>
              <a:endParaRPr lang="en-US" altLang="en-US" dirty="0">
                <a:cs typeface="Calibri" panose="020F0502020204030204" pitchFamily="34" charset="0"/>
              </a:endParaRPr>
            </a:p>
            <a:p>
              <a:pPr algn="ctr">
                <a:lnSpc>
                  <a:spcPts val="2150"/>
                </a:lnSpc>
              </a:pPr>
              <a:r>
                <a:rPr lang="en-US" altLang="en-US" dirty="0">
                  <a:solidFill>
                    <a:srgbClr val="FFFFFF"/>
                  </a:solidFill>
                  <a:cs typeface="Calibri" panose="020F0502020204030204" pitchFamily="34" charset="0"/>
                </a:rPr>
                <a:t>Filter</a:t>
              </a:r>
              <a:r>
                <a:rPr lang="en-US" altLang="en-US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dirty="0">
                  <a:solidFill>
                    <a:srgbClr val="FFFFFF"/>
                  </a:solidFill>
                  <a:cs typeface="Calibri" panose="020F0502020204030204" pitchFamily="34" charset="0"/>
                </a:rPr>
                <a:t>IP</a:t>
              </a:r>
              <a:r>
                <a:rPr lang="en-US" altLang="en-US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dirty="0">
                  <a:solidFill>
                    <a:srgbClr val="FFFFFF"/>
                  </a:solidFill>
                  <a:cs typeface="Calibri" panose="020F0502020204030204" pitchFamily="34" charset="0"/>
                </a:rPr>
                <a:t>/</a:t>
              </a:r>
              <a:r>
                <a:rPr lang="en-US" altLang="en-US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dirty="0">
                  <a:solidFill>
                    <a:srgbClr val="FFFFFF"/>
                  </a:solidFill>
                  <a:cs typeface="Calibri" panose="020F0502020204030204" pitchFamily="34" charset="0"/>
                </a:rPr>
                <a:t>Port</a:t>
              </a:r>
              <a:r>
                <a:rPr lang="en-US" altLang="en-US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dirty="0">
                  <a:solidFill>
                    <a:srgbClr val="FFFFFF"/>
                  </a:solidFill>
                  <a:cs typeface="Calibri" panose="020F0502020204030204" pitchFamily="34" charset="0"/>
                </a:rPr>
                <a:t>with</a:t>
              </a:r>
              <a:r>
                <a:rPr lang="en-US" altLang="en-US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dirty="0">
                  <a:solidFill>
                    <a:srgbClr val="FFFFFF"/>
                  </a:solidFill>
                  <a:cs typeface="Calibri" panose="020F0502020204030204" pitchFamily="34" charset="0"/>
                </a:rPr>
                <a:t>Rules</a:t>
              </a:r>
              <a:endParaRPr lang="en-US" altLang="en-US" dirty="0">
                <a:cs typeface="Calibri" panose="020F0502020204030204" pitchFamily="34" charset="0"/>
              </a:endParaRPr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C132EDCB-A235-58CE-F5B1-B77095D043DB}"/>
                </a:ext>
              </a:extLst>
            </p:cNvPr>
            <p:cNvSpPr txBox="1"/>
            <p:nvPr/>
          </p:nvSpPr>
          <p:spPr>
            <a:xfrm>
              <a:off x="8270875" y="1895475"/>
              <a:ext cx="3521075" cy="615950"/>
            </a:xfrm>
            <a:prstGeom prst="rect">
              <a:avLst/>
            </a:prstGeom>
            <a:solidFill>
              <a:srgbClr val="A5A5A5"/>
            </a:solidFill>
            <a:ln w="12700">
              <a:solidFill>
                <a:srgbClr val="787878"/>
              </a:solidFill>
            </a:ln>
          </p:spPr>
          <p:txBody>
            <a:bodyPr lIns="0" tIns="0" rIns="0" bIns="0">
              <a:spAutoFit/>
            </a:bodyPr>
            <a:lstStyle>
              <a:lvl1pPr marL="814388" indent="-525463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ts val="2088"/>
                </a:lnSpc>
              </a:pPr>
              <a:r>
                <a:rPr lang="en-US" altLang="en-US">
                  <a:solidFill>
                    <a:srgbClr val="FFFFFF"/>
                  </a:solidFill>
                  <a:cs typeface="Calibri" panose="020F0502020204030204" pitchFamily="34" charset="0"/>
                </a:rPr>
                <a:t>Your</a:t>
              </a:r>
              <a:r>
                <a:rPr lang="en-US" altLang="en-US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>
                  <a:solidFill>
                    <a:srgbClr val="FFFFFF"/>
                  </a:solidFill>
                  <a:cs typeface="Calibri" panose="020F0502020204030204" pitchFamily="34" charset="0"/>
                </a:rPr>
                <a:t>Computer</a:t>
              </a:r>
              <a:r>
                <a:rPr lang="en-US" altLang="en-US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>
                  <a:solidFill>
                    <a:srgbClr val="FFFFFF"/>
                  </a:solidFill>
                  <a:cs typeface="Calibri" panose="020F0502020204030204" pitchFamily="34" charset="0"/>
                </a:rPr>
                <a:t>-</a:t>
              </a:r>
              <a:r>
                <a:rPr lang="en-US" altLang="en-US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>
                  <a:solidFill>
                    <a:srgbClr val="FFFFFF"/>
                  </a:solidFill>
                  <a:cs typeface="Calibri" panose="020F0502020204030204" pitchFamily="34" charset="0"/>
                </a:rPr>
                <a:t>IP</a:t>
              </a:r>
              <a:r>
                <a:rPr lang="en-US" altLang="en-US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>
                  <a:solidFill>
                    <a:srgbClr val="FFFFFF"/>
                  </a:solidFill>
                  <a:cs typeface="Calibri" panose="020F0502020204030204" pitchFamily="34" charset="0"/>
                </a:rPr>
                <a:t>XX.XX.XX.XX</a:t>
              </a:r>
              <a:r>
                <a:rPr lang="en-US" altLang="en-US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>
                  <a:solidFill>
                    <a:srgbClr val="FFFFFF"/>
                  </a:solidFill>
                  <a:cs typeface="Calibri" panose="020F0502020204030204" pitchFamily="34" charset="0"/>
                </a:rPr>
                <a:t>(authorised</a:t>
              </a:r>
              <a:r>
                <a:rPr lang="en-US" altLang="en-US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>
                  <a:solidFill>
                    <a:srgbClr val="FFFFFF"/>
                  </a:solidFill>
                  <a:cs typeface="Calibri" panose="020F0502020204030204" pitchFamily="34" charset="0"/>
                </a:rPr>
                <a:t>port</a:t>
              </a:r>
              <a:r>
                <a:rPr lang="en-US" altLang="en-US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>
                  <a:solidFill>
                    <a:srgbClr val="FFFFFF"/>
                  </a:solidFill>
                  <a:cs typeface="Calibri" panose="020F0502020204030204" pitchFamily="34" charset="0"/>
                </a:rPr>
                <a:t>22)</a:t>
              </a:r>
              <a:endParaRPr lang="en-US" altLang="en-US">
                <a:cs typeface="Calibri" panose="020F0502020204030204" pitchFamily="34" charset="0"/>
              </a:endParaRPr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29AC6891-E3CD-013B-7F6B-40715AFE74C1}"/>
                </a:ext>
              </a:extLst>
            </p:cNvPr>
            <p:cNvSpPr txBox="1"/>
            <p:nvPr/>
          </p:nvSpPr>
          <p:spPr>
            <a:xfrm>
              <a:off x="8270875" y="2616200"/>
              <a:ext cx="3521075" cy="652463"/>
            </a:xfrm>
            <a:prstGeom prst="rect">
              <a:avLst/>
            </a:prstGeom>
            <a:solidFill>
              <a:srgbClr val="A5A5A5"/>
            </a:solidFill>
            <a:ln w="12700">
              <a:solidFill>
                <a:srgbClr val="787878"/>
              </a:solidFill>
            </a:ln>
          </p:spPr>
          <p:txBody>
            <a:bodyPr lIns="0" tIns="0" rIns="0" bIns="0">
              <a:spAutoFit/>
            </a:bodyPr>
            <a:lstStyle>
              <a:lvl1pPr marL="628650" indent="371475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ts val="2113"/>
                </a:lnSpc>
              </a:pPr>
              <a:r>
                <a:rPr lang="en-US" altLang="en-US">
                  <a:solidFill>
                    <a:srgbClr val="FFFFFF"/>
                  </a:solidFill>
                  <a:cs typeface="Calibri" panose="020F0502020204030204" pitchFamily="34" charset="0"/>
                </a:rPr>
                <a:t>Other</a:t>
              </a:r>
              <a:r>
                <a:rPr lang="en-US" altLang="en-US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>
                  <a:solidFill>
                    <a:srgbClr val="FFFFFF"/>
                  </a:solidFill>
                  <a:cs typeface="Calibri" panose="020F0502020204030204" pitchFamily="34" charset="0"/>
                </a:rPr>
                <a:t>computer</a:t>
              </a:r>
              <a:r>
                <a:rPr lang="en-US" altLang="en-US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>
                  <a:solidFill>
                    <a:srgbClr val="FFFFFF"/>
                  </a:solidFill>
                  <a:cs typeface="Calibri" panose="020F0502020204030204" pitchFamily="34" charset="0"/>
                </a:rPr>
                <a:t>(not</a:t>
              </a:r>
              <a:r>
                <a:rPr lang="en-US" altLang="en-US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>
                  <a:solidFill>
                    <a:srgbClr val="FFFFFF"/>
                  </a:solidFill>
                  <a:cs typeface="Calibri" panose="020F0502020204030204" pitchFamily="34" charset="0"/>
                </a:rPr>
                <a:t>authorised</a:t>
              </a:r>
              <a:r>
                <a:rPr lang="en-US" altLang="en-US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>
                  <a:solidFill>
                    <a:srgbClr val="FFFFFF"/>
                  </a:solidFill>
                  <a:cs typeface="Calibri" panose="020F0502020204030204" pitchFamily="34" charset="0"/>
                </a:rPr>
                <a:t>port</a:t>
              </a:r>
              <a:r>
                <a:rPr lang="en-US" altLang="en-US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>
                  <a:solidFill>
                    <a:srgbClr val="FFFFFF"/>
                  </a:solidFill>
                  <a:cs typeface="Calibri" panose="020F0502020204030204" pitchFamily="34" charset="0"/>
                </a:rPr>
                <a:t>22)</a:t>
              </a:r>
              <a:endParaRPr lang="en-US" altLang="en-US">
                <a:cs typeface="Calibri" panose="020F0502020204030204" pitchFamily="34" charset="0"/>
              </a:endParaRPr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9CB08725-FF0F-35B4-5B3B-CBEF462EBB78}"/>
                </a:ext>
              </a:extLst>
            </p:cNvPr>
            <p:cNvSpPr txBox="1"/>
            <p:nvPr/>
          </p:nvSpPr>
          <p:spPr>
            <a:xfrm>
              <a:off x="8324850" y="4541838"/>
              <a:ext cx="1863725" cy="746125"/>
            </a:xfrm>
            <a:prstGeom prst="rect">
              <a:avLst/>
            </a:prstGeom>
            <a:solidFill>
              <a:srgbClr val="A5A5A5"/>
            </a:solidFill>
            <a:ln w="12700">
              <a:solidFill>
                <a:srgbClr val="787878"/>
              </a:solidFill>
            </a:ln>
          </p:spPr>
          <p:txBody>
            <a:bodyPr lIns="0" tIns="0" rIns="0" bIns="0">
              <a:spAutoFit/>
            </a:bodyPr>
            <a:lstStyle/>
            <a:p>
              <a:pPr algn="ctr" fontAlgn="auto">
                <a:lnSpc>
                  <a:spcPts val="213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spc="-25" dirty="0">
                  <a:solidFill>
                    <a:srgbClr val="FFFFFF"/>
                  </a:solidFill>
                  <a:latin typeface="Calibri"/>
                  <a:cs typeface="Calibri"/>
                </a:rPr>
                <a:t>WWW</a:t>
              </a:r>
              <a:endParaRPr>
                <a:latin typeface="Calibri"/>
                <a:cs typeface="Calibri"/>
              </a:endParaRPr>
            </a:p>
            <a:p>
              <a:pPr algn="ctr" fontAlgn="auto">
                <a:lnSpc>
                  <a:spcPts val="213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spc="-5" dirty="0">
                  <a:solidFill>
                    <a:srgbClr val="FFFFFF"/>
                  </a:solidFill>
                  <a:latin typeface="Calibri"/>
                  <a:cs typeface="Calibri"/>
                </a:rPr>
                <a:t>A</a:t>
              </a:r>
              <a:r>
                <a:rPr spc="-30" dirty="0">
                  <a:solidFill>
                    <a:srgbClr val="FFFFFF"/>
                  </a:solidFill>
                  <a:latin typeface="Calibri"/>
                  <a:cs typeface="Calibri"/>
                </a:rPr>
                <a:t>n</a:t>
              </a:r>
              <a:r>
                <a:rPr spc="-10" dirty="0">
                  <a:solidFill>
                    <a:srgbClr val="FFFFFF"/>
                  </a:solidFill>
                  <a:latin typeface="Calibri"/>
                  <a:cs typeface="Calibri"/>
                </a:rPr>
                <a:t>y</a:t>
              </a:r>
              <a:r>
                <a:rPr spc="-40" dirty="0">
                  <a:solidFill>
                    <a:srgbClr val="FFFFFF"/>
                  </a:solidFill>
                  <a:latin typeface="Times New Roman"/>
                  <a:cs typeface="Times New Roman"/>
                </a:rPr>
                <a:t> </a:t>
              </a:r>
              <a:r>
                <a:rPr spc="-10" dirty="0">
                  <a:solidFill>
                    <a:srgbClr val="FFFFFF"/>
                  </a:solidFill>
                  <a:latin typeface="Calibri"/>
                  <a:cs typeface="Calibri"/>
                </a:rPr>
                <a:t>IP</a:t>
              </a:r>
              <a:r>
                <a:rPr spc="-45" dirty="0">
                  <a:solidFill>
                    <a:srgbClr val="FFFFFF"/>
                  </a:solidFill>
                  <a:latin typeface="Times New Roman"/>
                  <a:cs typeface="Times New Roman"/>
                </a:rPr>
                <a:t> </a:t>
              </a:r>
              <a:r>
                <a:rPr dirty="0">
                  <a:solidFill>
                    <a:srgbClr val="FFFFFF"/>
                  </a:solidFill>
                  <a:latin typeface="Calibri"/>
                  <a:cs typeface="Calibri"/>
                </a:rPr>
                <a:t>–</a:t>
              </a:r>
              <a:r>
                <a:rPr spc="-35" dirty="0">
                  <a:solidFill>
                    <a:srgbClr val="FFFFFF"/>
                  </a:solidFill>
                  <a:latin typeface="Times New Roman"/>
                  <a:cs typeface="Times New Roman"/>
                </a:rPr>
                <a:t> </a:t>
              </a:r>
              <a:r>
                <a:rPr spc="-5" dirty="0">
                  <a:solidFill>
                    <a:srgbClr val="FFFFFF"/>
                  </a:solidFill>
                  <a:latin typeface="Calibri"/>
                  <a:cs typeface="Calibri"/>
                </a:rPr>
                <a:t>A</a:t>
              </a:r>
              <a:r>
                <a:rPr spc="-30" dirty="0">
                  <a:solidFill>
                    <a:srgbClr val="FFFFFF"/>
                  </a:solidFill>
                  <a:latin typeface="Calibri"/>
                  <a:cs typeface="Calibri"/>
                </a:rPr>
                <a:t>n</a:t>
              </a:r>
              <a:r>
                <a:rPr spc="-10" dirty="0">
                  <a:solidFill>
                    <a:srgbClr val="FFFFFF"/>
                  </a:solidFill>
                  <a:latin typeface="Calibri"/>
                  <a:cs typeface="Calibri"/>
                </a:rPr>
                <a:t>y</a:t>
              </a:r>
              <a:r>
                <a:rPr spc="-40" dirty="0">
                  <a:solidFill>
                    <a:srgbClr val="FFFFFF"/>
                  </a:solidFill>
                  <a:latin typeface="Times New Roman"/>
                  <a:cs typeface="Times New Roman"/>
                </a:rPr>
                <a:t> </a:t>
              </a:r>
              <a:r>
                <a:rPr spc="-55" dirty="0">
                  <a:solidFill>
                    <a:srgbClr val="FFFFFF"/>
                  </a:solidFill>
                  <a:latin typeface="Calibri"/>
                  <a:cs typeface="Calibri"/>
                </a:rPr>
                <a:t>P</a:t>
              </a:r>
              <a:r>
                <a:rPr dirty="0">
                  <a:solidFill>
                    <a:srgbClr val="FFFFFF"/>
                  </a:solidFill>
                  <a:latin typeface="Calibri"/>
                  <a:cs typeface="Calibri"/>
                </a:rPr>
                <a:t>o</a:t>
              </a:r>
              <a:r>
                <a:rPr spc="-15" dirty="0">
                  <a:solidFill>
                    <a:srgbClr val="FFFFFF"/>
                  </a:solidFill>
                  <a:latin typeface="Calibri"/>
                  <a:cs typeface="Calibri"/>
                </a:rPr>
                <a:t>r</a:t>
              </a:r>
              <a:r>
                <a:rPr spc="-10" dirty="0">
                  <a:solidFill>
                    <a:srgbClr val="FFFFFF"/>
                  </a:solidFill>
                  <a:latin typeface="Calibri"/>
                  <a:cs typeface="Calibri"/>
                </a:rPr>
                <a:t>t</a:t>
              </a:r>
              <a:endParaRPr>
                <a:latin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542549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72821-5912-A13E-AFAE-2BCEE74D5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Groups Good to know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AB607-EED5-C036-F740-BC9E20D1D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be attached to multiple instances</a:t>
            </a:r>
          </a:p>
          <a:p>
            <a:r>
              <a:rPr lang="en-US" dirty="0"/>
              <a:t>Locked down to a region / VPC combination</a:t>
            </a:r>
          </a:p>
          <a:p>
            <a:r>
              <a:rPr lang="en-US" dirty="0"/>
              <a:t>Does live “outside” the EC2 – if traffic is blocked the EC2 instance won’t see it</a:t>
            </a:r>
          </a:p>
          <a:p>
            <a:r>
              <a:rPr lang="en-US" dirty="0"/>
              <a:t>It’s good to maintain one separate security group for SSH access</a:t>
            </a:r>
          </a:p>
          <a:p>
            <a:r>
              <a:rPr lang="en-US" dirty="0"/>
              <a:t>If your application is not accessible (time out), then it’s a security group issue</a:t>
            </a:r>
          </a:p>
          <a:p>
            <a:r>
              <a:rPr lang="en-US" dirty="0"/>
              <a:t>If your application gives a “connection refused“ error, then it’s an application error or it’s not launched</a:t>
            </a:r>
          </a:p>
          <a:p>
            <a:r>
              <a:rPr lang="en-US" dirty="0"/>
              <a:t>All inbound traffic is blocked by default</a:t>
            </a:r>
          </a:p>
          <a:p>
            <a:r>
              <a:rPr lang="en-US" dirty="0"/>
              <a:t>All outbound traffic is </a:t>
            </a:r>
            <a:r>
              <a:rPr lang="en-US" dirty="0" err="1"/>
              <a:t>authorised</a:t>
            </a:r>
            <a:r>
              <a:rPr lang="en-US" dirty="0"/>
              <a:t> by default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81493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2539F-C222-0611-5841-0C46772A4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Referencing other security groups Diagram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4200312-FB35-0B9C-0F3A-CEF5461690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2035" y="1825625"/>
            <a:ext cx="1040792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9588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3E647-758B-A5C4-DD10-8C05B2BEE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Classic Ports to know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04462-24EB-8005-7219-4996FDC069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22 = SSH (Secure Shell) - log into a Linux instance</a:t>
            </a:r>
          </a:p>
          <a:p>
            <a:r>
              <a:rPr lang="en-US" dirty="0"/>
              <a:t>21 = FTP (File Transfer Protocol) – upload files into a file share</a:t>
            </a:r>
          </a:p>
          <a:p>
            <a:r>
              <a:rPr lang="en-US" dirty="0"/>
              <a:t>22 = SFTP (Secure File Transfer Protocol) – upload files using SSH</a:t>
            </a:r>
          </a:p>
          <a:p>
            <a:r>
              <a:rPr lang="en-US" dirty="0"/>
              <a:t>80 = HTTP – access unsecured websites</a:t>
            </a:r>
          </a:p>
          <a:p>
            <a:r>
              <a:rPr lang="en-US" dirty="0"/>
              <a:t>443 = HTTPS – access secured websites</a:t>
            </a:r>
          </a:p>
          <a:p>
            <a:r>
              <a:rPr lang="en-US" dirty="0"/>
              <a:t>3389 = RDP (Remote Desktop Protocol) – log into a Windows instance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81912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7AD8B9-FDC5-E1D9-EF30-001790C4DF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3503" y="3291840"/>
            <a:ext cx="7402161" cy="1359346"/>
          </a:xfrm>
        </p:spPr>
        <p:txBody>
          <a:bodyPr/>
          <a:lstStyle/>
          <a:p>
            <a:r>
              <a:rPr lang="en-US" sz="4000" dirty="0"/>
              <a:t>High Availability &amp; Scalability</a:t>
            </a: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0015702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3BEC1-8989-24F2-6FD1-C3450E0FB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0" dirty="0"/>
              <a:t>S</a:t>
            </a:r>
            <a:r>
              <a:rPr lang="en-US" spc="-40" dirty="0"/>
              <a:t>c</a:t>
            </a:r>
            <a:r>
              <a:rPr lang="en-US" spc="-25" dirty="0"/>
              <a:t>a</a:t>
            </a:r>
            <a:r>
              <a:rPr lang="en-US" spc="-80" dirty="0"/>
              <a:t>la</a:t>
            </a:r>
            <a:r>
              <a:rPr lang="en-US" spc="15" dirty="0"/>
              <a:t>b</a:t>
            </a:r>
            <a:r>
              <a:rPr lang="en-US" spc="-150" dirty="0"/>
              <a:t>ilit</a:t>
            </a:r>
            <a:r>
              <a:rPr lang="en-US" spc="-100" dirty="0"/>
              <a:t>y</a:t>
            </a:r>
            <a:r>
              <a:rPr lang="en-US" spc="130" dirty="0">
                <a:latin typeface="Times New Roman"/>
                <a:cs typeface="Times New Roman"/>
              </a:rPr>
              <a:t> </a:t>
            </a:r>
            <a:r>
              <a:rPr lang="en-US" spc="-55" dirty="0"/>
              <a:t>&amp;</a:t>
            </a:r>
            <a:r>
              <a:rPr lang="en-US" spc="130" dirty="0">
                <a:latin typeface="Times New Roman"/>
                <a:cs typeface="Times New Roman"/>
              </a:rPr>
              <a:t> </a:t>
            </a:r>
            <a:r>
              <a:rPr lang="en-US" spc="-70" dirty="0"/>
              <a:t>Hig</a:t>
            </a:r>
            <a:r>
              <a:rPr lang="en-US" spc="-45" dirty="0"/>
              <a:t>h</a:t>
            </a:r>
            <a:r>
              <a:rPr lang="en-US" spc="-135" dirty="0">
                <a:latin typeface="Times New Roman"/>
                <a:cs typeface="Times New Roman"/>
              </a:rPr>
              <a:t> </a:t>
            </a:r>
            <a:r>
              <a:rPr lang="en-US" spc="-160" dirty="0"/>
              <a:t>A</a:t>
            </a:r>
            <a:r>
              <a:rPr lang="en-US" spc="-65" dirty="0"/>
              <a:t>v</a:t>
            </a:r>
            <a:r>
              <a:rPr lang="en-US" spc="-25" dirty="0"/>
              <a:t>a</a:t>
            </a:r>
            <a:r>
              <a:rPr lang="en-US" spc="-110" dirty="0"/>
              <a:t>ila</a:t>
            </a:r>
            <a:r>
              <a:rPr lang="en-US" spc="15" dirty="0"/>
              <a:t>b</a:t>
            </a:r>
            <a:r>
              <a:rPr lang="en-US" spc="-150" dirty="0"/>
              <a:t>ilit</a:t>
            </a:r>
            <a:r>
              <a:rPr lang="en-US" spc="-100" dirty="0"/>
              <a:t>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4C201-5D3D-6E69-E0BB-8C6773F4A9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Scalability means that an application / system can handle greater loads by adapting.</a:t>
            </a:r>
          </a:p>
          <a:p>
            <a:r>
              <a:rPr lang="en-US" dirty="0"/>
              <a:t>There are two kinds of scalability:</a:t>
            </a:r>
          </a:p>
          <a:p>
            <a:r>
              <a:rPr lang="en-US" dirty="0"/>
              <a:t>Vertical Scalability</a:t>
            </a:r>
          </a:p>
          <a:p>
            <a:r>
              <a:rPr lang="en-US" dirty="0"/>
              <a:t>Horizontal Scalability (= elasticity)</a:t>
            </a:r>
          </a:p>
          <a:p>
            <a:r>
              <a:rPr lang="en-US" dirty="0"/>
              <a:t>Scalability is linked but different to High Availability</a:t>
            </a:r>
          </a:p>
          <a:p>
            <a:endParaRPr lang="en-US" dirty="0"/>
          </a:p>
          <a:p>
            <a:r>
              <a:rPr lang="en-US" dirty="0"/>
              <a:t>Let’s deep dive into the distinction, using a call center as an example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8170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31E3E-D03D-6DC7-B0F8-1C66E3A0B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340" dirty="0"/>
              <a:t>V</a:t>
            </a:r>
            <a:r>
              <a:rPr lang="en-US" spc="-25" dirty="0"/>
              <a:t>e</a:t>
            </a:r>
            <a:r>
              <a:rPr lang="en-US" spc="70" dirty="0"/>
              <a:t>r</a:t>
            </a:r>
            <a:r>
              <a:rPr lang="en-US" spc="-155" dirty="0"/>
              <a:t>t</a:t>
            </a:r>
            <a:r>
              <a:rPr lang="en-US" spc="-145" dirty="0"/>
              <a:t>i</a:t>
            </a:r>
            <a:r>
              <a:rPr lang="en-US" spc="-100" dirty="0"/>
              <a:t>c</a:t>
            </a:r>
            <a:r>
              <a:rPr lang="en-US" spc="-25" dirty="0"/>
              <a:t>a</a:t>
            </a:r>
            <a:r>
              <a:rPr lang="en-US" spc="-145" dirty="0"/>
              <a:t>l</a:t>
            </a:r>
            <a:r>
              <a:rPr lang="en-US" spc="120" dirty="0">
                <a:latin typeface="Times New Roman"/>
                <a:cs typeface="Times New Roman"/>
              </a:rPr>
              <a:t> </a:t>
            </a:r>
            <a:r>
              <a:rPr lang="en-US" spc="35" dirty="0"/>
              <a:t>S</a:t>
            </a:r>
            <a:r>
              <a:rPr lang="en-US" spc="-100" dirty="0"/>
              <a:t>c</a:t>
            </a:r>
            <a:r>
              <a:rPr lang="en-US" spc="-25" dirty="0"/>
              <a:t>a</a:t>
            </a:r>
            <a:r>
              <a:rPr lang="en-US" spc="-145" dirty="0"/>
              <a:t>l</a:t>
            </a:r>
            <a:r>
              <a:rPr lang="en-US" spc="-25" dirty="0"/>
              <a:t>a</a:t>
            </a:r>
            <a:r>
              <a:rPr lang="en-US" spc="15" dirty="0"/>
              <a:t>b</a:t>
            </a:r>
            <a:r>
              <a:rPr lang="en-US" spc="-145" dirty="0"/>
              <a:t>ili</a:t>
            </a:r>
            <a:r>
              <a:rPr lang="en-US" spc="-155" dirty="0"/>
              <a:t>t</a:t>
            </a:r>
            <a:r>
              <a:rPr lang="en-US" spc="-100" dirty="0"/>
              <a:t>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A6D0E-2174-AEB3-9D8B-72566517275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Vertically scalability means increasing the size of the instance</a:t>
            </a:r>
          </a:p>
          <a:p>
            <a:r>
              <a:rPr lang="en-US" dirty="0"/>
              <a:t>For example, your application runs on a t2.micro</a:t>
            </a:r>
          </a:p>
          <a:p>
            <a:r>
              <a:rPr lang="en-US" dirty="0"/>
              <a:t>Scaling that application vertically means running it on a t2.large</a:t>
            </a:r>
          </a:p>
          <a:p>
            <a:r>
              <a:rPr lang="en-US" dirty="0"/>
              <a:t>Vertical scalability is very common for non distributed systems, such as a database.</a:t>
            </a:r>
          </a:p>
          <a:p>
            <a:r>
              <a:rPr lang="en-US" dirty="0"/>
              <a:t>RDS, </a:t>
            </a:r>
            <a:r>
              <a:rPr lang="en-US" dirty="0" err="1"/>
              <a:t>ElastiCache</a:t>
            </a:r>
            <a:r>
              <a:rPr lang="en-US" dirty="0"/>
              <a:t> are services that can scale vertically.</a:t>
            </a:r>
          </a:p>
          <a:p>
            <a:r>
              <a:rPr lang="en-US" dirty="0"/>
              <a:t>There’s usually a limit to how much you can vertically scale (hardware limit)</a:t>
            </a:r>
          </a:p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E5FA14-27D5-B70F-4301-66855799349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10529" y="1825625"/>
            <a:ext cx="410494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8222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E7991-42C8-4AA4-AA5F-18A7D61AF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Horizontal Scalability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60476-0E3A-DCE1-B48A-761514913A7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Horizontal Scalability means increasing the number of instances / systems for your application</a:t>
            </a:r>
          </a:p>
          <a:p>
            <a:endParaRPr lang="en-US" dirty="0"/>
          </a:p>
          <a:p>
            <a:r>
              <a:rPr lang="en-US" dirty="0"/>
              <a:t>Horizontal scaling implies distributed systems.</a:t>
            </a:r>
          </a:p>
          <a:p>
            <a:r>
              <a:rPr lang="en-US" dirty="0"/>
              <a:t>This is very common for web applications / modern applications</a:t>
            </a:r>
          </a:p>
          <a:p>
            <a:endParaRPr lang="en-US" dirty="0"/>
          </a:p>
          <a:p>
            <a:r>
              <a:rPr lang="en-US" dirty="0"/>
              <a:t>It’s easy to horizontally scale thanks the cloud offerings such as Amazon EC2</a:t>
            </a:r>
          </a:p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B9894F6-A91B-6B34-C946-E45E285990ED}"/>
              </a:ext>
            </a:extLst>
          </p:cNvPr>
          <p:cNvGrpSpPr/>
          <p:nvPr/>
        </p:nvGrpSpPr>
        <p:grpSpPr>
          <a:xfrm>
            <a:off x="7047771" y="1584477"/>
            <a:ext cx="3781425" cy="4194214"/>
            <a:chOff x="7842250" y="738188"/>
            <a:chExt cx="3781425" cy="5384800"/>
          </a:xfrm>
        </p:grpSpPr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15D9F81B-2E59-B791-F1A3-7089CCC2EA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66113" y="3416300"/>
              <a:ext cx="2238375" cy="2381250"/>
            </a:xfrm>
            <a:prstGeom prst="rect">
              <a:avLst/>
            </a:prstGeom>
            <a:blipFill dpi="0" rotWithShape="1">
              <a:blip r:embed="rId2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9" name="object 8">
              <a:extLst>
                <a:ext uri="{FF2B5EF4-FFF2-40B4-BE49-F238E27FC236}">
                  <a16:creationId xmlns:a16="http://schemas.microsoft.com/office/drawing/2014/main" id="{F771075A-0A55-0E1A-04C0-1F1751FB62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85300" y="3416300"/>
              <a:ext cx="2238375" cy="2381250"/>
            </a:xfrm>
            <a:prstGeom prst="rect">
              <a:avLst/>
            </a:prstGeom>
            <a:blipFill dpi="0" rotWithShape="1">
              <a:blip r:embed="rId2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B99E0439-7964-D397-FF72-25EEA72496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66113" y="1036638"/>
              <a:ext cx="2238375" cy="2379662"/>
            </a:xfrm>
            <a:prstGeom prst="rect">
              <a:avLst/>
            </a:prstGeom>
            <a:blipFill dpi="0" rotWithShape="1">
              <a:blip r:embed="rId2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29628EE8-0C3D-1486-478E-278C542B85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85300" y="1036638"/>
              <a:ext cx="2238375" cy="2379662"/>
            </a:xfrm>
            <a:prstGeom prst="rect">
              <a:avLst/>
            </a:prstGeom>
            <a:blipFill dpi="0" rotWithShape="1">
              <a:blip r:embed="rId2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707EE6AE-1247-ED8A-9F09-FDC77DD10F66}"/>
                </a:ext>
              </a:extLst>
            </p:cNvPr>
            <p:cNvSpPr txBox="1"/>
            <p:nvPr/>
          </p:nvSpPr>
          <p:spPr>
            <a:xfrm>
              <a:off x="7842250" y="5868988"/>
              <a:ext cx="838200" cy="254000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127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dirty="0">
                  <a:solidFill>
                    <a:srgbClr val="444949"/>
                  </a:solidFill>
                  <a:latin typeface="Calibri"/>
                  <a:cs typeface="Calibri"/>
                </a:rPr>
                <a:t>op</a:t>
              </a:r>
              <a:r>
                <a:rPr spc="-10" dirty="0">
                  <a:solidFill>
                    <a:srgbClr val="444949"/>
                  </a:solidFill>
                  <a:latin typeface="Calibri"/>
                  <a:cs typeface="Calibri"/>
                </a:rPr>
                <a:t>e</a:t>
              </a:r>
              <a:r>
                <a:rPr spc="-50" dirty="0">
                  <a:solidFill>
                    <a:srgbClr val="444949"/>
                  </a:solidFill>
                  <a:latin typeface="Calibri"/>
                  <a:cs typeface="Calibri"/>
                </a:rPr>
                <a:t>r</a:t>
              </a:r>
              <a:r>
                <a:rPr spc="-20" dirty="0">
                  <a:solidFill>
                    <a:srgbClr val="444949"/>
                  </a:solidFill>
                  <a:latin typeface="Calibri"/>
                  <a:cs typeface="Calibri"/>
                </a:rPr>
                <a:t>a</a:t>
              </a:r>
              <a:r>
                <a:rPr spc="-30" dirty="0">
                  <a:solidFill>
                    <a:srgbClr val="444949"/>
                  </a:solidFill>
                  <a:latin typeface="Calibri"/>
                  <a:cs typeface="Calibri"/>
                </a:rPr>
                <a:t>t</a:t>
              </a:r>
              <a:r>
                <a:rPr spc="-10" dirty="0">
                  <a:solidFill>
                    <a:srgbClr val="444949"/>
                  </a:solidFill>
                  <a:latin typeface="Calibri"/>
                  <a:cs typeface="Calibri"/>
                </a:rPr>
                <a:t>or</a:t>
              </a:r>
              <a:endParaRPr>
                <a:latin typeface="Calibri"/>
                <a:cs typeface="Calibri"/>
              </a:endParaRPr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85C313BF-CDCF-4FEC-BDC5-8573266E83A4}"/>
                </a:ext>
              </a:extLst>
            </p:cNvPr>
            <p:cNvSpPr txBox="1"/>
            <p:nvPr/>
          </p:nvSpPr>
          <p:spPr>
            <a:xfrm>
              <a:off x="8961438" y="5868988"/>
              <a:ext cx="838200" cy="254000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127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dirty="0">
                  <a:solidFill>
                    <a:srgbClr val="444949"/>
                  </a:solidFill>
                  <a:latin typeface="Calibri"/>
                  <a:cs typeface="Calibri"/>
                </a:rPr>
                <a:t>op</a:t>
              </a:r>
              <a:r>
                <a:rPr spc="-10" dirty="0">
                  <a:solidFill>
                    <a:srgbClr val="444949"/>
                  </a:solidFill>
                  <a:latin typeface="Calibri"/>
                  <a:cs typeface="Calibri"/>
                </a:rPr>
                <a:t>e</a:t>
              </a:r>
              <a:r>
                <a:rPr spc="-50" dirty="0">
                  <a:solidFill>
                    <a:srgbClr val="444949"/>
                  </a:solidFill>
                  <a:latin typeface="Calibri"/>
                  <a:cs typeface="Calibri"/>
                </a:rPr>
                <a:t>r</a:t>
              </a:r>
              <a:r>
                <a:rPr spc="-20" dirty="0">
                  <a:solidFill>
                    <a:srgbClr val="444949"/>
                  </a:solidFill>
                  <a:latin typeface="Calibri"/>
                  <a:cs typeface="Calibri"/>
                </a:rPr>
                <a:t>a</a:t>
              </a:r>
              <a:r>
                <a:rPr spc="-30" dirty="0">
                  <a:solidFill>
                    <a:srgbClr val="444949"/>
                  </a:solidFill>
                  <a:latin typeface="Calibri"/>
                  <a:cs typeface="Calibri"/>
                </a:rPr>
                <a:t>t</a:t>
              </a:r>
              <a:r>
                <a:rPr spc="-10" dirty="0">
                  <a:solidFill>
                    <a:srgbClr val="444949"/>
                  </a:solidFill>
                  <a:latin typeface="Calibri"/>
                  <a:cs typeface="Calibri"/>
                </a:rPr>
                <a:t>or</a:t>
              </a:r>
              <a:endParaRPr>
                <a:latin typeface="Calibri"/>
                <a:cs typeface="Calibri"/>
              </a:endParaRPr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74C776DC-3A83-C2E8-F12B-993DF82E2958}"/>
                </a:ext>
              </a:extLst>
            </p:cNvPr>
            <p:cNvSpPr txBox="1"/>
            <p:nvPr/>
          </p:nvSpPr>
          <p:spPr>
            <a:xfrm>
              <a:off x="10080625" y="5868988"/>
              <a:ext cx="838200" cy="254000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127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dirty="0">
                  <a:solidFill>
                    <a:srgbClr val="444949"/>
                  </a:solidFill>
                  <a:latin typeface="Calibri"/>
                  <a:cs typeface="Calibri"/>
                </a:rPr>
                <a:t>op</a:t>
              </a:r>
              <a:r>
                <a:rPr spc="-10" dirty="0">
                  <a:solidFill>
                    <a:srgbClr val="444949"/>
                  </a:solidFill>
                  <a:latin typeface="Calibri"/>
                  <a:cs typeface="Calibri"/>
                </a:rPr>
                <a:t>e</a:t>
              </a:r>
              <a:r>
                <a:rPr spc="-50" dirty="0">
                  <a:solidFill>
                    <a:srgbClr val="444949"/>
                  </a:solidFill>
                  <a:latin typeface="Calibri"/>
                  <a:cs typeface="Calibri"/>
                </a:rPr>
                <a:t>r</a:t>
              </a:r>
              <a:r>
                <a:rPr spc="-20" dirty="0">
                  <a:solidFill>
                    <a:srgbClr val="444949"/>
                  </a:solidFill>
                  <a:latin typeface="Calibri"/>
                  <a:cs typeface="Calibri"/>
                </a:rPr>
                <a:t>a</a:t>
              </a:r>
              <a:r>
                <a:rPr spc="-30" dirty="0">
                  <a:solidFill>
                    <a:srgbClr val="444949"/>
                  </a:solidFill>
                  <a:latin typeface="Calibri"/>
                  <a:cs typeface="Calibri"/>
                </a:rPr>
                <a:t>t</a:t>
              </a:r>
              <a:r>
                <a:rPr spc="-10" dirty="0">
                  <a:solidFill>
                    <a:srgbClr val="444949"/>
                  </a:solidFill>
                  <a:latin typeface="Calibri"/>
                  <a:cs typeface="Calibri"/>
                </a:rPr>
                <a:t>or</a:t>
              </a:r>
              <a:endParaRPr>
                <a:latin typeface="Calibri"/>
                <a:cs typeface="Calibri"/>
              </a:endParaRPr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B73CEFED-5887-F495-AB91-5BE66C42A09F}"/>
                </a:ext>
              </a:extLst>
            </p:cNvPr>
            <p:cNvSpPr txBox="1"/>
            <p:nvPr/>
          </p:nvSpPr>
          <p:spPr>
            <a:xfrm>
              <a:off x="7842250" y="738188"/>
              <a:ext cx="838200" cy="254000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127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dirty="0">
                  <a:solidFill>
                    <a:srgbClr val="444949"/>
                  </a:solidFill>
                  <a:latin typeface="Calibri"/>
                  <a:cs typeface="Calibri"/>
                </a:rPr>
                <a:t>op</a:t>
              </a:r>
              <a:r>
                <a:rPr spc="-10" dirty="0">
                  <a:solidFill>
                    <a:srgbClr val="444949"/>
                  </a:solidFill>
                  <a:latin typeface="Calibri"/>
                  <a:cs typeface="Calibri"/>
                </a:rPr>
                <a:t>e</a:t>
              </a:r>
              <a:r>
                <a:rPr spc="-50" dirty="0">
                  <a:solidFill>
                    <a:srgbClr val="444949"/>
                  </a:solidFill>
                  <a:latin typeface="Calibri"/>
                  <a:cs typeface="Calibri"/>
                </a:rPr>
                <a:t>r</a:t>
              </a:r>
              <a:r>
                <a:rPr spc="-20" dirty="0">
                  <a:solidFill>
                    <a:srgbClr val="444949"/>
                  </a:solidFill>
                  <a:latin typeface="Calibri"/>
                  <a:cs typeface="Calibri"/>
                </a:rPr>
                <a:t>a</a:t>
              </a:r>
              <a:r>
                <a:rPr spc="-30" dirty="0">
                  <a:solidFill>
                    <a:srgbClr val="444949"/>
                  </a:solidFill>
                  <a:latin typeface="Calibri"/>
                  <a:cs typeface="Calibri"/>
                </a:rPr>
                <a:t>t</a:t>
              </a:r>
              <a:r>
                <a:rPr spc="-10" dirty="0">
                  <a:solidFill>
                    <a:srgbClr val="444949"/>
                  </a:solidFill>
                  <a:latin typeface="Calibri"/>
                  <a:cs typeface="Calibri"/>
                </a:rPr>
                <a:t>or</a:t>
              </a:r>
              <a:endParaRPr>
                <a:latin typeface="Calibri"/>
                <a:cs typeface="Calibri"/>
              </a:endParaRPr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D5F10DBB-3C7A-CC4F-94CB-648873478C11}"/>
                </a:ext>
              </a:extLst>
            </p:cNvPr>
            <p:cNvSpPr txBox="1"/>
            <p:nvPr/>
          </p:nvSpPr>
          <p:spPr>
            <a:xfrm>
              <a:off x="8961438" y="738188"/>
              <a:ext cx="838200" cy="254000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127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dirty="0">
                  <a:solidFill>
                    <a:srgbClr val="444949"/>
                  </a:solidFill>
                  <a:latin typeface="Calibri"/>
                  <a:cs typeface="Calibri"/>
                </a:rPr>
                <a:t>op</a:t>
              </a:r>
              <a:r>
                <a:rPr spc="-10" dirty="0">
                  <a:solidFill>
                    <a:srgbClr val="444949"/>
                  </a:solidFill>
                  <a:latin typeface="Calibri"/>
                  <a:cs typeface="Calibri"/>
                </a:rPr>
                <a:t>e</a:t>
              </a:r>
              <a:r>
                <a:rPr spc="-50" dirty="0">
                  <a:solidFill>
                    <a:srgbClr val="444949"/>
                  </a:solidFill>
                  <a:latin typeface="Calibri"/>
                  <a:cs typeface="Calibri"/>
                </a:rPr>
                <a:t>r</a:t>
              </a:r>
              <a:r>
                <a:rPr spc="-20" dirty="0">
                  <a:solidFill>
                    <a:srgbClr val="444949"/>
                  </a:solidFill>
                  <a:latin typeface="Calibri"/>
                  <a:cs typeface="Calibri"/>
                </a:rPr>
                <a:t>a</a:t>
              </a:r>
              <a:r>
                <a:rPr spc="-30" dirty="0">
                  <a:solidFill>
                    <a:srgbClr val="444949"/>
                  </a:solidFill>
                  <a:latin typeface="Calibri"/>
                  <a:cs typeface="Calibri"/>
                </a:rPr>
                <a:t>t</a:t>
              </a:r>
              <a:r>
                <a:rPr spc="-10" dirty="0">
                  <a:solidFill>
                    <a:srgbClr val="444949"/>
                  </a:solidFill>
                  <a:latin typeface="Calibri"/>
                  <a:cs typeface="Calibri"/>
                </a:rPr>
                <a:t>or</a:t>
              </a:r>
              <a:endParaRPr>
                <a:latin typeface="Calibri"/>
                <a:cs typeface="Calibri"/>
              </a:endParaRPr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06CCFDB5-1E8D-72C0-CA93-33CE6CACE3F6}"/>
                </a:ext>
              </a:extLst>
            </p:cNvPr>
            <p:cNvSpPr txBox="1"/>
            <p:nvPr/>
          </p:nvSpPr>
          <p:spPr>
            <a:xfrm>
              <a:off x="10080625" y="738188"/>
              <a:ext cx="838200" cy="254000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127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dirty="0">
                  <a:solidFill>
                    <a:srgbClr val="444949"/>
                  </a:solidFill>
                  <a:latin typeface="Calibri"/>
                  <a:cs typeface="Calibri"/>
                </a:rPr>
                <a:t>op</a:t>
              </a:r>
              <a:r>
                <a:rPr spc="-10" dirty="0">
                  <a:solidFill>
                    <a:srgbClr val="444949"/>
                  </a:solidFill>
                  <a:latin typeface="Calibri"/>
                  <a:cs typeface="Calibri"/>
                </a:rPr>
                <a:t>e</a:t>
              </a:r>
              <a:r>
                <a:rPr spc="-50" dirty="0">
                  <a:solidFill>
                    <a:srgbClr val="444949"/>
                  </a:solidFill>
                  <a:latin typeface="Calibri"/>
                  <a:cs typeface="Calibri"/>
                </a:rPr>
                <a:t>r</a:t>
              </a:r>
              <a:r>
                <a:rPr spc="-20" dirty="0">
                  <a:solidFill>
                    <a:srgbClr val="444949"/>
                  </a:solidFill>
                  <a:latin typeface="Calibri"/>
                  <a:cs typeface="Calibri"/>
                </a:rPr>
                <a:t>a</a:t>
              </a:r>
              <a:r>
                <a:rPr spc="-30" dirty="0">
                  <a:solidFill>
                    <a:srgbClr val="444949"/>
                  </a:solidFill>
                  <a:latin typeface="Calibri"/>
                  <a:cs typeface="Calibri"/>
                </a:rPr>
                <a:t>t</a:t>
              </a:r>
              <a:r>
                <a:rPr spc="-10" dirty="0">
                  <a:solidFill>
                    <a:srgbClr val="444949"/>
                  </a:solidFill>
                  <a:latin typeface="Calibri"/>
                  <a:cs typeface="Calibri"/>
                </a:rPr>
                <a:t>or</a:t>
              </a:r>
              <a:endParaRPr>
                <a:latin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64304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1FEB7-1403-67AC-83A1-26D85423B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Availability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748FB-9DC8-4AAA-2811-410FE3481AA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High Availability usually goes hand in hand with horizontal scaling</a:t>
            </a:r>
          </a:p>
          <a:p>
            <a:r>
              <a:rPr lang="en-US" dirty="0"/>
              <a:t>High availability means running your application / system in at least 2 data centers (== Availability Zones)</a:t>
            </a:r>
          </a:p>
          <a:p>
            <a:r>
              <a:rPr lang="en-US" dirty="0"/>
              <a:t>The goal of high availability is to survive a data center loss</a:t>
            </a:r>
          </a:p>
          <a:p>
            <a:endParaRPr lang="en-US" dirty="0"/>
          </a:p>
          <a:p>
            <a:r>
              <a:rPr lang="en-US" dirty="0"/>
              <a:t>The high availability can be passive (for RDS Multi AZ for example)</a:t>
            </a:r>
          </a:p>
          <a:p>
            <a:r>
              <a:rPr lang="en-US" dirty="0"/>
              <a:t>The high availability can be active (for horizontal scaling)</a:t>
            </a:r>
          </a:p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983410-46D9-BF24-481A-A9FFBE1F73D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989252" y="1825625"/>
            <a:ext cx="354749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1748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E7B21-BB91-68D8-B747-48B5E9FE4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Availability &amp; Scalability For EC2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3116454-2AC3-1F98-62D0-98D85C6AC3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Vertical Scaling: Increase instance size (= scale up / down)</a:t>
            </a:r>
          </a:p>
          <a:p>
            <a:r>
              <a:rPr lang="en-US" dirty="0"/>
              <a:t>From: t2.nano - 0.5G of RAM, 1 vCPU</a:t>
            </a:r>
          </a:p>
          <a:p>
            <a:r>
              <a:rPr lang="en-US" dirty="0"/>
              <a:t>To: u-12tb1.metal – 12.3 TB of RAM, 448 vCPUs</a:t>
            </a:r>
          </a:p>
          <a:p>
            <a:endParaRPr lang="en-US" dirty="0"/>
          </a:p>
          <a:p>
            <a:r>
              <a:rPr lang="en-US" dirty="0"/>
              <a:t>Horizontal Scaling: Increase number of instances (= scale out / in)</a:t>
            </a:r>
          </a:p>
          <a:p>
            <a:r>
              <a:rPr lang="en-US" dirty="0"/>
              <a:t>Auto Scaling Group</a:t>
            </a:r>
          </a:p>
          <a:p>
            <a:r>
              <a:rPr lang="en-US" dirty="0"/>
              <a:t>Load Balancer</a:t>
            </a:r>
          </a:p>
          <a:p>
            <a:endParaRPr lang="en-US" dirty="0"/>
          </a:p>
          <a:p>
            <a:r>
              <a:rPr lang="en-US" dirty="0"/>
              <a:t>High Availability: Run instances for the same application across multi AZ</a:t>
            </a:r>
          </a:p>
          <a:p>
            <a:r>
              <a:rPr lang="en-US" dirty="0"/>
              <a:t>Auto Scaling Group multi AZ</a:t>
            </a:r>
          </a:p>
          <a:p>
            <a:r>
              <a:rPr lang="en-US" dirty="0"/>
              <a:t>Load Balancer multi AZ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22005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4ACEC-977B-DBD3-BAC2-1850FFD70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load balancing?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6A69A-E754-6918-4A32-1BBE91FB1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Load Balances are servers that forward traffic to multiple servers (e.g., EC2 instances) downstream</a:t>
            </a:r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06C174C-9D2F-9956-8231-071C299D66D8}"/>
              </a:ext>
            </a:extLst>
          </p:cNvPr>
          <p:cNvGrpSpPr/>
          <p:nvPr/>
        </p:nvGrpSpPr>
        <p:grpSpPr>
          <a:xfrm>
            <a:off x="1852613" y="2701925"/>
            <a:ext cx="8328025" cy="3402013"/>
            <a:chOff x="1852613" y="2701925"/>
            <a:chExt cx="8328025" cy="3402013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E7FA06E-EACD-3474-4F56-DACF1EF1ED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1438" y="3883025"/>
              <a:ext cx="917575" cy="917575"/>
            </a:xfrm>
            <a:prstGeom prst="rect">
              <a:avLst/>
            </a:prstGeom>
            <a:blipFill dpi="0" rotWithShape="1">
              <a:blip r:embed="rId2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315A9462-1364-FFC5-B3DB-E5F9C754DF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2613" y="3340100"/>
              <a:ext cx="552450" cy="552450"/>
            </a:xfrm>
            <a:prstGeom prst="rect">
              <a:avLst/>
            </a:prstGeom>
            <a:blipFill dpi="0" rotWithShape="1">
              <a:blip r:embed="rId3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A5C2C683-9871-DC1E-B397-5227D31B5D66}"/>
                </a:ext>
              </a:extLst>
            </p:cNvPr>
            <p:cNvSpPr txBox="1"/>
            <p:nvPr/>
          </p:nvSpPr>
          <p:spPr>
            <a:xfrm>
              <a:off x="4575175" y="3175000"/>
              <a:ext cx="2070100" cy="2230438"/>
            </a:xfrm>
            <a:prstGeom prst="rect">
              <a:avLst/>
            </a:prstGeom>
            <a:ln w="12700">
              <a:solidFill>
                <a:srgbClr val="5A6B86"/>
              </a:solidFill>
            </a:ln>
          </p:spPr>
          <p:txBody>
            <a:bodyPr lIns="0" tIns="0" rIns="0" bIns="0">
              <a:spAutoFit/>
            </a:bodyPr>
            <a:lstStyle/>
            <a:p>
              <a:pPr marL="14732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sz="1600" b="1" spc="-20" dirty="0">
                  <a:solidFill>
                    <a:srgbClr val="444949"/>
                  </a:solidFill>
                  <a:latin typeface="Calibri"/>
                  <a:cs typeface="Calibri"/>
                </a:rPr>
                <a:t>El</a:t>
              </a:r>
              <a:r>
                <a:rPr sz="1600" b="1" spc="-15" dirty="0">
                  <a:solidFill>
                    <a:srgbClr val="444949"/>
                  </a:solidFill>
                  <a:latin typeface="Calibri"/>
                  <a:cs typeface="Calibri"/>
                </a:rPr>
                <a:t>a</a:t>
              </a:r>
              <a:r>
                <a:rPr sz="1600" b="1" spc="-30" dirty="0">
                  <a:solidFill>
                    <a:srgbClr val="444949"/>
                  </a:solidFill>
                  <a:latin typeface="Calibri"/>
                  <a:cs typeface="Calibri"/>
                </a:rPr>
                <a:t>s</a:t>
              </a:r>
              <a:r>
                <a:rPr sz="1600" b="1" spc="-15" dirty="0">
                  <a:solidFill>
                    <a:srgbClr val="444949"/>
                  </a:solidFill>
                  <a:latin typeface="Calibri"/>
                  <a:cs typeface="Calibri"/>
                </a:rPr>
                <a:t>ti</a:t>
              </a:r>
              <a:r>
                <a:rPr sz="1600" b="1" spc="-10" dirty="0">
                  <a:solidFill>
                    <a:srgbClr val="444949"/>
                  </a:solidFill>
                  <a:latin typeface="Calibri"/>
                  <a:cs typeface="Calibri"/>
                </a:rPr>
                <a:t>c</a:t>
              </a:r>
              <a:r>
                <a:rPr sz="1600" b="1" spc="-35" dirty="0">
                  <a:solidFill>
                    <a:srgbClr val="444949"/>
                  </a:solidFill>
                  <a:latin typeface="Times New Roman"/>
                  <a:cs typeface="Times New Roman"/>
                </a:rPr>
                <a:t> </a:t>
              </a:r>
              <a:r>
                <a:rPr sz="1600" b="1" spc="-15" dirty="0">
                  <a:solidFill>
                    <a:srgbClr val="444949"/>
                  </a:solidFill>
                  <a:latin typeface="Calibri"/>
                  <a:cs typeface="Calibri"/>
                </a:rPr>
                <a:t>L</a:t>
              </a:r>
              <a:r>
                <a:rPr sz="1600" b="1" spc="-10" dirty="0">
                  <a:solidFill>
                    <a:srgbClr val="444949"/>
                  </a:solidFill>
                  <a:latin typeface="Calibri"/>
                  <a:cs typeface="Calibri"/>
                </a:rPr>
                <a:t>o</a:t>
              </a:r>
              <a:r>
                <a:rPr sz="1600" b="1" spc="-15" dirty="0">
                  <a:solidFill>
                    <a:srgbClr val="444949"/>
                  </a:solidFill>
                  <a:latin typeface="Calibri"/>
                  <a:cs typeface="Calibri"/>
                </a:rPr>
                <a:t>a</a:t>
              </a:r>
              <a:r>
                <a:rPr sz="1600" b="1" spc="-10" dirty="0">
                  <a:solidFill>
                    <a:srgbClr val="444949"/>
                  </a:solidFill>
                  <a:latin typeface="Calibri"/>
                  <a:cs typeface="Calibri"/>
                </a:rPr>
                <a:t>d</a:t>
              </a:r>
              <a:r>
                <a:rPr sz="1600" b="1" spc="-35" dirty="0">
                  <a:solidFill>
                    <a:srgbClr val="444949"/>
                  </a:solidFill>
                  <a:latin typeface="Times New Roman"/>
                  <a:cs typeface="Times New Roman"/>
                </a:rPr>
                <a:t> </a:t>
              </a:r>
              <a:r>
                <a:rPr sz="1600" b="1" spc="-10" dirty="0">
                  <a:solidFill>
                    <a:srgbClr val="444949"/>
                  </a:solidFill>
                  <a:latin typeface="Calibri"/>
                  <a:cs typeface="Calibri"/>
                </a:rPr>
                <a:t>B</a:t>
              </a:r>
              <a:r>
                <a:rPr sz="1600" b="1" spc="-15" dirty="0">
                  <a:solidFill>
                    <a:srgbClr val="444949"/>
                  </a:solidFill>
                  <a:latin typeface="Calibri"/>
                  <a:cs typeface="Calibri"/>
                </a:rPr>
                <a:t>ala</a:t>
              </a:r>
              <a:r>
                <a:rPr sz="1600" b="1" spc="-10" dirty="0">
                  <a:solidFill>
                    <a:srgbClr val="444949"/>
                  </a:solidFill>
                  <a:latin typeface="Calibri"/>
                  <a:cs typeface="Calibri"/>
                </a:rPr>
                <a:t>n</a:t>
              </a:r>
              <a:r>
                <a:rPr sz="1600" b="1" spc="5" dirty="0">
                  <a:solidFill>
                    <a:srgbClr val="444949"/>
                  </a:solidFill>
                  <a:latin typeface="Calibri"/>
                  <a:cs typeface="Calibri"/>
                </a:rPr>
                <a:t>c</a:t>
              </a:r>
              <a:r>
                <a:rPr sz="1600" b="1" spc="-5" dirty="0">
                  <a:solidFill>
                    <a:srgbClr val="444949"/>
                  </a:solidFill>
                  <a:latin typeface="Calibri"/>
                  <a:cs typeface="Calibri"/>
                </a:rPr>
                <a:t>e</a:t>
              </a:r>
              <a:r>
                <a:rPr sz="1600" b="1" dirty="0">
                  <a:solidFill>
                    <a:srgbClr val="444949"/>
                  </a:solidFill>
                  <a:latin typeface="Calibri"/>
                  <a:cs typeface="Calibri"/>
                </a:rPr>
                <a:t>r</a:t>
              </a:r>
              <a:endParaRPr sz="1600">
                <a:latin typeface="Calibri"/>
                <a:cs typeface="Calibri"/>
              </a:endParaRPr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0A8D2902-9446-5E18-C450-55D72C4168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4963" y="2701925"/>
              <a:ext cx="641350" cy="641350"/>
            </a:xfrm>
            <a:prstGeom prst="rect">
              <a:avLst/>
            </a:prstGeom>
            <a:blipFill dpi="0" rotWithShape="1">
              <a:blip r:embed="rId4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A1A0690C-A3A4-035E-DFB1-61C37D217B60}"/>
                </a:ext>
              </a:extLst>
            </p:cNvPr>
            <p:cNvSpPr txBox="1"/>
            <p:nvPr/>
          </p:nvSpPr>
          <p:spPr>
            <a:xfrm>
              <a:off x="8937625" y="3381375"/>
              <a:ext cx="1201738" cy="254000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127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spc="-25" dirty="0">
                  <a:solidFill>
                    <a:srgbClr val="444949"/>
                  </a:solidFill>
                  <a:latin typeface="Calibri"/>
                  <a:cs typeface="Calibri"/>
                </a:rPr>
                <a:t>E</a:t>
              </a:r>
              <a:r>
                <a:rPr dirty="0">
                  <a:solidFill>
                    <a:srgbClr val="444949"/>
                  </a:solidFill>
                  <a:latin typeface="Calibri"/>
                  <a:cs typeface="Calibri"/>
                </a:rPr>
                <a:t>C</a:t>
              </a:r>
              <a:r>
                <a:rPr spc="-10" dirty="0">
                  <a:solidFill>
                    <a:srgbClr val="444949"/>
                  </a:solidFill>
                  <a:latin typeface="Calibri"/>
                  <a:cs typeface="Calibri"/>
                </a:rPr>
                <a:t>2</a:t>
              </a:r>
              <a:r>
                <a:rPr spc="-40" dirty="0">
                  <a:solidFill>
                    <a:srgbClr val="444949"/>
                  </a:solidFill>
                  <a:latin typeface="Times New Roman"/>
                  <a:cs typeface="Times New Roman"/>
                </a:rPr>
                <a:t> </a:t>
              </a:r>
              <a:r>
                <a:rPr spc="-10" dirty="0">
                  <a:solidFill>
                    <a:srgbClr val="444949"/>
                  </a:solidFill>
                  <a:latin typeface="Calibri"/>
                  <a:cs typeface="Calibri"/>
                </a:rPr>
                <a:t>I</a:t>
              </a:r>
              <a:r>
                <a:rPr dirty="0">
                  <a:solidFill>
                    <a:srgbClr val="444949"/>
                  </a:solidFill>
                  <a:latin typeface="Calibri"/>
                  <a:cs typeface="Calibri"/>
                </a:rPr>
                <a:t>n</a:t>
              </a:r>
              <a:r>
                <a:rPr spc="-25" dirty="0">
                  <a:solidFill>
                    <a:srgbClr val="444949"/>
                  </a:solidFill>
                  <a:latin typeface="Calibri"/>
                  <a:cs typeface="Calibri"/>
                </a:rPr>
                <a:t>st</a:t>
              </a:r>
              <a:r>
                <a:rPr dirty="0">
                  <a:solidFill>
                    <a:srgbClr val="444949"/>
                  </a:solidFill>
                  <a:latin typeface="Calibri"/>
                  <a:cs typeface="Calibri"/>
                </a:rPr>
                <a:t>an</a:t>
              </a:r>
              <a:r>
                <a:rPr spc="-10" dirty="0">
                  <a:solidFill>
                    <a:srgbClr val="444949"/>
                  </a:solidFill>
                  <a:latin typeface="Calibri"/>
                  <a:cs typeface="Calibri"/>
                </a:rPr>
                <a:t>ce</a:t>
              </a:r>
              <a:endParaRPr>
                <a:latin typeface="Calibri"/>
                <a:cs typeface="Calibri"/>
              </a:endParaRPr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60CB9195-0E2C-20AF-A162-4A2BF89AE3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4963" y="3967163"/>
              <a:ext cx="641350" cy="639762"/>
            </a:xfrm>
            <a:prstGeom prst="rect">
              <a:avLst/>
            </a:prstGeom>
            <a:blipFill dpi="0" rotWithShape="1">
              <a:blip r:embed="rId4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259B366F-B156-6648-11DF-63496579F3AE}"/>
                </a:ext>
              </a:extLst>
            </p:cNvPr>
            <p:cNvSpPr txBox="1"/>
            <p:nvPr/>
          </p:nvSpPr>
          <p:spPr>
            <a:xfrm>
              <a:off x="8937625" y="4646613"/>
              <a:ext cx="1201738" cy="254000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127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spc="-25" dirty="0">
                  <a:solidFill>
                    <a:srgbClr val="444949"/>
                  </a:solidFill>
                  <a:latin typeface="Calibri"/>
                  <a:cs typeface="Calibri"/>
                </a:rPr>
                <a:t>E</a:t>
              </a:r>
              <a:r>
                <a:rPr dirty="0">
                  <a:solidFill>
                    <a:srgbClr val="444949"/>
                  </a:solidFill>
                  <a:latin typeface="Calibri"/>
                  <a:cs typeface="Calibri"/>
                </a:rPr>
                <a:t>C</a:t>
              </a:r>
              <a:r>
                <a:rPr spc="-10" dirty="0">
                  <a:solidFill>
                    <a:srgbClr val="444949"/>
                  </a:solidFill>
                  <a:latin typeface="Calibri"/>
                  <a:cs typeface="Calibri"/>
                </a:rPr>
                <a:t>2</a:t>
              </a:r>
              <a:r>
                <a:rPr spc="-40" dirty="0">
                  <a:solidFill>
                    <a:srgbClr val="444949"/>
                  </a:solidFill>
                  <a:latin typeface="Times New Roman"/>
                  <a:cs typeface="Times New Roman"/>
                </a:rPr>
                <a:t> </a:t>
              </a:r>
              <a:r>
                <a:rPr spc="-10" dirty="0">
                  <a:solidFill>
                    <a:srgbClr val="444949"/>
                  </a:solidFill>
                  <a:latin typeface="Calibri"/>
                  <a:cs typeface="Calibri"/>
                </a:rPr>
                <a:t>I</a:t>
              </a:r>
              <a:r>
                <a:rPr dirty="0">
                  <a:solidFill>
                    <a:srgbClr val="444949"/>
                  </a:solidFill>
                  <a:latin typeface="Calibri"/>
                  <a:cs typeface="Calibri"/>
                </a:rPr>
                <a:t>n</a:t>
              </a:r>
              <a:r>
                <a:rPr spc="-25" dirty="0">
                  <a:solidFill>
                    <a:srgbClr val="444949"/>
                  </a:solidFill>
                  <a:latin typeface="Calibri"/>
                  <a:cs typeface="Calibri"/>
                </a:rPr>
                <a:t>st</a:t>
              </a:r>
              <a:r>
                <a:rPr dirty="0">
                  <a:solidFill>
                    <a:srgbClr val="444949"/>
                  </a:solidFill>
                  <a:latin typeface="Calibri"/>
                  <a:cs typeface="Calibri"/>
                </a:rPr>
                <a:t>an</a:t>
              </a:r>
              <a:r>
                <a:rPr spc="-10" dirty="0">
                  <a:solidFill>
                    <a:srgbClr val="444949"/>
                  </a:solidFill>
                  <a:latin typeface="Calibri"/>
                  <a:cs typeface="Calibri"/>
                </a:rPr>
                <a:t>ce</a:t>
              </a:r>
              <a:endParaRPr>
                <a:latin typeface="Calibri"/>
                <a:cs typeface="Calibri"/>
              </a:endParaRPr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CD29ED0B-06E8-6747-A7D5-BE8A49D331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66238" y="5170488"/>
              <a:ext cx="641350" cy="641350"/>
            </a:xfrm>
            <a:prstGeom prst="rect">
              <a:avLst/>
            </a:prstGeom>
            <a:blipFill dpi="0" rotWithShape="1">
              <a:blip r:embed="rId4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B6B6428B-D034-6D97-518B-7A423B26D592}"/>
                </a:ext>
              </a:extLst>
            </p:cNvPr>
            <p:cNvSpPr txBox="1"/>
            <p:nvPr/>
          </p:nvSpPr>
          <p:spPr>
            <a:xfrm>
              <a:off x="8978900" y="5849938"/>
              <a:ext cx="1201738" cy="254000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127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spc="-25" dirty="0">
                  <a:solidFill>
                    <a:srgbClr val="444949"/>
                  </a:solidFill>
                  <a:latin typeface="Calibri"/>
                  <a:cs typeface="Calibri"/>
                </a:rPr>
                <a:t>E</a:t>
              </a:r>
              <a:r>
                <a:rPr dirty="0">
                  <a:solidFill>
                    <a:srgbClr val="444949"/>
                  </a:solidFill>
                  <a:latin typeface="Calibri"/>
                  <a:cs typeface="Calibri"/>
                </a:rPr>
                <a:t>C</a:t>
              </a:r>
              <a:r>
                <a:rPr spc="-10" dirty="0">
                  <a:solidFill>
                    <a:srgbClr val="444949"/>
                  </a:solidFill>
                  <a:latin typeface="Calibri"/>
                  <a:cs typeface="Calibri"/>
                </a:rPr>
                <a:t>2</a:t>
              </a:r>
              <a:r>
                <a:rPr spc="-40" dirty="0">
                  <a:solidFill>
                    <a:srgbClr val="444949"/>
                  </a:solidFill>
                  <a:latin typeface="Times New Roman"/>
                  <a:cs typeface="Times New Roman"/>
                </a:rPr>
                <a:t> </a:t>
              </a:r>
              <a:r>
                <a:rPr spc="-10" dirty="0">
                  <a:solidFill>
                    <a:srgbClr val="444949"/>
                  </a:solidFill>
                  <a:latin typeface="Calibri"/>
                  <a:cs typeface="Calibri"/>
                </a:rPr>
                <a:t>I</a:t>
              </a:r>
              <a:r>
                <a:rPr dirty="0">
                  <a:solidFill>
                    <a:srgbClr val="444949"/>
                  </a:solidFill>
                  <a:latin typeface="Calibri"/>
                  <a:cs typeface="Calibri"/>
                </a:rPr>
                <a:t>n</a:t>
              </a:r>
              <a:r>
                <a:rPr spc="-25" dirty="0">
                  <a:solidFill>
                    <a:srgbClr val="444949"/>
                  </a:solidFill>
                  <a:latin typeface="Calibri"/>
                  <a:cs typeface="Calibri"/>
                </a:rPr>
                <a:t>st</a:t>
              </a:r>
              <a:r>
                <a:rPr dirty="0">
                  <a:solidFill>
                    <a:srgbClr val="444949"/>
                  </a:solidFill>
                  <a:latin typeface="Calibri"/>
                  <a:cs typeface="Calibri"/>
                </a:rPr>
                <a:t>an</a:t>
              </a:r>
              <a:r>
                <a:rPr spc="-10" dirty="0">
                  <a:solidFill>
                    <a:srgbClr val="444949"/>
                  </a:solidFill>
                  <a:latin typeface="Calibri"/>
                  <a:cs typeface="Calibri"/>
                </a:rPr>
                <a:t>ce</a:t>
              </a:r>
              <a:endParaRPr>
                <a:latin typeface="Calibri"/>
                <a:cs typeface="Calibri"/>
              </a:endParaRPr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66ED940B-75BE-03CF-51A6-95E33CC2EC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2613" y="4054475"/>
              <a:ext cx="552450" cy="550863"/>
            </a:xfrm>
            <a:prstGeom prst="rect">
              <a:avLst/>
            </a:prstGeom>
            <a:blipFill dpi="0" rotWithShape="1">
              <a:blip r:embed="rId5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A3480C45-0362-8283-C6E0-872FE4A1D6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2613" y="4856163"/>
              <a:ext cx="552450" cy="550862"/>
            </a:xfrm>
            <a:prstGeom prst="rect">
              <a:avLst/>
            </a:prstGeom>
            <a:blipFill dpi="0" rotWithShape="1">
              <a:blip r:embed="rId6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BB02E5AD-C45F-8E04-37D0-D54FAC4880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3475" y="3578225"/>
              <a:ext cx="2171700" cy="76200"/>
            </a:xfrm>
            <a:custGeom>
              <a:avLst/>
              <a:gdLst>
                <a:gd name="T0" fmla="*/ 76199 w 2172970"/>
                <a:gd name="T1" fmla="*/ 0 h 76200"/>
                <a:gd name="T2" fmla="*/ 0 w 2172970"/>
                <a:gd name="T3" fmla="*/ 38099 h 76200"/>
                <a:gd name="T4" fmla="*/ 76199 w 2172970"/>
                <a:gd name="T5" fmla="*/ 76199 h 76200"/>
                <a:gd name="T6" fmla="*/ 76199 w 2172970"/>
                <a:gd name="T7" fmla="*/ 41269 h 76200"/>
                <a:gd name="T8" fmla="*/ 63495 w 2172970"/>
                <a:gd name="T9" fmla="*/ 41269 h 76200"/>
                <a:gd name="T10" fmla="*/ 63495 w 2172970"/>
                <a:gd name="T11" fmla="*/ 34899 h 76200"/>
                <a:gd name="T12" fmla="*/ 76199 w 2172970"/>
                <a:gd name="T13" fmla="*/ 34899 h 76200"/>
                <a:gd name="T14" fmla="*/ 76199 w 2172970"/>
                <a:gd name="T15" fmla="*/ 0 h 76200"/>
                <a:gd name="T16" fmla="*/ 2096341 w 2172970"/>
                <a:gd name="T17" fmla="*/ 0 h 76200"/>
                <a:gd name="T18" fmla="*/ 2096341 w 2172970"/>
                <a:gd name="T19" fmla="*/ 76199 h 76200"/>
                <a:gd name="T20" fmla="*/ 2166201 w 2172970"/>
                <a:gd name="T21" fmla="*/ 41269 h 76200"/>
                <a:gd name="T22" fmla="*/ 2109020 w 2172970"/>
                <a:gd name="T23" fmla="*/ 41269 h 76200"/>
                <a:gd name="T24" fmla="*/ 2109020 w 2172970"/>
                <a:gd name="T25" fmla="*/ 34899 h 76200"/>
                <a:gd name="T26" fmla="*/ 2166140 w 2172970"/>
                <a:gd name="T27" fmla="*/ 34899 h 76200"/>
                <a:gd name="T28" fmla="*/ 2096341 w 2172970"/>
                <a:gd name="T29" fmla="*/ 0 h 76200"/>
                <a:gd name="T30" fmla="*/ 76199 w 2172970"/>
                <a:gd name="T31" fmla="*/ 34899 h 76200"/>
                <a:gd name="T32" fmla="*/ 63495 w 2172970"/>
                <a:gd name="T33" fmla="*/ 34899 h 76200"/>
                <a:gd name="T34" fmla="*/ 63495 w 2172970"/>
                <a:gd name="T35" fmla="*/ 41269 h 76200"/>
                <a:gd name="T36" fmla="*/ 76199 w 2172970"/>
                <a:gd name="T37" fmla="*/ 41269 h 76200"/>
                <a:gd name="T38" fmla="*/ 76199 w 2172970"/>
                <a:gd name="T39" fmla="*/ 34899 h 76200"/>
                <a:gd name="T40" fmla="*/ 2096341 w 2172970"/>
                <a:gd name="T41" fmla="*/ 34899 h 76200"/>
                <a:gd name="T42" fmla="*/ 76199 w 2172970"/>
                <a:gd name="T43" fmla="*/ 34899 h 76200"/>
                <a:gd name="T44" fmla="*/ 76199 w 2172970"/>
                <a:gd name="T45" fmla="*/ 41269 h 76200"/>
                <a:gd name="T46" fmla="*/ 2096341 w 2172970"/>
                <a:gd name="T47" fmla="*/ 41269 h 76200"/>
                <a:gd name="T48" fmla="*/ 2096341 w 2172970"/>
                <a:gd name="T49" fmla="*/ 34899 h 76200"/>
                <a:gd name="T50" fmla="*/ 2166140 w 2172970"/>
                <a:gd name="T51" fmla="*/ 34899 h 76200"/>
                <a:gd name="T52" fmla="*/ 2109020 w 2172970"/>
                <a:gd name="T53" fmla="*/ 34899 h 76200"/>
                <a:gd name="T54" fmla="*/ 2109020 w 2172970"/>
                <a:gd name="T55" fmla="*/ 41269 h 76200"/>
                <a:gd name="T56" fmla="*/ 2166201 w 2172970"/>
                <a:gd name="T57" fmla="*/ 41269 h 76200"/>
                <a:gd name="T58" fmla="*/ 2172541 w 2172970"/>
                <a:gd name="T59" fmla="*/ 38099 h 76200"/>
                <a:gd name="T60" fmla="*/ 2166140 w 2172970"/>
                <a:gd name="T61" fmla="*/ 34899 h 76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172970" h="76200">
                  <a:moveTo>
                    <a:pt x="76199" y="0"/>
                  </a:moveTo>
                  <a:lnTo>
                    <a:pt x="0" y="38099"/>
                  </a:lnTo>
                  <a:lnTo>
                    <a:pt x="76199" y="76199"/>
                  </a:lnTo>
                  <a:lnTo>
                    <a:pt x="76199" y="41269"/>
                  </a:lnTo>
                  <a:lnTo>
                    <a:pt x="63495" y="41269"/>
                  </a:lnTo>
                  <a:lnTo>
                    <a:pt x="63495" y="34899"/>
                  </a:lnTo>
                  <a:lnTo>
                    <a:pt x="76199" y="34899"/>
                  </a:lnTo>
                  <a:lnTo>
                    <a:pt x="76199" y="0"/>
                  </a:lnTo>
                  <a:close/>
                </a:path>
                <a:path w="2172970" h="76200">
                  <a:moveTo>
                    <a:pt x="2096341" y="0"/>
                  </a:moveTo>
                  <a:lnTo>
                    <a:pt x="2096341" y="76199"/>
                  </a:lnTo>
                  <a:lnTo>
                    <a:pt x="2166201" y="41269"/>
                  </a:lnTo>
                  <a:lnTo>
                    <a:pt x="2109020" y="41269"/>
                  </a:lnTo>
                  <a:lnTo>
                    <a:pt x="2109020" y="34899"/>
                  </a:lnTo>
                  <a:lnTo>
                    <a:pt x="2166140" y="34899"/>
                  </a:lnTo>
                  <a:lnTo>
                    <a:pt x="2096341" y="0"/>
                  </a:lnTo>
                  <a:close/>
                </a:path>
                <a:path w="2172970" h="76200">
                  <a:moveTo>
                    <a:pt x="76199" y="34899"/>
                  </a:moveTo>
                  <a:lnTo>
                    <a:pt x="63495" y="34899"/>
                  </a:lnTo>
                  <a:lnTo>
                    <a:pt x="63495" y="41269"/>
                  </a:lnTo>
                  <a:lnTo>
                    <a:pt x="76199" y="41269"/>
                  </a:lnTo>
                  <a:lnTo>
                    <a:pt x="76199" y="34899"/>
                  </a:lnTo>
                  <a:close/>
                </a:path>
                <a:path w="2172970" h="76200">
                  <a:moveTo>
                    <a:pt x="2096341" y="34899"/>
                  </a:moveTo>
                  <a:lnTo>
                    <a:pt x="76199" y="34899"/>
                  </a:lnTo>
                  <a:lnTo>
                    <a:pt x="76199" y="41269"/>
                  </a:lnTo>
                  <a:lnTo>
                    <a:pt x="2096341" y="41269"/>
                  </a:lnTo>
                  <a:lnTo>
                    <a:pt x="2096341" y="34899"/>
                  </a:lnTo>
                  <a:close/>
                </a:path>
                <a:path w="2172970" h="76200">
                  <a:moveTo>
                    <a:pt x="2166140" y="34899"/>
                  </a:moveTo>
                  <a:lnTo>
                    <a:pt x="2109020" y="34899"/>
                  </a:lnTo>
                  <a:lnTo>
                    <a:pt x="2109020" y="41269"/>
                  </a:lnTo>
                  <a:lnTo>
                    <a:pt x="2166201" y="41269"/>
                  </a:lnTo>
                  <a:lnTo>
                    <a:pt x="2172541" y="38099"/>
                  </a:lnTo>
                  <a:lnTo>
                    <a:pt x="2166140" y="34899"/>
                  </a:lnTo>
                  <a:close/>
                </a:path>
              </a:pathLst>
            </a:custGeom>
            <a:solidFill>
              <a:srgbClr val="44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1A12AB71-DA7A-1B96-7892-438D1611BE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3475" y="4273550"/>
              <a:ext cx="2171700" cy="76200"/>
            </a:xfrm>
            <a:custGeom>
              <a:avLst/>
              <a:gdLst>
                <a:gd name="T0" fmla="*/ 76199 w 2172970"/>
                <a:gd name="T1" fmla="*/ 0 h 76200"/>
                <a:gd name="T2" fmla="*/ 0 w 2172970"/>
                <a:gd name="T3" fmla="*/ 38099 h 76200"/>
                <a:gd name="T4" fmla="*/ 76199 w 2172970"/>
                <a:gd name="T5" fmla="*/ 76199 h 76200"/>
                <a:gd name="T6" fmla="*/ 76199 w 2172970"/>
                <a:gd name="T7" fmla="*/ 41266 h 76200"/>
                <a:gd name="T8" fmla="*/ 63495 w 2172970"/>
                <a:gd name="T9" fmla="*/ 41266 h 76200"/>
                <a:gd name="T10" fmla="*/ 63495 w 2172970"/>
                <a:gd name="T11" fmla="*/ 34920 h 76200"/>
                <a:gd name="T12" fmla="*/ 76199 w 2172970"/>
                <a:gd name="T13" fmla="*/ 34920 h 76200"/>
                <a:gd name="T14" fmla="*/ 76199 w 2172970"/>
                <a:gd name="T15" fmla="*/ 0 h 76200"/>
                <a:gd name="T16" fmla="*/ 2096341 w 2172970"/>
                <a:gd name="T17" fmla="*/ 41278 h 76200"/>
                <a:gd name="T18" fmla="*/ 2096341 w 2172970"/>
                <a:gd name="T19" fmla="*/ 76199 h 76200"/>
                <a:gd name="T20" fmla="*/ 2166183 w 2172970"/>
                <a:gd name="T21" fmla="*/ 41279 h 76200"/>
                <a:gd name="T22" fmla="*/ 2096341 w 2172970"/>
                <a:gd name="T23" fmla="*/ 41278 h 76200"/>
                <a:gd name="T24" fmla="*/ 2096341 w 2172970"/>
                <a:gd name="T25" fmla="*/ 0 h 76200"/>
                <a:gd name="T26" fmla="*/ 2096341 w 2172970"/>
                <a:gd name="T27" fmla="*/ 41278 h 76200"/>
                <a:gd name="T28" fmla="*/ 2109020 w 2172970"/>
                <a:gd name="T29" fmla="*/ 41279 h 76200"/>
                <a:gd name="T30" fmla="*/ 2109020 w 2172970"/>
                <a:gd name="T31" fmla="*/ 34920 h 76200"/>
                <a:gd name="T32" fmla="*/ 2166183 w 2172970"/>
                <a:gd name="T33" fmla="*/ 34920 h 76200"/>
                <a:gd name="T34" fmla="*/ 2096341 w 2172970"/>
                <a:gd name="T35" fmla="*/ 0 h 76200"/>
                <a:gd name="T36" fmla="*/ 2166183 w 2172970"/>
                <a:gd name="T37" fmla="*/ 34920 h 76200"/>
                <a:gd name="T38" fmla="*/ 2109020 w 2172970"/>
                <a:gd name="T39" fmla="*/ 34920 h 76200"/>
                <a:gd name="T40" fmla="*/ 2109020 w 2172970"/>
                <a:gd name="T41" fmla="*/ 41279 h 76200"/>
                <a:gd name="T42" fmla="*/ 2166183 w 2172970"/>
                <a:gd name="T43" fmla="*/ 41279 h 76200"/>
                <a:gd name="T44" fmla="*/ 2172541 w 2172970"/>
                <a:gd name="T45" fmla="*/ 38099 h 76200"/>
                <a:gd name="T46" fmla="*/ 2166183 w 2172970"/>
                <a:gd name="T47" fmla="*/ 34920 h 76200"/>
                <a:gd name="T48" fmla="*/ 2096341 w 2172970"/>
                <a:gd name="T49" fmla="*/ 34920 h 76200"/>
                <a:gd name="T50" fmla="*/ 76199 w 2172970"/>
                <a:gd name="T51" fmla="*/ 34920 h 76200"/>
                <a:gd name="T52" fmla="*/ 76199 w 2172970"/>
                <a:gd name="T53" fmla="*/ 41266 h 76200"/>
                <a:gd name="T54" fmla="*/ 2096341 w 2172970"/>
                <a:gd name="T55" fmla="*/ 41278 h 76200"/>
                <a:gd name="T56" fmla="*/ 2096341 w 2172970"/>
                <a:gd name="T57" fmla="*/ 34920 h 76200"/>
                <a:gd name="T58" fmla="*/ 76199 w 2172970"/>
                <a:gd name="T59" fmla="*/ 34920 h 76200"/>
                <a:gd name="T60" fmla="*/ 63495 w 2172970"/>
                <a:gd name="T61" fmla="*/ 34920 h 76200"/>
                <a:gd name="T62" fmla="*/ 63495 w 2172970"/>
                <a:gd name="T63" fmla="*/ 41266 h 76200"/>
                <a:gd name="T64" fmla="*/ 76199 w 2172970"/>
                <a:gd name="T65" fmla="*/ 41266 h 76200"/>
                <a:gd name="T66" fmla="*/ 76199 w 2172970"/>
                <a:gd name="T67" fmla="*/ 34920 h 76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172970" h="76200">
                  <a:moveTo>
                    <a:pt x="76199" y="0"/>
                  </a:moveTo>
                  <a:lnTo>
                    <a:pt x="0" y="38099"/>
                  </a:lnTo>
                  <a:lnTo>
                    <a:pt x="76199" y="76199"/>
                  </a:lnTo>
                  <a:lnTo>
                    <a:pt x="76199" y="41266"/>
                  </a:lnTo>
                  <a:lnTo>
                    <a:pt x="63495" y="41266"/>
                  </a:lnTo>
                  <a:lnTo>
                    <a:pt x="63495" y="34920"/>
                  </a:lnTo>
                  <a:lnTo>
                    <a:pt x="76199" y="34920"/>
                  </a:lnTo>
                  <a:lnTo>
                    <a:pt x="76199" y="0"/>
                  </a:lnTo>
                  <a:close/>
                </a:path>
                <a:path w="2172970" h="76200">
                  <a:moveTo>
                    <a:pt x="2096341" y="41278"/>
                  </a:moveTo>
                  <a:lnTo>
                    <a:pt x="2096341" y="76199"/>
                  </a:lnTo>
                  <a:lnTo>
                    <a:pt x="2166183" y="41279"/>
                  </a:lnTo>
                  <a:lnTo>
                    <a:pt x="2096341" y="41278"/>
                  </a:lnTo>
                  <a:close/>
                </a:path>
                <a:path w="2172970" h="76200">
                  <a:moveTo>
                    <a:pt x="2096341" y="0"/>
                  </a:moveTo>
                  <a:lnTo>
                    <a:pt x="2096341" y="41278"/>
                  </a:lnTo>
                  <a:lnTo>
                    <a:pt x="2109020" y="41279"/>
                  </a:lnTo>
                  <a:lnTo>
                    <a:pt x="2109020" y="34920"/>
                  </a:lnTo>
                  <a:lnTo>
                    <a:pt x="2166183" y="34920"/>
                  </a:lnTo>
                  <a:lnTo>
                    <a:pt x="2096341" y="0"/>
                  </a:lnTo>
                  <a:close/>
                </a:path>
                <a:path w="2172970" h="76200">
                  <a:moveTo>
                    <a:pt x="2166183" y="34920"/>
                  </a:moveTo>
                  <a:lnTo>
                    <a:pt x="2109020" y="34920"/>
                  </a:lnTo>
                  <a:lnTo>
                    <a:pt x="2109020" y="41279"/>
                  </a:lnTo>
                  <a:lnTo>
                    <a:pt x="2166183" y="41279"/>
                  </a:lnTo>
                  <a:lnTo>
                    <a:pt x="2172541" y="38099"/>
                  </a:lnTo>
                  <a:lnTo>
                    <a:pt x="2166183" y="34920"/>
                  </a:lnTo>
                  <a:close/>
                </a:path>
                <a:path w="2172970" h="76200">
                  <a:moveTo>
                    <a:pt x="2096341" y="34920"/>
                  </a:moveTo>
                  <a:lnTo>
                    <a:pt x="76199" y="34920"/>
                  </a:lnTo>
                  <a:lnTo>
                    <a:pt x="76199" y="41266"/>
                  </a:lnTo>
                  <a:lnTo>
                    <a:pt x="2096341" y="41278"/>
                  </a:lnTo>
                  <a:lnTo>
                    <a:pt x="2096341" y="34920"/>
                  </a:lnTo>
                  <a:close/>
                </a:path>
                <a:path w="2172970" h="76200">
                  <a:moveTo>
                    <a:pt x="76199" y="34920"/>
                  </a:moveTo>
                  <a:lnTo>
                    <a:pt x="63495" y="34920"/>
                  </a:lnTo>
                  <a:lnTo>
                    <a:pt x="63495" y="41266"/>
                  </a:lnTo>
                  <a:lnTo>
                    <a:pt x="76199" y="41266"/>
                  </a:lnTo>
                  <a:lnTo>
                    <a:pt x="76199" y="34920"/>
                  </a:lnTo>
                  <a:close/>
                </a:path>
              </a:pathLst>
            </a:custGeom>
            <a:solidFill>
              <a:srgbClr val="5091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3B1495B3-E635-45EA-2DBB-6DF30A533E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3475" y="5089525"/>
              <a:ext cx="2171700" cy="76200"/>
            </a:xfrm>
            <a:custGeom>
              <a:avLst/>
              <a:gdLst>
                <a:gd name="T0" fmla="*/ 76199 w 2172970"/>
                <a:gd name="T1" fmla="*/ 0 h 76200"/>
                <a:gd name="T2" fmla="*/ 0 w 2172970"/>
                <a:gd name="T3" fmla="*/ 38099 h 76200"/>
                <a:gd name="T4" fmla="*/ 76199 w 2172970"/>
                <a:gd name="T5" fmla="*/ 76199 h 76200"/>
                <a:gd name="T6" fmla="*/ 76199 w 2172970"/>
                <a:gd name="T7" fmla="*/ 41279 h 76200"/>
                <a:gd name="T8" fmla="*/ 63495 w 2172970"/>
                <a:gd name="T9" fmla="*/ 41279 h 76200"/>
                <a:gd name="T10" fmla="*/ 63495 w 2172970"/>
                <a:gd name="T11" fmla="*/ 34933 h 76200"/>
                <a:gd name="T12" fmla="*/ 76199 w 2172970"/>
                <a:gd name="T13" fmla="*/ 34933 h 76200"/>
                <a:gd name="T14" fmla="*/ 76199 w 2172970"/>
                <a:gd name="T15" fmla="*/ 0 h 76200"/>
                <a:gd name="T16" fmla="*/ 2096341 w 2172970"/>
                <a:gd name="T17" fmla="*/ 0 h 76200"/>
                <a:gd name="T18" fmla="*/ 2096341 w 2172970"/>
                <a:gd name="T19" fmla="*/ 76199 h 76200"/>
                <a:gd name="T20" fmla="*/ 2166182 w 2172970"/>
                <a:gd name="T21" fmla="*/ 41279 h 76200"/>
                <a:gd name="T22" fmla="*/ 2109023 w 2172970"/>
                <a:gd name="T23" fmla="*/ 41279 h 76200"/>
                <a:gd name="T24" fmla="*/ 2109023 w 2172970"/>
                <a:gd name="T25" fmla="*/ 34933 h 76200"/>
                <a:gd name="T26" fmla="*/ 2166207 w 2172970"/>
                <a:gd name="T27" fmla="*/ 34933 h 76200"/>
                <a:gd name="T28" fmla="*/ 2096341 w 2172970"/>
                <a:gd name="T29" fmla="*/ 0 h 76200"/>
                <a:gd name="T30" fmla="*/ 76199 w 2172970"/>
                <a:gd name="T31" fmla="*/ 34933 h 76200"/>
                <a:gd name="T32" fmla="*/ 63495 w 2172970"/>
                <a:gd name="T33" fmla="*/ 34933 h 76200"/>
                <a:gd name="T34" fmla="*/ 63495 w 2172970"/>
                <a:gd name="T35" fmla="*/ 41279 h 76200"/>
                <a:gd name="T36" fmla="*/ 76199 w 2172970"/>
                <a:gd name="T37" fmla="*/ 41279 h 76200"/>
                <a:gd name="T38" fmla="*/ 76199 w 2172970"/>
                <a:gd name="T39" fmla="*/ 34933 h 76200"/>
                <a:gd name="T40" fmla="*/ 2096341 w 2172970"/>
                <a:gd name="T41" fmla="*/ 34933 h 76200"/>
                <a:gd name="T42" fmla="*/ 76199 w 2172970"/>
                <a:gd name="T43" fmla="*/ 34933 h 76200"/>
                <a:gd name="T44" fmla="*/ 76199 w 2172970"/>
                <a:gd name="T45" fmla="*/ 41279 h 76200"/>
                <a:gd name="T46" fmla="*/ 2096341 w 2172970"/>
                <a:gd name="T47" fmla="*/ 41279 h 76200"/>
                <a:gd name="T48" fmla="*/ 2096341 w 2172970"/>
                <a:gd name="T49" fmla="*/ 34933 h 76200"/>
                <a:gd name="T50" fmla="*/ 2166207 w 2172970"/>
                <a:gd name="T51" fmla="*/ 34933 h 76200"/>
                <a:gd name="T52" fmla="*/ 2109023 w 2172970"/>
                <a:gd name="T53" fmla="*/ 34933 h 76200"/>
                <a:gd name="T54" fmla="*/ 2109023 w 2172970"/>
                <a:gd name="T55" fmla="*/ 41279 h 76200"/>
                <a:gd name="T56" fmla="*/ 2166182 w 2172970"/>
                <a:gd name="T57" fmla="*/ 41279 h 76200"/>
                <a:gd name="T58" fmla="*/ 2172541 w 2172970"/>
                <a:gd name="T59" fmla="*/ 38099 h 76200"/>
                <a:gd name="T60" fmla="*/ 2166207 w 2172970"/>
                <a:gd name="T61" fmla="*/ 34933 h 76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172970" h="76200">
                  <a:moveTo>
                    <a:pt x="76199" y="0"/>
                  </a:moveTo>
                  <a:lnTo>
                    <a:pt x="0" y="38099"/>
                  </a:lnTo>
                  <a:lnTo>
                    <a:pt x="76199" y="76199"/>
                  </a:lnTo>
                  <a:lnTo>
                    <a:pt x="76199" y="41279"/>
                  </a:lnTo>
                  <a:lnTo>
                    <a:pt x="63495" y="41279"/>
                  </a:lnTo>
                  <a:lnTo>
                    <a:pt x="63495" y="34933"/>
                  </a:lnTo>
                  <a:lnTo>
                    <a:pt x="76199" y="34933"/>
                  </a:lnTo>
                  <a:lnTo>
                    <a:pt x="76199" y="0"/>
                  </a:lnTo>
                  <a:close/>
                </a:path>
                <a:path w="2172970" h="76200">
                  <a:moveTo>
                    <a:pt x="2096341" y="0"/>
                  </a:moveTo>
                  <a:lnTo>
                    <a:pt x="2096341" y="76199"/>
                  </a:lnTo>
                  <a:lnTo>
                    <a:pt x="2166182" y="41279"/>
                  </a:lnTo>
                  <a:lnTo>
                    <a:pt x="2109023" y="41279"/>
                  </a:lnTo>
                  <a:lnTo>
                    <a:pt x="2109023" y="34933"/>
                  </a:lnTo>
                  <a:lnTo>
                    <a:pt x="2166207" y="34933"/>
                  </a:lnTo>
                  <a:lnTo>
                    <a:pt x="2096341" y="0"/>
                  </a:lnTo>
                  <a:close/>
                </a:path>
                <a:path w="2172970" h="76200">
                  <a:moveTo>
                    <a:pt x="76199" y="34933"/>
                  </a:moveTo>
                  <a:lnTo>
                    <a:pt x="63495" y="34933"/>
                  </a:lnTo>
                  <a:lnTo>
                    <a:pt x="63495" y="41279"/>
                  </a:lnTo>
                  <a:lnTo>
                    <a:pt x="76199" y="41279"/>
                  </a:lnTo>
                  <a:lnTo>
                    <a:pt x="76199" y="34933"/>
                  </a:lnTo>
                  <a:close/>
                </a:path>
                <a:path w="2172970" h="76200">
                  <a:moveTo>
                    <a:pt x="2096341" y="34933"/>
                  </a:moveTo>
                  <a:lnTo>
                    <a:pt x="76199" y="34933"/>
                  </a:lnTo>
                  <a:lnTo>
                    <a:pt x="76199" y="41279"/>
                  </a:lnTo>
                  <a:lnTo>
                    <a:pt x="2096341" y="41279"/>
                  </a:lnTo>
                  <a:lnTo>
                    <a:pt x="2096341" y="34933"/>
                  </a:lnTo>
                  <a:close/>
                </a:path>
                <a:path w="2172970" h="76200">
                  <a:moveTo>
                    <a:pt x="2166207" y="34933"/>
                  </a:moveTo>
                  <a:lnTo>
                    <a:pt x="2109023" y="34933"/>
                  </a:lnTo>
                  <a:lnTo>
                    <a:pt x="2109023" y="41279"/>
                  </a:lnTo>
                  <a:lnTo>
                    <a:pt x="2166182" y="41279"/>
                  </a:lnTo>
                  <a:lnTo>
                    <a:pt x="2172541" y="38099"/>
                  </a:lnTo>
                  <a:lnTo>
                    <a:pt x="2166207" y="34933"/>
                  </a:lnTo>
                  <a:close/>
                </a:path>
              </a:pathLst>
            </a:custGeom>
            <a:solidFill>
              <a:srgbClr val="F698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78ADED80-5D45-52E1-F94D-33DE6C42CC73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5275" y="3001963"/>
              <a:ext cx="2581275" cy="635000"/>
            </a:xfrm>
            <a:custGeom>
              <a:avLst/>
              <a:gdLst>
                <a:gd name="T0" fmla="*/ 65714 w 2581275"/>
                <a:gd name="T1" fmla="*/ 560130 h 635000"/>
                <a:gd name="T2" fmla="*/ 0 w 2581275"/>
                <a:gd name="T3" fmla="*/ 614385 h 635000"/>
                <a:gd name="T4" fmla="*/ 82814 w 2581275"/>
                <a:gd name="T5" fmla="*/ 634410 h 635000"/>
                <a:gd name="T6" fmla="*/ 75636 w 2581275"/>
                <a:gd name="T7" fmla="*/ 603229 h 635000"/>
                <a:gd name="T8" fmla="*/ 62605 w 2581275"/>
                <a:gd name="T9" fmla="*/ 603229 h 635000"/>
                <a:gd name="T10" fmla="*/ 61173 w 2581275"/>
                <a:gd name="T11" fmla="*/ 597042 h 635000"/>
                <a:gd name="T12" fmla="*/ 73555 w 2581275"/>
                <a:gd name="T13" fmla="*/ 594190 h 635000"/>
                <a:gd name="T14" fmla="*/ 65714 w 2581275"/>
                <a:gd name="T15" fmla="*/ 560130 h 635000"/>
                <a:gd name="T16" fmla="*/ 73555 w 2581275"/>
                <a:gd name="T17" fmla="*/ 594190 h 635000"/>
                <a:gd name="T18" fmla="*/ 61173 w 2581275"/>
                <a:gd name="T19" fmla="*/ 597042 h 635000"/>
                <a:gd name="T20" fmla="*/ 62605 w 2581275"/>
                <a:gd name="T21" fmla="*/ 603229 h 635000"/>
                <a:gd name="T22" fmla="*/ 74980 w 2581275"/>
                <a:gd name="T23" fmla="*/ 600379 h 635000"/>
                <a:gd name="T24" fmla="*/ 73555 w 2581275"/>
                <a:gd name="T25" fmla="*/ 594190 h 635000"/>
                <a:gd name="T26" fmla="*/ 74980 w 2581275"/>
                <a:gd name="T27" fmla="*/ 600379 h 635000"/>
                <a:gd name="T28" fmla="*/ 62605 w 2581275"/>
                <a:gd name="T29" fmla="*/ 603229 h 635000"/>
                <a:gd name="T30" fmla="*/ 75636 w 2581275"/>
                <a:gd name="T31" fmla="*/ 603229 h 635000"/>
                <a:gd name="T32" fmla="*/ 74980 w 2581275"/>
                <a:gd name="T33" fmla="*/ 600379 h 635000"/>
                <a:gd name="T34" fmla="*/ 2505825 w 2581275"/>
                <a:gd name="T35" fmla="*/ 34030 h 635000"/>
                <a:gd name="T36" fmla="*/ 73555 w 2581275"/>
                <a:gd name="T37" fmla="*/ 594190 h 635000"/>
                <a:gd name="T38" fmla="*/ 74980 w 2581275"/>
                <a:gd name="T39" fmla="*/ 600379 h 635000"/>
                <a:gd name="T40" fmla="*/ 2507250 w 2581275"/>
                <a:gd name="T41" fmla="*/ 40219 h 635000"/>
                <a:gd name="T42" fmla="*/ 2505825 w 2581275"/>
                <a:gd name="T43" fmla="*/ 34030 h 635000"/>
                <a:gd name="T44" fmla="*/ 2567282 w 2581275"/>
                <a:gd name="T45" fmla="*/ 31181 h 635000"/>
                <a:gd name="T46" fmla="*/ 2518196 w 2581275"/>
                <a:gd name="T47" fmla="*/ 31181 h 635000"/>
                <a:gd name="T48" fmla="*/ 2519629 w 2581275"/>
                <a:gd name="T49" fmla="*/ 37368 h 635000"/>
                <a:gd name="T50" fmla="*/ 2507250 w 2581275"/>
                <a:gd name="T51" fmla="*/ 40219 h 635000"/>
                <a:gd name="T52" fmla="*/ 2515087 w 2581275"/>
                <a:gd name="T53" fmla="*/ 74249 h 635000"/>
                <a:gd name="T54" fmla="*/ 2567282 w 2581275"/>
                <a:gd name="T55" fmla="*/ 31181 h 635000"/>
                <a:gd name="T56" fmla="*/ 2518196 w 2581275"/>
                <a:gd name="T57" fmla="*/ 31181 h 635000"/>
                <a:gd name="T58" fmla="*/ 2505825 w 2581275"/>
                <a:gd name="T59" fmla="*/ 34030 h 635000"/>
                <a:gd name="T60" fmla="*/ 2507250 w 2581275"/>
                <a:gd name="T61" fmla="*/ 40219 h 635000"/>
                <a:gd name="T62" fmla="*/ 2519629 w 2581275"/>
                <a:gd name="T63" fmla="*/ 37368 h 635000"/>
                <a:gd name="T64" fmla="*/ 2518196 w 2581275"/>
                <a:gd name="T65" fmla="*/ 31181 h 635000"/>
                <a:gd name="T66" fmla="*/ 2497988 w 2581275"/>
                <a:gd name="T67" fmla="*/ 0 h 635000"/>
                <a:gd name="T68" fmla="*/ 2505825 w 2581275"/>
                <a:gd name="T69" fmla="*/ 34030 h 635000"/>
                <a:gd name="T70" fmla="*/ 2518196 w 2581275"/>
                <a:gd name="T71" fmla="*/ 31181 h 635000"/>
                <a:gd name="T72" fmla="*/ 2567282 w 2581275"/>
                <a:gd name="T73" fmla="*/ 31181 h 635000"/>
                <a:gd name="T74" fmla="*/ 2580802 w 2581275"/>
                <a:gd name="T75" fmla="*/ 20025 h 635000"/>
                <a:gd name="T76" fmla="*/ 2497988 w 2581275"/>
                <a:gd name="T77" fmla="*/ 0 h 635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581275" h="635000">
                  <a:moveTo>
                    <a:pt x="65714" y="560130"/>
                  </a:moveTo>
                  <a:lnTo>
                    <a:pt x="0" y="614385"/>
                  </a:lnTo>
                  <a:lnTo>
                    <a:pt x="82814" y="634410"/>
                  </a:lnTo>
                  <a:lnTo>
                    <a:pt x="75636" y="603229"/>
                  </a:lnTo>
                  <a:lnTo>
                    <a:pt x="62605" y="603229"/>
                  </a:lnTo>
                  <a:lnTo>
                    <a:pt x="61173" y="597042"/>
                  </a:lnTo>
                  <a:lnTo>
                    <a:pt x="73555" y="594190"/>
                  </a:lnTo>
                  <a:lnTo>
                    <a:pt x="65714" y="560130"/>
                  </a:lnTo>
                  <a:close/>
                </a:path>
                <a:path w="2581275" h="635000">
                  <a:moveTo>
                    <a:pt x="73555" y="594190"/>
                  </a:moveTo>
                  <a:lnTo>
                    <a:pt x="61173" y="597042"/>
                  </a:lnTo>
                  <a:lnTo>
                    <a:pt x="62605" y="603229"/>
                  </a:lnTo>
                  <a:lnTo>
                    <a:pt x="74980" y="600379"/>
                  </a:lnTo>
                  <a:lnTo>
                    <a:pt x="73555" y="594190"/>
                  </a:lnTo>
                  <a:close/>
                </a:path>
                <a:path w="2581275" h="635000">
                  <a:moveTo>
                    <a:pt x="74980" y="600379"/>
                  </a:moveTo>
                  <a:lnTo>
                    <a:pt x="62605" y="603229"/>
                  </a:lnTo>
                  <a:lnTo>
                    <a:pt x="75636" y="603229"/>
                  </a:lnTo>
                  <a:lnTo>
                    <a:pt x="74980" y="600379"/>
                  </a:lnTo>
                  <a:close/>
                </a:path>
                <a:path w="2581275" h="635000">
                  <a:moveTo>
                    <a:pt x="2505825" y="34030"/>
                  </a:moveTo>
                  <a:lnTo>
                    <a:pt x="73555" y="594190"/>
                  </a:lnTo>
                  <a:lnTo>
                    <a:pt x="74980" y="600379"/>
                  </a:lnTo>
                  <a:lnTo>
                    <a:pt x="2507250" y="40219"/>
                  </a:lnTo>
                  <a:lnTo>
                    <a:pt x="2505825" y="34030"/>
                  </a:lnTo>
                  <a:close/>
                </a:path>
                <a:path w="2581275" h="635000">
                  <a:moveTo>
                    <a:pt x="2567282" y="31181"/>
                  </a:moveTo>
                  <a:lnTo>
                    <a:pt x="2518196" y="31181"/>
                  </a:lnTo>
                  <a:lnTo>
                    <a:pt x="2519629" y="37368"/>
                  </a:lnTo>
                  <a:lnTo>
                    <a:pt x="2507250" y="40219"/>
                  </a:lnTo>
                  <a:lnTo>
                    <a:pt x="2515087" y="74249"/>
                  </a:lnTo>
                  <a:lnTo>
                    <a:pt x="2567282" y="31181"/>
                  </a:lnTo>
                  <a:close/>
                </a:path>
                <a:path w="2581275" h="635000">
                  <a:moveTo>
                    <a:pt x="2518196" y="31181"/>
                  </a:moveTo>
                  <a:lnTo>
                    <a:pt x="2505825" y="34030"/>
                  </a:lnTo>
                  <a:lnTo>
                    <a:pt x="2507250" y="40219"/>
                  </a:lnTo>
                  <a:lnTo>
                    <a:pt x="2519629" y="37368"/>
                  </a:lnTo>
                  <a:lnTo>
                    <a:pt x="2518196" y="31181"/>
                  </a:lnTo>
                  <a:close/>
                </a:path>
                <a:path w="2581275" h="635000">
                  <a:moveTo>
                    <a:pt x="2497988" y="0"/>
                  </a:moveTo>
                  <a:lnTo>
                    <a:pt x="2505825" y="34030"/>
                  </a:lnTo>
                  <a:lnTo>
                    <a:pt x="2518196" y="31181"/>
                  </a:lnTo>
                  <a:lnTo>
                    <a:pt x="2567282" y="31181"/>
                  </a:lnTo>
                  <a:lnTo>
                    <a:pt x="2580802" y="20025"/>
                  </a:lnTo>
                  <a:lnTo>
                    <a:pt x="2497988" y="0"/>
                  </a:lnTo>
                  <a:close/>
                </a:path>
              </a:pathLst>
            </a:custGeom>
            <a:solidFill>
              <a:srgbClr val="44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2E0FDE94-BE6F-280E-8B00-C7A982C6AF3F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5275" y="4248150"/>
              <a:ext cx="2581275" cy="80963"/>
            </a:xfrm>
            <a:custGeom>
              <a:avLst/>
              <a:gdLst>
                <a:gd name="T0" fmla="*/ 76139 w 2581275"/>
                <a:gd name="T1" fmla="*/ 3712 h 80010"/>
                <a:gd name="T2" fmla="*/ 0 w 2581275"/>
                <a:gd name="T3" fmla="*/ 41931 h 80010"/>
                <a:gd name="T4" fmla="*/ 76260 w 2581275"/>
                <a:gd name="T5" fmla="*/ 79912 h 80010"/>
                <a:gd name="T6" fmla="*/ 76205 w 2581275"/>
                <a:gd name="T7" fmla="*/ 45003 h 80010"/>
                <a:gd name="T8" fmla="*/ 63520 w 2581275"/>
                <a:gd name="T9" fmla="*/ 45003 h 80010"/>
                <a:gd name="T10" fmla="*/ 63489 w 2581275"/>
                <a:gd name="T11" fmla="*/ 38657 h 80010"/>
                <a:gd name="T12" fmla="*/ 76194 w 2581275"/>
                <a:gd name="T13" fmla="*/ 38638 h 80010"/>
                <a:gd name="T14" fmla="*/ 76139 w 2581275"/>
                <a:gd name="T15" fmla="*/ 3712 h 80010"/>
                <a:gd name="T16" fmla="*/ 2574584 w 2581275"/>
                <a:gd name="T17" fmla="*/ 34896 h 80010"/>
                <a:gd name="T18" fmla="*/ 2517251 w 2581275"/>
                <a:gd name="T19" fmla="*/ 34896 h 80010"/>
                <a:gd name="T20" fmla="*/ 2517251 w 2581275"/>
                <a:gd name="T21" fmla="*/ 41254 h 80010"/>
                <a:gd name="T22" fmla="*/ 2504560 w 2581275"/>
                <a:gd name="T23" fmla="*/ 41274 h 80010"/>
                <a:gd name="T24" fmla="*/ 2504602 w 2581275"/>
                <a:gd name="T25" fmla="*/ 76199 h 80010"/>
                <a:gd name="T26" fmla="*/ 2580772 w 2581275"/>
                <a:gd name="T27" fmla="*/ 37978 h 80010"/>
                <a:gd name="T28" fmla="*/ 2574584 w 2581275"/>
                <a:gd name="T29" fmla="*/ 34896 h 80010"/>
                <a:gd name="T30" fmla="*/ 76194 w 2581275"/>
                <a:gd name="T31" fmla="*/ 38638 h 80010"/>
                <a:gd name="T32" fmla="*/ 63489 w 2581275"/>
                <a:gd name="T33" fmla="*/ 38657 h 80010"/>
                <a:gd name="T34" fmla="*/ 63520 w 2581275"/>
                <a:gd name="T35" fmla="*/ 45003 h 80010"/>
                <a:gd name="T36" fmla="*/ 76205 w 2581275"/>
                <a:gd name="T37" fmla="*/ 44984 h 80010"/>
                <a:gd name="T38" fmla="*/ 76194 w 2581275"/>
                <a:gd name="T39" fmla="*/ 38638 h 80010"/>
                <a:gd name="T40" fmla="*/ 76205 w 2581275"/>
                <a:gd name="T41" fmla="*/ 44984 h 80010"/>
                <a:gd name="T42" fmla="*/ 63520 w 2581275"/>
                <a:gd name="T43" fmla="*/ 45003 h 80010"/>
                <a:gd name="T44" fmla="*/ 76205 w 2581275"/>
                <a:gd name="T45" fmla="*/ 45003 h 80010"/>
                <a:gd name="T46" fmla="*/ 76205 w 2581275"/>
                <a:gd name="T47" fmla="*/ 44984 h 80010"/>
                <a:gd name="T48" fmla="*/ 2504552 w 2581275"/>
                <a:gd name="T49" fmla="*/ 34916 h 80010"/>
                <a:gd name="T50" fmla="*/ 76194 w 2581275"/>
                <a:gd name="T51" fmla="*/ 38638 h 80010"/>
                <a:gd name="T52" fmla="*/ 76205 w 2581275"/>
                <a:gd name="T53" fmla="*/ 44984 h 80010"/>
                <a:gd name="T54" fmla="*/ 2504560 w 2581275"/>
                <a:gd name="T55" fmla="*/ 41274 h 80010"/>
                <a:gd name="T56" fmla="*/ 2504552 w 2581275"/>
                <a:gd name="T57" fmla="*/ 34916 h 80010"/>
                <a:gd name="T58" fmla="*/ 2517251 w 2581275"/>
                <a:gd name="T59" fmla="*/ 34896 h 80010"/>
                <a:gd name="T60" fmla="*/ 2504552 w 2581275"/>
                <a:gd name="T61" fmla="*/ 34916 h 80010"/>
                <a:gd name="T62" fmla="*/ 2504560 w 2581275"/>
                <a:gd name="T63" fmla="*/ 41274 h 80010"/>
                <a:gd name="T64" fmla="*/ 2517251 w 2581275"/>
                <a:gd name="T65" fmla="*/ 41254 h 80010"/>
                <a:gd name="T66" fmla="*/ 2517251 w 2581275"/>
                <a:gd name="T67" fmla="*/ 34896 h 80010"/>
                <a:gd name="T68" fmla="*/ 2504511 w 2581275"/>
                <a:gd name="T69" fmla="*/ 0 h 80010"/>
                <a:gd name="T70" fmla="*/ 2504552 w 2581275"/>
                <a:gd name="T71" fmla="*/ 34916 h 80010"/>
                <a:gd name="T72" fmla="*/ 2574584 w 2581275"/>
                <a:gd name="T73" fmla="*/ 34896 h 80010"/>
                <a:gd name="T74" fmla="*/ 2504511 w 2581275"/>
                <a:gd name="T75" fmla="*/ 0 h 800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581275" h="80010">
                  <a:moveTo>
                    <a:pt x="76139" y="3712"/>
                  </a:moveTo>
                  <a:lnTo>
                    <a:pt x="0" y="41931"/>
                  </a:lnTo>
                  <a:lnTo>
                    <a:pt x="76260" y="79912"/>
                  </a:lnTo>
                  <a:lnTo>
                    <a:pt x="76205" y="45003"/>
                  </a:lnTo>
                  <a:lnTo>
                    <a:pt x="63520" y="45003"/>
                  </a:lnTo>
                  <a:lnTo>
                    <a:pt x="63489" y="38657"/>
                  </a:lnTo>
                  <a:lnTo>
                    <a:pt x="76194" y="38638"/>
                  </a:lnTo>
                  <a:lnTo>
                    <a:pt x="76139" y="3712"/>
                  </a:lnTo>
                  <a:close/>
                </a:path>
                <a:path w="2581275" h="80010">
                  <a:moveTo>
                    <a:pt x="2574584" y="34896"/>
                  </a:moveTo>
                  <a:lnTo>
                    <a:pt x="2517251" y="34896"/>
                  </a:lnTo>
                  <a:lnTo>
                    <a:pt x="2517251" y="41254"/>
                  </a:lnTo>
                  <a:lnTo>
                    <a:pt x="2504560" y="41274"/>
                  </a:lnTo>
                  <a:lnTo>
                    <a:pt x="2504602" y="76199"/>
                  </a:lnTo>
                  <a:lnTo>
                    <a:pt x="2580772" y="37978"/>
                  </a:lnTo>
                  <a:lnTo>
                    <a:pt x="2574584" y="34896"/>
                  </a:lnTo>
                  <a:close/>
                </a:path>
                <a:path w="2581275" h="80010">
                  <a:moveTo>
                    <a:pt x="76194" y="38638"/>
                  </a:moveTo>
                  <a:lnTo>
                    <a:pt x="63489" y="38657"/>
                  </a:lnTo>
                  <a:lnTo>
                    <a:pt x="63520" y="45003"/>
                  </a:lnTo>
                  <a:lnTo>
                    <a:pt x="76205" y="44984"/>
                  </a:lnTo>
                  <a:lnTo>
                    <a:pt x="76194" y="38638"/>
                  </a:lnTo>
                  <a:close/>
                </a:path>
                <a:path w="2581275" h="80010">
                  <a:moveTo>
                    <a:pt x="76205" y="44984"/>
                  </a:moveTo>
                  <a:lnTo>
                    <a:pt x="63520" y="45003"/>
                  </a:lnTo>
                  <a:lnTo>
                    <a:pt x="76205" y="45003"/>
                  </a:lnTo>
                  <a:lnTo>
                    <a:pt x="76205" y="44984"/>
                  </a:lnTo>
                  <a:close/>
                </a:path>
                <a:path w="2581275" h="80010">
                  <a:moveTo>
                    <a:pt x="2504552" y="34916"/>
                  </a:moveTo>
                  <a:lnTo>
                    <a:pt x="76194" y="38638"/>
                  </a:lnTo>
                  <a:lnTo>
                    <a:pt x="76205" y="44984"/>
                  </a:lnTo>
                  <a:lnTo>
                    <a:pt x="2504560" y="41274"/>
                  </a:lnTo>
                  <a:lnTo>
                    <a:pt x="2504552" y="34916"/>
                  </a:lnTo>
                  <a:close/>
                </a:path>
                <a:path w="2581275" h="80010">
                  <a:moveTo>
                    <a:pt x="2517251" y="34896"/>
                  </a:moveTo>
                  <a:lnTo>
                    <a:pt x="2504552" y="34916"/>
                  </a:lnTo>
                  <a:lnTo>
                    <a:pt x="2504560" y="41274"/>
                  </a:lnTo>
                  <a:lnTo>
                    <a:pt x="2517251" y="41254"/>
                  </a:lnTo>
                  <a:lnTo>
                    <a:pt x="2517251" y="34896"/>
                  </a:lnTo>
                  <a:close/>
                </a:path>
                <a:path w="2581275" h="80010">
                  <a:moveTo>
                    <a:pt x="2504511" y="0"/>
                  </a:moveTo>
                  <a:lnTo>
                    <a:pt x="2504552" y="34916"/>
                  </a:lnTo>
                  <a:lnTo>
                    <a:pt x="2574584" y="34896"/>
                  </a:lnTo>
                  <a:lnTo>
                    <a:pt x="2504511" y="0"/>
                  </a:lnTo>
                  <a:close/>
                </a:path>
              </a:pathLst>
            </a:custGeom>
            <a:solidFill>
              <a:srgbClr val="5091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16FBA999-50AA-1689-13F8-ECAFDA681014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5275" y="5140325"/>
              <a:ext cx="2581275" cy="400050"/>
            </a:xfrm>
            <a:custGeom>
              <a:avLst/>
              <a:gdLst>
                <a:gd name="T0" fmla="*/ 2504823 w 2581275"/>
                <a:gd name="T1" fmla="*/ 364620 h 399414"/>
                <a:gd name="T2" fmla="*/ 2500213 w 2581275"/>
                <a:gd name="T3" fmla="*/ 399242 h 399414"/>
                <a:gd name="T4" fmla="*/ 2580772 w 2581275"/>
                <a:gd name="T5" fmla="*/ 371535 h 399414"/>
                <a:gd name="T6" fmla="*/ 2573048 w 2581275"/>
                <a:gd name="T7" fmla="*/ 366296 h 399414"/>
                <a:gd name="T8" fmla="*/ 2517404 w 2581275"/>
                <a:gd name="T9" fmla="*/ 366296 h 399414"/>
                <a:gd name="T10" fmla="*/ 2504823 w 2581275"/>
                <a:gd name="T11" fmla="*/ 364620 h 399414"/>
                <a:gd name="T12" fmla="*/ 2505660 w 2581275"/>
                <a:gd name="T13" fmla="*/ 358337 h 399414"/>
                <a:gd name="T14" fmla="*/ 2504823 w 2581275"/>
                <a:gd name="T15" fmla="*/ 364620 h 399414"/>
                <a:gd name="T16" fmla="*/ 2517404 w 2581275"/>
                <a:gd name="T17" fmla="*/ 366296 h 399414"/>
                <a:gd name="T18" fmla="*/ 2518227 w 2581275"/>
                <a:gd name="T19" fmla="*/ 360011 h 399414"/>
                <a:gd name="T20" fmla="*/ 2505660 w 2581275"/>
                <a:gd name="T21" fmla="*/ 358337 h 399414"/>
                <a:gd name="T22" fmla="*/ 2510271 w 2581275"/>
                <a:gd name="T23" fmla="*/ 323706 h 399414"/>
                <a:gd name="T24" fmla="*/ 2505660 w 2581275"/>
                <a:gd name="T25" fmla="*/ 358337 h 399414"/>
                <a:gd name="T26" fmla="*/ 2518227 w 2581275"/>
                <a:gd name="T27" fmla="*/ 360011 h 399414"/>
                <a:gd name="T28" fmla="*/ 2517404 w 2581275"/>
                <a:gd name="T29" fmla="*/ 366296 h 399414"/>
                <a:gd name="T30" fmla="*/ 2573048 w 2581275"/>
                <a:gd name="T31" fmla="*/ 366296 h 399414"/>
                <a:gd name="T32" fmla="*/ 2510271 w 2581275"/>
                <a:gd name="T33" fmla="*/ 323706 h 399414"/>
                <a:gd name="T34" fmla="*/ 75964 w 2581275"/>
                <a:gd name="T35" fmla="*/ 34624 h 399414"/>
                <a:gd name="T36" fmla="*/ 75123 w 2581275"/>
                <a:gd name="T37" fmla="*/ 40918 h 399414"/>
                <a:gd name="T38" fmla="*/ 2504823 w 2581275"/>
                <a:gd name="T39" fmla="*/ 364620 h 399414"/>
                <a:gd name="T40" fmla="*/ 2505660 w 2581275"/>
                <a:gd name="T41" fmla="*/ 358337 h 399414"/>
                <a:gd name="T42" fmla="*/ 75964 w 2581275"/>
                <a:gd name="T43" fmla="*/ 34624 h 399414"/>
                <a:gd name="T44" fmla="*/ 80589 w 2581275"/>
                <a:gd name="T45" fmla="*/ 0 h 399414"/>
                <a:gd name="T46" fmla="*/ 0 w 2581275"/>
                <a:gd name="T47" fmla="*/ 27706 h 399414"/>
                <a:gd name="T48" fmla="*/ 70500 w 2581275"/>
                <a:gd name="T49" fmla="*/ 75532 h 399414"/>
                <a:gd name="T50" fmla="*/ 75123 w 2581275"/>
                <a:gd name="T51" fmla="*/ 40918 h 399414"/>
                <a:gd name="T52" fmla="*/ 62544 w 2581275"/>
                <a:gd name="T53" fmla="*/ 39242 h 399414"/>
                <a:gd name="T54" fmla="*/ 63367 w 2581275"/>
                <a:gd name="T55" fmla="*/ 32945 h 399414"/>
                <a:gd name="T56" fmla="*/ 76188 w 2581275"/>
                <a:gd name="T57" fmla="*/ 32945 h 399414"/>
                <a:gd name="T58" fmla="*/ 80589 w 2581275"/>
                <a:gd name="T59" fmla="*/ 0 h 399414"/>
                <a:gd name="T60" fmla="*/ 63367 w 2581275"/>
                <a:gd name="T61" fmla="*/ 32945 h 399414"/>
                <a:gd name="T62" fmla="*/ 62544 w 2581275"/>
                <a:gd name="T63" fmla="*/ 39242 h 399414"/>
                <a:gd name="T64" fmla="*/ 75123 w 2581275"/>
                <a:gd name="T65" fmla="*/ 40918 h 399414"/>
                <a:gd name="T66" fmla="*/ 75964 w 2581275"/>
                <a:gd name="T67" fmla="*/ 34624 h 399414"/>
                <a:gd name="T68" fmla="*/ 63367 w 2581275"/>
                <a:gd name="T69" fmla="*/ 32945 h 399414"/>
                <a:gd name="T70" fmla="*/ 76188 w 2581275"/>
                <a:gd name="T71" fmla="*/ 32945 h 399414"/>
                <a:gd name="T72" fmla="*/ 63367 w 2581275"/>
                <a:gd name="T73" fmla="*/ 32945 h 399414"/>
                <a:gd name="T74" fmla="*/ 75964 w 2581275"/>
                <a:gd name="T75" fmla="*/ 34624 h 399414"/>
                <a:gd name="T76" fmla="*/ 76188 w 2581275"/>
                <a:gd name="T77" fmla="*/ 32945 h 399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581275" h="399414">
                  <a:moveTo>
                    <a:pt x="2504823" y="364620"/>
                  </a:moveTo>
                  <a:lnTo>
                    <a:pt x="2500213" y="399242"/>
                  </a:lnTo>
                  <a:lnTo>
                    <a:pt x="2580772" y="371535"/>
                  </a:lnTo>
                  <a:lnTo>
                    <a:pt x="2573048" y="366296"/>
                  </a:lnTo>
                  <a:lnTo>
                    <a:pt x="2517404" y="366296"/>
                  </a:lnTo>
                  <a:lnTo>
                    <a:pt x="2504823" y="364620"/>
                  </a:lnTo>
                  <a:close/>
                </a:path>
                <a:path w="2581275" h="399414">
                  <a:moveTo>
                    <a:pt x="2505660" y="358337"/>
                  </a:moveTo>
                  <a:lnTo>
                    <a:pt x="2504823" y="364620"/>
                  </a:lnTo>
                  <a:lnTo>
                    <a:pt x="2517404" y="366296"/>
                  </a:lnTo>
                  <a:lnTo>
                    <a:pt x="2518227" y="360011"/>
                  </a:lnTo>
                  <a:lnTo>
                    <a:pt x="2505660" y="358337"/>
                  </a:lnTo>
                  <a:close/>
                </a:path>
                <a:path w="2581275" h="399414">
                  <a:moveTo>
                    <a:pt x="2510271" y="323706"/>
                  </a:moveTo>
                  <a:lnTo>
                    <a:pt x="2505660" y="358337"/>
                  </a:lnTo>
                  <a:lnTo>
                    <a:pt x="2518227" y="360011"/>
                  </a:lnTo>
                  <a:lnTo>
                    <a:pt x="2517404" y="366296"/>
                  </a:lnTo>
                  <a:lnTo>
                    <a:pt x="2573048" y="366296"/>
                  </a:lnTo>
                  <a:lnTo>
                    <a:pt x="2510271" y="323706"/>
                  </a:lnTo>
                  <a:close/>
                </a:path>
                <a:path w="2581275" h="399414">
                  <a:moveTo>
                    <a:pt x="75964" y="34624"/>
                  </a:moveTo>
                  <a:lnTo>
                    <a:pt x="75123" y="40918"/>
                  </a:lnTo>
                  <a:lnTo>
                    <a:pt x="2504823" y="364620"/>
                  </a:lnTo>
                  <a:lnTo>
                    <a:pt x="2505660" y="358337"/>
                  </a:lnTo>
                  <a:lnTo>
                    <a:pt x="75964" y="34624"/>
                  </a:lnTo>
                  <a:close/>
                </a:path>
                <a:path w="2581275" h="399414">
                  <a:moveTo>
                    <a:pt x="80589" y="0"/>
                  </a:moveTo>
                  <a:lnTo>
                    <a:pt x="0" y="27706"/>
                  </a:lnTo>
                  <a:lnTo>
                    <a:pt x="70500" y="75532"/>
                  </a:lnTo>
                  <a:lnTo>
                    <a:pt x="75123" y="40918"/>
                  </a:lnTo>
                  <a:lnTo>
                    <a:pt x="62544" y="39242"/>
                  </a:lnTo>
                  <a:lnTo>
                    <a:pt x="63367" y="32945"/>
                  </a:lnTo>
                  <a:lnTo>
                    <a:pt x="76188" y="32945"/>
                  </a:lnTo>
                  <a:lnTo>
                    <a:pt x="80589" y="0"/>
                  </a:lnTo>
                  <a:close/>
                </a:path>
                <a:path w="2581275" h="399414">
                  <a:moveTo>
                    <a:pt x="63367" y="32945"/>
                  </a:moveTo>
                  <a:lnTo>
                    <a:pt x="62544" y="39242"/>
                  </a:lnTo>
                  <a:lnTo>
                    <a:pt x="75123" y="40918"/>
                  </a:lnTo>
                  <a:lnTo>
                    <a:pt x="75964" y="34624"/>
                  </a:lnTo>
                  <a:lnTo>
                    <a:pt x="63367" y="32945"/>
                  </a:lnTo>
                  <a:close/>
                </a:path>
                <a:path w="2581275" h="399414">
                  <a:moveTo>
                    <a:pt x="76188" y="32945"/>
                  </a:moveTo>
                  <a:lnTo>
                    <a:pt x="63367" y="32945"/>
                  </a:lnTo>
                  <a:lnTo>
                    <a:pt x="75964" y="34624"/>
                  </a:lnTo>
                  <a:lnTo>
                    <a:pt x="76188" y="32945"/>
                  </a:lnTo>
                  <a:close/>
                </a:path>
              </a:pathLst>
            </a:custGeom>
            <a:solidFill>
              <a:srgbClr val="F698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9976280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425EB-A827-4ECA-B660-7E712BA37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a load balancer?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549DD-E5E6-DF35-37A1-C27A2B18C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Spread load across multiple downstream instances</a:t>
            </a:r>
          </a:p>
          <a:p>
            <a:r>
              <a:rPr lang="en-US" dirty="0"/>
              <a:t>Expose a single point of access (DNS) to your application</a:t>
            </a:r>
          </a:p>
          <a:p>
            <a:r>
              <a:rPr lang="en-US" dirty="0"/>
              <a:t>Seamlessly handle failures of downstream instances</a:t>
            </a:r>
          </a:p>
          <a:p>
            <a:r>
              <a:rPr lang="en-US" dirty="0"/>
              <a:t>Do regular health checks to your instances</a:t>
            </a:r>
          </a:p>
          <a:p>
            <a:r>
              <a:rPr lang="en-US" dirty="0"/>
              <a:t>Provide SSL termination (HTTPS) for your websites</a:t>
            </a:r>
          </a:p>
          <a:p>
            <a:r>
              <a:rPr lang="en-US" dirty="0"/>
              <a:t>Enforce stickiness with cookies</a:t>
            </a:r>
          </a:p>
          <a:p>
            <a:r>
              <a:rPr lang="en-US" dirty="0"/>
              <a:t>High availability across zones</a:t>
            </a:r>
          </a:p>
          <a:p>
            <a:r>
              <a:rPr lang="en-US" dirty="0"/>
              <a:t>Separate public traffic from private traffic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42819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DF77E-B96F-5D05-4F2D-1708BC148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an Elastic Load Balancer?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9CDDF-4EA9-38B4-C2A1-AF834F5BED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An Elastic Load Balancer is a managed load balancer</a:t>
            </a:r>
          </a:p>
          <a:p>
            <a:r>
              <a:rPr lang="en-US" dirty="0"/>
              <a:t>AWS guarantees that it will be working</a:t>
            </a:r>
          </a:p>
          <a:p>
            <a:r>
              <a:rPr lang="en-US" dirty="0"/>
              <a:t>AWS takes care of upgrades, maintenance, high availability</a:t>
            </a:r>
          </a:p>
          <a:p>
            <a:r>
              <a:rPr lang="en-US" dirty="0"/>
              <a:t>AWS provides only a few configuration knobs</a:t>
            </a:r>
          </a:p>
          <a:p>
            <a:endParaRPr lang="en-US" dirty="0"/>
          </a:p>
          <a:p>
            <a:r>
              <a:rPr lang="en-US" dirty="0"/>
              <a:t>It costs less to setup your own load balancer but it will be a lot more effort on your end</a:t>
            </a:r>
          </a:p>
          <a:p>
            <a:endParaRPr lang="en-US" dirty="0"/>
          </a:p>
          <a:p>
            <a:r>
              <a:rPr lang="en-US" b="1" dirty="0"/>
              <a:t>It is integrated with many AWS offerings / services</a:t>
            </a:r>
          </a:p>
          <a:p>
            <a:r>
              <a:rPr lang="en-US" dirty="0"/>
              <a:t>EC2, EC2 Auto Scaling Groups, Amazon ECS</a:t>
            </a:r>
          </a:p>
          <a:p>
            <a:r>
              <a:rPr lang="en-US" dirty="0"/>
              <a:t>AWS Certificate Manager (ACM), CloudWatch</a:t>
            </a:r>
          </a:p>
          <a:p>
            <a:r>
              <a:rPr lang="en-US" dirty="0"/>
              <a:t>Route 53, AWS WAF, AWS Global Accelerator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928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537CD-8B97-1D93-7BCD-07A27FD2B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Health Checks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F8643-DC2E-7B8A-A71F-6D86ECAE21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Health Checks are crucial for Load Balancers</a:t>
            </a:r>
          </a:p>
          <a:p>
            <a:r>
              <a:rPr lang="en-US" dirty="0"/>
              <a:t>They enable the load balancer to know if instances it forwards traffic to are available to reply to requests</a:t>
            </a:r>
          </a:p>
          <a:p>
            <a:r>
              <a:rPr lang="en-US" dirty="0"/>
              <a:t>The health check is done on a port and a route (/health is common)</a:t>
            </a:r>
          </a:p>
          <a:p>
            <a:r>
              <a:rPr lang="en-US" dirty="0"/>
              <a:t>If the response is not 200 (OK), then the instance is unhealthy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E9192F-86BB-BF95-1D63-509B9D48B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0131" y="4154042"/>
            <a:ext cx="7151228" cy="187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2445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537CD-8B97-1D93-7BCD-07A27FD2B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load balancer on AWS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F8643-DC2E-7B8A-A71F-6D86ECAE21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AWS has 4 kinds of managed Load Balancers</a:t>
            </a:r>
          </a:p>
          <a:p>
            <a:r>
              <a:rPr lang="en-US" dirty="0"/>
              <a:t>Classic Load Balancer (v1 - old generation) – 2009 – CLB</a:t>
            </a:r>
          </a:p>
          <a:p>
            <a:pPr lvl="1"/>
            <a:r>
              <a:rPr lang="en-US" dirty="0"/>
              <a:t>HTTP,  HTTPS,TCP, SSL (secure TCP)</a:t>
            </a:r>
          </a:p>
          <a:p>
            <a:r>
              <a:rPr lang="en-US" dirty="0"/>
              <a:t>Application Load Balancer (v2 - new generation) – 2016 – ALB</a:t>
            </a:r>
          </a:p>
          <a:p>
            <a:pPr lvl="1"/>
            <a:r>
              <a:rPr lang="en-US" dirty="0"/>
              <a:t>HTTP,  HTTPS, WebSocket</a:t>
            </a:r>
          </a:p>
          <a:p>
            <a:r>
              <a:rPr lang="en-US" dirty="0"/>
              <a:t>Network Load Balancer (v2 - new generation) – 2017 – NLB</a:t>
            </a:r>
          </a:p>
          <a:p>
            <a:pPr lvl="1"/>
            <a:r>
              <a:rPr lang="en-US" dirty="0"/>
              <a:t>TCP, TLS (secure TCP), UDP</a:t>
            </a:r>
          </a:p>
          <a:p>
            <a:r>
              <a:rPr lang="en-US" dirty="0"/>
              <a:t>Gateway Load Balancer – 2020 – GWLB</a:t>
            </a:r>
          </a:p>
          <a:p>
            <a:pPr lvl="1"/>
            <a:r>
              <a:rPr lang="en-US" dirty="0"/>
              <a:t>Operates at layer 3 (Network layer) – IP Protocol</a:t>
            </a:r>
          </a:p>
          <a:p>
            <a:endParaRPr lang="en-US" dirty="0"/>
          </a:p>
          <a:p>
            <a:r>
              <a:rPr lang="en-US" dirty="0"/>
              <a:t>Overall, it is recommended to use the newer generation load balancers as they provide more features</a:t>
            </a:r>
          </a:p>
          <a:p>
            <a:r>
              <a:rPr lang="en-US" dirty="0"/>
              <a:t>Some load balancers can be setup as internal (private) or external (public) ELBs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82734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2519C-B3AA-029F-809C-0896F7187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Balancer Security 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EC10B-79CF-28E0-C9AC-D0B99E4DA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86CE072-70D2-5B85-15E0-691D110A863A}"/>
              </a:ext>
            </a:extLst>
          </p:cNvPr>
          <p:cNvGrpSpPr/>
          <p:nvPr/>
        </p:nvGrpSpPr>
        <p:grpSpPr>
          <a:xfrm>
            <a:off x="444500" y="1446213"/>
            <a:ext cx="10077450" cy="1692275"/>
            <a:chOff x="444500" y="1446213"/>
            <a:chExt cx="10077450" cy="1692275"/>
          </a:xfrm>
        </p:grpSpPr>
        <p:sp>
          <p:nvSpPr>
            <p:cNvPr id="16" name="object 10">
              <a:extLst>
                <a:ext uri="{FF2B5EF4-FFF2-40B4-BE49-F238E27FC236}">
                  <a16:creationId xmlns:a16="http://schemas.microsoft.com/office/drawing/2014/main" id="{8D6D1B82-3526-336D-8C9F-E8C1710558F0}"/>
                </a:ext>
              </a:extLst>
            </p:cNvPr>
            <p:cNvSpPr txBox="1"/>
            <p:nvPr/>
          </p:nvSpPr>
          <p:spPr>
            <a:xfrm>
              <a:off x="444500" y="1446213"/>
              <a:ext cx="4295775" cy="1692275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2827655" fontAlgn="auto">
                <a:lnSpc>
                  <a:spcPts val="212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dirty="0">
                  <a:solidFill>
                    <a:srgbClr val="444949"/>
                  </a:solidFill>
                  <a:latin typeface="Calibri"/>
                  <a:cs typeface="Calibri"/>
                </a:rPr>
                <a:t>H</a:t>
              </a:r>
              <a:r>
                <a:rPr spc="20" dirty="0">
                  <a:solidFill>
                    <a:srgbClr val="444949"/>
                  </a:solidFill>
                  <a:latin typeface="Calibri"/>
                  <a:cs typeface="Calibri"/>
                </a:rPr>
                <a:t>T</a:t>
              </a:r>
              <a:r>
                <a:rPr spc="-5" dirty="0">
                  <a:solidFill>
                    <a:srgbClr val="444949"/>
                  </a:solidFill>
                  <a:latin typeface="Calibri"/>
                  <a:cs typeface="Calibri"/>
                </a:rPr>
                <a:t>T</a:t>
              </a:r>
              <a:r>
                <a:rPr spc="-15" dirty="0">
                  <a:solidFill>
                    <a:srgbClr val="444949"/>
                  </a:solidFill>
                  <a:latin typeface="Calibri"/>
                  <a:cs typeface="Calibri"/>
                </a:rPr>
                <a:t>P</a:t>
              </a:r>
              <a:r>
                <a:rPr dirty="0">
                  <a:solidFill>
                    <a:srgbClr val="444949"/>
                  </a:solidFill>
                  <a:latin typeface="Calibri"/>
                  <a:cs typeface="Calibri"/>
                </a:rPr>
                <a:t>S</a:t>
              </a:r>
              <a:r>
                <a:rPr spc="-45" dirty="0">
                  <a:solidFill>
                    <a:srgbClr val="444949"/>
                  </a:solidFill>
                  <a:latin typeface="Times New Roman"/>
                  <a:cs typeface="Times New Roman"/>
                </a:rPr>
                <a:t> </a:t>
              </a:r>
              <a:r>
                <a:rPr dirty="0">
                  <a:solidFill>
                    <a:srgbClr val="444949"/>
                  </a:solidFill>
                  <a:latin typeface="Calibri"/>
                  <a:cs typeface="Calibri"/>
                </a:rPr>
                <a:t>/</a:t>
              </a:r>
              <a:r>
                <a:rPr spc="-35" dirty="0">
                  <a:solidFill>
                    <a:srgbClr val="444949"/>
                  </a:solidFill>
                  <a:latin typeface="Times New Roman"/>
                  <a:cs typeface="Times New Roman"/>
                </a:rPr>
                <a:t> </a:t>
              </a:r>
              <a:r>
                <a:rPr dirty="0">
                  <a:solidFill>
                    <a:srgbClr val="444949"/>
                  </a:solidFill>
                  <a:latin typeface="Calibri"/>
                  <a:cs typeface="Calibri"/>
                </a:rPr>
                <a:t>H</a:t>
              </a:r>
              <a:r>
                <a:rPr spc="20" dirty="0">
                  <a:solidFill>
                    <a:srgbClr val="444949"/>
                  </a:solidFill>
                  <a:latin typeface="Calibri"/>
                  <a:cs typeface="Calibri"/>
                </a:rPr>
                <a:t>T</a:t>
              </a:r>
              <a:r>
                <a:rPr spc="-5" dirty="0">
                  <a:solidFill>
                    <a:srgbClr val="444949"/>
                  </a:solidFill>
                  <a:latin typeface="Calibri"/>
                  <a:cs typeface="Calibri"/>
                </a:rPr>
                <a:t>T</a:t>
              </a:r>
              <a:r>
                <a:rPr spc="-10" dirty="0">
                  <a:solidFill>
                    <a:srgbClr val="444949"/>
                  </a:solidFill>
                  <a:latin typeface="Calibri"/>
                  <a:cs typeface="Calibri"/>
                </a:rPr>
                <a:t>P</a:t>
              </a:r>
              <a:endParaRPr dirty="0">
                <a:latin typeface="Calibri"/>
                <a:cs typeface="Calibri"/>
              </a:endParaRPr>
            </a:p>
            <a:p>
              <a:pPr marL="2827655" fontAlgn="auto">
                <a:lnSpc>
                  <a:spcPts val="191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spc="-5" dirty="0">
                  <a:solidFill>
                    <a:srgbClr val="444949"/>
                  </a:solidFill>
                  <a:latin typeface="Calibri"/>
                  <a:cs typeface="Calibri"/>
                </a:rPr>
                <a:t>F</a:t>
              </a:r>
              <a:r>
                <a:rPr spc="-35" dirty="0">
                  <a:solidFill>
                    <a:srgbClr val="444949"/>
                  </a:solidFill>
                  <a:latin typeface="Calibri"/>
                  <a:cs typeface="Calibri"/>
                </a:rPr>
                <a:t>r</a:t>
              </a:r>
              <a:r>
                <a:rPr dirty="0">
                  <a:solidFill>
                    <a:srgbClr val="444949"/>
                  </a:solidFill>
                  <a:latin typeface="Calibri"/>
                  <a:cs typeface="Calibri"/>
                </a:rPr>
                <a:t>o</a:t>
              </a:r>
              <a:r>
                <a:rPr spc="-15" dirty="0">
                  <a:solidFill>
                    <a:srgbClr val="444949"/>
                  </a:solidFill>
                  <a:latin typeface="Calibri"/>
                  <a:cs typeface="Calibri"/>
                </a:rPr>
                <a:t>m</a:t>
              </a:r>
              <a:r>
                <a:rPr spc="-40" dirty="0">
                  <a:solidFill>
                    <a:srgbClr val="444949"/>
                  </a:solidFill>
                  <a:latin typeface="Times New Roman"/>
                  <a:cs typeface="Times New Roman"/>
                </a:rPr>
                <a:t> </a:t>
              </a:r>
              <a:r>
                <a:rPr dirty="0">
                  <a:solidFill>
                    <a:srgbClr val="444949"/>
                  </a:solidFill>
                  <a:latin typeface="Calibri"/>
                  <a:cs typeface="Calibri"/>
                </a:rPr>
                <a:t>a</a:t>
              </a:r>
              <a:r>
                <a:rPr spc="-30" dirty="0">
                  <a:solidFill>
                    <a:srgbClr val="444949"/>
                  </a:solidFill>
                  <a:latin typeface="Calibri"/>
                  <a:cs typeface="Calibri"/>
                </a:rPr>
                <a:t>n</a:t>
              </a:r>
              <a:r>
                <a:rPr spc="-15" dirty="0">
                  <a:solidFill>
                    <a:srgbClr val="444949"/>
                  </a:solidFill>
                  <a:latin typeface="Calibri"/>
                  <a:cs typeface="Calibri"/>
                </a:rPr>
                <a:t>yw</a:t>
              </a:r>
              <a:r>
                <a:rPr spc="5" dirty="0">
                  <a:solidFill>
                    <a:srgbClr val="444949"/>
                  </a:solidFill>
                  <a:latin typeface="Calibri"/>
                  <a:cs typeface="Calibri"/>
                </a:rPr>
                <a:t>h</a:t>
              </a:r>
              <a:r>
                <a:rPr spc="-5" dirty="0">
                  <a:solidFill>
                    <a:srgbClr val="444949"/>
                  </a:solidFill>
                  <a:latin typeface="Calibri"/>
                  <a:cs typeface="Calibri"/>
                </a:rPr>
                <a:t>e</a:t>
              </a:r>
              <a:r>
                <a:rPr spc="-40" dirty="0">
                  <a:solidFill>
                    <a:srgbClr val="444949"/>
                  </a:solidFill>
                  <a:latin typeface="Calibri"/>
                  <a:cs typeface="Calibri"/>
                </a:rPr>
                <a:t>r</a:t>
              </a:r>
              <a:r>
                <a:rPr spc="-10" dirty="0">
                  <a:solidFill>
                    <a:srgbClr val="444949"/>
                  </a:solidFill>
                  <a:latin typeface="Calibri"/>
                  <a:cs typeface="Calibri"/>
                </a:rPr>
                <a:t>e</a:t>
              </a:r>
              <a:endParaRPr dirty="0">
                <a:latin typeface="Calibri"/>
                <a:cs typeface="Calibri"/>
              </a:endParaRPr>
            </a:p>
            <a:p>
              <a:pPr marL="1304290" fontAlgn="auto">
                <a:lnSpc>
                  <a:spcPts val="315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sz="2800" b="1" spc="-25" dirty="0">
                  <a:solidFill>
                    <a:srgbClr val="444949"/>
                  </a:solidFill>
                  <a:latin typeface="Calibri"/>
                  <a:cs typeface="Calibri"/>
                </a:rPr>
                <a:t>Us</a:t>
              </a:r>
              <a:r>
                <a:rPr sz="2800" b="1" dirty="0">
                  <a:solidFill>
                    <a:srgbClr val="444949"/>
                  </a:solidFill>
                  <a:latin typeface="Calibri"/>
                  <a:cs typeface="Calibri"/>
                </a:rPr>
                <a:t>e</a:t>
              </a:r>
              <a:r>
                <a:rPr sz="2800" b="1" spc="-30" dirty="0">
                  <a:solidFill>
                    <a:srgbClr val="444949"/>
                  </a:solidFill>
                  <a:latin typeface="Calibri"/>
                  <a:cs typeface="Calibri"/>
                </a:rPr>
                <a:t>r</a:t>
              </a:r>
              <a:r>
                <a:rPr sz="2800" b="1" spc="-15" dirty="0">
                  <a:solidFill>
                    <a:srgbClr val="444949"/>
                  </a:solidFill>
                  <a:latin typeface="Calibri"/>
                  <a:cs typeface="Calibri"/>
                </a:rPr>
                <a:t>s</a:t>
              </a:r>
              <a:endParaRPr sz="2800" dirty="0">
                <a:latin typeface="Calibri"/>
                <a:cs typeface="Calibri"/>
              </a:endParaRPr>
            </a:p>
            <a:p>
              <a:pPr fontAlgn="auto">
                <a:spcBef>
                  <a:spcPts val="4"/>
                </a:spcBef>
                <a:spcAft>
                  <a:spcPts val="0"/>
                </a:spcAft>
                <a:defRPr/>
              </a:pPr>
              <a:endParaRPr sz="3600" dirty="0">
                <a:latin typeface="Times New Roman"/>
                <a:cs typeface="Times New Roman"/>
              </a:endParaRPr>
            </a:p>
            <a:p>
              <a:pPr marL="127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b="1" spc="-10" dirty="0">
                  <a:solidFill>
                    <a:srgbClr val="444949"/>
                  </a:solidFill>
                  <a:latin typeface="Calibri"/>
                  <a:cs typeface="Calibri"/>
                </a:rPr>
                <a:t>L</a:t>
              </a:r>
              <a:r>
                <a:rPr b="1" spc="-20" dirty="0">
                  <a:solidFill>
                    <a:srgbClr val="444949"/>
                  </a:solidFill>
                  <a:latin typeface="Calibri"/>
                  <a:cs typeface="Calibri"/>
                </a:rPr>
                <a:t>o</a:t>
              </a:r>
              <a:r>
                <a:rPr b="1" spc="-15" dirty="0">
                  <a:solidFill>
                    <a:srgbClr val="444949"/>
                  </a:solidFill>
                  <a:latin typeface="Calibri"/>
                  <a:cs typeface="Calibri"/>
                </a:rPr>
                <a:t>a</a:t>
              </a:r>
              <a:r>
                <a:rPr b="1" spc="-10" dirty="0">
                  <a:solidFill>
                    <a:srgbClr val="444949"/>
                  </a:solidFill>
                  <a:latin typeface="Calibri"/>
                  <a:cs typeface="Calibri"/>
                </a:rPr>
                <a:t>d</a:t>
              </a:r>
              <a:r>
                <a:rPr b="1" spc="-45" dirty="0">
                  <a:solidFill>
                    <a:srgbClr val="444949"/>
                  </a:solidFill>
                  <a:latin typeface="Times New Roman"/>
                  <a:cs typeface="Times New Roman"/>
                </a:rPr>
                <a:t> </a:t>
              </a:r>
              <a:r>
                <a:rPr b="1" spc="-10" dirty="0">
                  <a:solidFill>
                    <a:srgbClr val="444949"/>
                  </a:solidFill>
                  <a:latin typeface="Calibri"/>
                  <a:cs typeface="Calibri"/>
                </a:rPr>
                <a:t>B</a:t>
              </a:r>
              <a:r>
                <a:rPr b="1" spc="-15" dirty="0">
                  <a:solidFill>
                    <a:srgbClr val="444949"/>
                  </a:solidFill>
                  <a:latin typeface="Calibri"/>
                  <a:cs typeface="Calibri"/>
                </a:rPr>
                <a:t>alan</a:t>
              </a:r>
              <a:r>
                <a:rPr b="1" spc="-5" dirty="0">
                  <a:solidFill>
                    <a:srgbClr val="444949"/>
                  </a:solidFill>
                  <a:latin typeface="Calibri"/>
                  <a:cs typeface="Calibri"/>
                </a:rPr>
                <a:t>c</a:t>
              </a:r>
              <a:r>
                <a:rPr b="1" spc="-10" dirty="0">
                  <a:solidFill>
                    <a:srgbClr val="444949"/>
                  </a:solidFill>
                  <a:latin typeface="Calibri"/>
                  <a:cs typeface="Calibri"/>
                </a:rPr>
                <a:t>e</a:t>
              </a:r>
              <a:r>
                <a:rPr b="1" dirty="0">
                  <a:solidFill>
                    <a:srgbClr val="444949"/>
                  </a:solidFill>
                  <a:latin typeface="Calibri"/>
                  <a:cs typeface="Calibri"/>
                </a:rPr>
                <a:t>r</a:t>
              </a:r>
              <a:r>
                <a:rPr b="1" spc="-40" dirty="0">
                  <a:solidFill>
                    <a:srgbClr val="444949"/>
                  </a:solidFill>
                  <a:latin typeface="Times New Roman"/>
                  <a:cs typeface="Times New Roman"/>
                </a:rPr>
                <a:t> </a:t>
              </a:r>
              <a:r>
                <a:rPr b="1" spc="-10" dirty="0">
                  <a:solidFill>
                    <a:srgbClr val="444949"/>
                  </a:solidFill>
                  <a:latin typeface="Calibri"/>
                  <a:cs typeface="Calibri"/>
                </a:rPr>
                <a:t>Se</a:t>
              </a:r>
              <a:r>
                <a:rPr b="1" spc="-5" dirty="0">
                  <a:solidFill>
                    <a:srgbClr val="444949"/>
                  </a:solidFill>
                  <a:latin typeface="Calibri"/>
                  <a:cs typeface="Calibri"/>
                </a:rPr>
                <a:t>c</a:t>
              </a:r>
              <a:r>
                <a:rPr b="1" spc="-15" dirty="0">
                  <a:solidFill>
                    <a:srgbClr val="444949"/>
                  </a:solidFill>
                  <a:latin typeface="Calibri"/>
                  <a:cs typeface="Calibri"/>
                </a:rPr>
                <a:t>u</a:t>
              </a:r>
              <a:r>
                <a:rPr b="1" spc="-5" dirty="0">
                  <a:solidFill>
                    <a:srgbClr val="444949"/>
                  </a:solidFill>
                  <a:latin typeface="Calibri"/>
                  <a:cs typeface="Calibri"/>
                </a:rPr>
                <a:t>r</a:t>
              </a:r>
              <a:r>
                <a:rPr b="1" spc="-15" dirty="0">
                  <a:solidFill>
                    <a:srgbClr val="444949"/>
                  </a:solidFill>
                  <a:latin typeface="Calibri"/>
                  <a:cs typeface="Calibri"/>
                </a:rPr>
                <a:t>i</a:t>
              </a:r>
              <a:r>
                <a:rPr b="1" spc="-10" dirty="0">
                  <a:solidFill>
                    <a:srgbClr val="444949"/>
                  </a:solidFill>
                  <a:latin typeface="Calibri"/>
                  <a:cs typeface="Calibri"/>
                </a:rPr>
                <a:t>ty</a:t>
              </a:r>
              <a:r>
                <a:rPr b="1" spc="-40" dirty="0">
                  <a:solidFill>
                    <a:srgbClr val="444949"/>
                  </a:solidFill>
                  <a:latin typeface="Times New Roman"/>
                  <a:cs typeface="Times New Roman"/>
                </a:rPr>
                <a:t> </a:t>
              </a:r>
              <a:r>
                <a:rPr b="1" dirty="0">
                  <a:solidFill>
                    <a:srgbClr val="444949"/>
                  </a:solidFill>
                  <a:latin typeface="Calibri"/>
                  <a:cs typeface="Calibri"/>
                </a:rPr>
                <a:t>G</a:t>
              </a:r>
              <a:r>
                <a:rPr b="1" spc="-25" dirty="0">
                  <a:solidFill>
                    <a:srgbClr val="444949"/>
                  </a:solidFill>
                  <a:latin typeface="Calibri"/>
                  <a:cs typeface="Calibri"/>
                </a:rPr>
                <a:t>r</a:t>
              </a:r>
              <a:r>
                <a:rPr b="1" spc="-20" dirty="0">
                  <a:solidFill>
                    <a:srgbClr val="444949"/>
                  </a:solidFill>
                  <a:latin typeface="Calibri"/>
                  <a:cs typeface="Calibri"/>
                </a:rPr>
                <a:t>o</a:t>
              </a:r>
              <a:r>
                <a:rPr b="1" spc="-15" dirty="0">
                  <a:solidFill>
                    <a:srgbClr val="444949"/>
                  </a:solidFill>
                  <a:latin typeface="Calibri"/>
                  <a:cs typeface="Calibri"/>
                </a:rPr>
                <a:t>up</a:t>
              </a:r>
              <a:r>
                <a:rPr b="1" spc="-5" dirty="0">
                  <a:solidFill>
                    <a:srgbClr val="444949"/>
                  </a:solidFill>
                  <a:latin typeface="Calibri"/>
                  <a:cs typeface="Calibri"/>
                </a:rPr>
                <a:t>:</a:t>
              </a:r>
              <a:endParaRPr dirty="0">
                <a:latin typeface="Calibri"/>
                <a:cs typeface="Calibri"/>
              </a:endParaRP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D7A3847-66C7-B115-465D-E310F390D625}"/>
                </a:ext>
              </a:extLst>
            </p:cNvPr>
            <p:cNvGrpSpPr/>
            <p:nvPr/>
          </p:nvGrpSpPr>
          <p:grpSpPr>
            <a:xfrm>
              <a:off x="3028950" y="1476375"/>
              <a:ext cx="7493000" cy="1230313"/>
              <a:chOff x="3028950" y="1476375"/>
              <a:chExt cx="7493000" cy="1230313"/>
            </a:xfrm>
          </p:grpSpPr>
          <p:sp>
            <p:nvSpPr>
              <p:cNvPr id="18" name="object 4">
                <a:extLst>
                  <a:ext uri="{FF2B5EF4-FFF2-40B4-BE49-F238E27FC236}">
                    <a16:creationId xmlns:a16="http://schemas.microsoft.com/office/drawing/2014/main" id="{D4FC6743-1092-5F45-0581-2C8CF0A34A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8950" y="2038350"/>
                <a:ext cx="2286000" cy="76200"/>
              </a:xfrm>
              <a:custGeom>
                <a:avLst/>
                <a:gdLst>
                  <a:gd name="T0" fmla="*/ 2209799 w 2286000"/>
                  <a:gd name="T1" fmla="*/ 0 h 76200"/>
                  <a:gd name="T2" fmla="*/ 2209799 w 2286000"/>
                  <a:gd name="T3" fmla="*/ 76199 h 76200"/>
                  <a:gd name="T4" fmla="*/ 2273320 w 2286000"/>
                  <a:gd name="T5" fmla="*/ 44439 h 76200"/>
                  <a:gd name="T6" fmla="*/ 2222510 w 2286000"/>
                  <a:gd name="T7" fmla="*/ 44439 h 76200"/>
                  <a:gd name="T8" fmla="*/ 2222510 w 2286000"/>
                  <a:gd name="T9" fmla="*/ 31729 h 76200"/>
                  <a:gd name="T10" fmla="*/ 2273259 w 2286000"/>
                  <a:gd name="T11" fmla="*/ 31729 h 76200"/>
                  <a:gd name="T12" fmla="*/ 2209799 w 2286000"/>
                  <a:gd name="T13" fmla="*/ 0 h 76200"/>
                  <a:gd name="T14" fmla="*/ 2209799 w 2286000"/>
                  <a:gd name="T15" fmla="*/ 31729 h 76200"/>
                  <a:gd name="T16" fmla="*/ 0 w 2286000"/>
                  <a:gd name="T17" fmla="*/ 31729 h 76200"/>
                  <a:gd name="T18" fmla="*/ 0 w 2286000"/>
                  <a:gd name="T19" fmla="*/ 44439 h 76200"/>
                  <a:gd name="T20" fmla="*/ 2209799 w 2286000"/>
                  <a:gd name="T21" fmla="*/ 44439 h 76200"/>
                  <a:gd name="T22" fmla="*/ 2209799 w 2286000"/>
                  <a:gd name="T23" fmla="*/ 31729 h 76200"/>
                  <a:gd name="T24" fmla="*/ 2273259 w 2286000"/>
                  <a:gd name="T25" fmla="*/ 31729 h 76200"/>
                  <a:gd name="T26" fmla="*/ 2222510 w 2286000"/>
                  <a:gd name="T27" fmla="*/ 31729 h 76200"/>
                  <a:gd name="T28" fmla="*/ 2222510 w 2286000"/>
                  <a:gd name="T29" fmla="*/ 44439 h 76200"/>
                  <a:gd name="T30" fmla="*/ 2273320 w 2286000"/>
                  <a:gd name="T31" fmla="*/ 44439 h 76200"/>
                  <a:gd name="T32" fmla="*/ 2285999 w 2286000"/>
                  <a:gd name="T33" fmla="*/ 38099 h 76200"/>
                  <a:gd name="T34" fmla="*/ 2273259 w 2286000"/>
                  <a:gd name="T35" fmla="*/ 31729 h 76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286000" h="76200">
                    <a:moveTo>
                      <a:pt x="2209799" y="0"/>
                    </a:moveTo>
                    <a:lnTo>
                      <a:pt x="2209799" y="76199"/>
                    </a:lnTo>
                    <a:lnTo>
                      <a:pt x="2273320" y="44439"/>
                    </a:lnTo>
                    <a:lnTo>
                      <a:pt x="2222510" y="44439"/>
                    </a:lnTo>
                    <a:lnTo>
                      <a:pt x="2222510" y="31729"/>
                    </a:lnTo>
                    <a:lnTo>
                      <a:pt x="2273259" y="31729"/>
                    </a:lnTo>
                    <a:lnTo>
                      <a:pt x="2209799" y="0"/>
                    </a:lnTo>
                    <a:close/>
                  </a:path>
                  <a:path w="2286000" h="76200">
                    <a:moveTo>
                      <a:pt x="2209799" y="31729"/>
                    </a:moveTo>
                    <a:lnTo>
                      <a:pt x="0" y="31729"/>
                    </a:lnTo>
                    <a:lnTo>
                      <a:pt x="0" y="44439"/>
                    </a:lnTo>
                    <a:lnTo>
                      <a:pt x="2209799" y="44439"/>
                    </a:lnTo>
                    <a:lnTo>
                      <a:pt x="2209799" y="31729"/>
                    </a:lnTo>
                    <a:close/>
                  </a:path>
                  <a:path w="2286000" h="76200">
                    <a:moveTo>
                      <a:pt x="2273259" y="31729"/>
                    </a:moveTo>
                    <a:lnTo>
                      <a:pt x="2222510" y="31729"/>
                    </a:lnTo>
                    <a:lnTo>
                      <a:pt x="2222510" y="44439"/>
                    </a:lnTo>
                    <a:lnTo>
                      <a:pt x="2273320" y="44439"/>
                    </a:lnTo>
                    <a:lnTo>
                      <a:pt x="2285999" y="38099"/>
                    </a:lnTo>
                    <a:lnTo>
                      <a:pt x="2273259" y="31729"/>
                    </a:lnTo>
                    <a:close/>
                  </a:path>
                </a:pathLst>
              </a:custGeom>
              <a:solidFill>
                <a:srgbClr val="4449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9" name="object 5">
                <a:extLst>
                  <a:ext uri="{FF2B5EF4-FFF2-40B4-BE49-F238E27FC236}">
                    <a16:creationId xmlns:a16="http://schemas.microsoft.com/office/drawing/2014/main" id="{C32221FD-55CD-553F-A9B0-566CB87FA8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8950" y="2244725"/>
                <a:ext cx="2286000" cy="76200"/>
              </a:xfrm>
              <a:custGeom>
                <a:avLst/>
                <a:gdLst>
                  <a:gd name="T0" fmla="*/ 76199 w 2286000"/>
                  <a:gd name="T1" fmla="*/ 0 h 76200"/>
                  <a:gd name="T2" fmla="*/ 0 w 2286000"/>
                  <a:gd name="T3" fmla="*/ 38099 h 76200"/>
                  <a:gd name="T4" fmla="*/ 76199 w 2286000"/>
                  <a:gd name="T5" fmla="*/ 76199 h 76200"/>
                  <a:gd name="T6" fmla="*/ 76199 w 2286000"/>
                  <a:gd name="T7" fmla="*/ 44433 h 76200"/>
                  <a:gd name="T8" fmla="*/ 63495 w 2286000"/>
                  <a:gd name="T9" fmla="*/ 44433 h 76200"/>
                  <a:gd name="T10" fmla="*/ 63495 w 2286000"/>
                  <a:gd name="T11" fmla="*/ 31729 h 76200"/>
                  <a:gd name="T12" fmla="*/ 76199 w 2286000"/>
                  <a:gd name="T13" fmla="*/ 31729 h 76200"/>
                  <a:gd name="T14" fmla="*/ 76199 w 2286000"/>
                  <a:gd name="T15" fmla="*/ 0 h 76200"/>
                  <a:gd name="T16" fmla="*/ 76199 w 2286000"/>
                  <a:gd name="T17" fmla="*/ 31729 h 76200"/>
                  <a:gd name="T18" fmla="*/ 63495 w 2286000"/>
                  <a:gd name="T19" fmla="*/ 31729 h 76200"/>
                  <a:gd name="T20" fmla="*/ 63495 w 2286000"/>
                  <a:gd name="T21" fmla="*/ 44433 h 76200"/>
                  <a:gd name="T22" fmla="*/ 76199 w 2286000"/>
                  <a:gd name="T23" fmla="*/ 44433 h 76200"/>
                  <a:gd name="T24" fmla="*/ 76199 w 2286000"/>
                  <a:gd name="T25" fmla="*/ 31729 h 76200"/>
                  <a:gd name="T26" fmla="*/ 2285999 w 2286000"/>
                  <a:gd name="T27" fmla="*/ 31729 h 76200"/>
                  <a:gd name="T28" fmla="*/ 76199 w 2286000"/>
                  <a:gd name="T29" fmla="*/ 31729 h 76200"/>
                  <a:gd name="T30" fmla="*/ 76199 w 2286000"/>
                  <a:gd name="T31" fmla="*/ 44433 h 76200"/>
                  <a:gd name="T32" fmla="*/ 2285999 w 2286000"/>
                  <a:gd name="T33" fmla="*/ 44433 h 76200"/>
                  <a:gd name="T34" fmla="*/ 2285999 w 2286000"/>
                  <a:gd name="T35" fmla="*/ 31729 h 76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286000" h="76200">
                    <a:moveTo>
                      <a:pt x="76199" y="0"/>
                    </a:moveTo>
                    <a:lnTo>
                      <a:pt x="0" y="38099"/>
                    </a:lnTo>
                    <a:lnTo>
                      <a:pt x="76199" y="76199"/>
                    </a:lnTo>
                    <a:lnTo>
                      <a:pt x="76199" y="44433"/>
                    </a:lnTo>
                    <a:lnTo>
                      <a:pt x="63495" y="44433"/>
                    </a:lnTo>
                    <a:lnTo>
                      <a:pt x="63495" y="31729"/>
                    </a:lnTo>
                    <a:lnTo>
                      <a:pt x="76199" y="31729"/>
                    </a:lnTo>
                    <a:lnTo>
                      <a:pt x="76199" y="0"/>
                    </a:lnTo>
                    <a:close/>
                  </a:path>
                  <a:path w="2286000" h="76200">
                    <a:moveTo>
                      <a:pt x="76199" y="31729"/>
                    </a:moveTo>
                    <a:lnTo>
                      <a:pt x="63495" y="31729"/>
                    </a:lnTo>
                    <a:lnTo>
                      <a:pt x="63495" y="44433"/>
                    </a:lnTo>
                    <a:lnTo>
                      <a:pt x="76199" y="44433"/>
                    </a:lnTo>
                    <a:lnTo>
                      <a:pt x="76199" y="31729"/>
                    </a:lnTo>
                    <a:close/>
                  </a:path>
                  <a:path w="2286000" h="76200">
                    <a:moveTo>
                      <a:pt x="2285999" y="31729"/>
                    </a:moveTo>
                    <a:lnTo>
                      <a:pt x="76199" y="31729"/>
                    </a:lnTo>
                    <a:lnTo>
                      <a:pt x="76199" y="44433"/>
                    </a:lnTo>
                    <a:lnTo>
                      <a:pt x="2285999" y="44433"/>
                    </a:lnTo>
                    <a:lnTo>
                      <a:pt x="2285999" y="31729"/>
                    </a:lnTo>
                    <a:close/>
                  </a:path>
                </a:pathLst>
              </a:custGeom>
              <a:solidFill>
                <a:srgbClr val="4449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20" name="object 6">
                <a:extLst>
                  <a:ext uri="{FF2B5EF4-FFF2-40B4-BE49-F238E27FC236}">
                    <a16:creationId xmlns:a16="http://schemas.microsoft.com/office/drawing/2014/main" id="{616B0F66-67AD-B83D-CF58-6406F71FF8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26275" y="2038350"/>
                <a:ext cx="2184400" cy="76200"/>
              </a:xfrm>
              <a:custGeom>
                <a:avLst/>
                <a:gdLst>
                  <a:gd name="T0" fmla="*/ 2108210 w 2184400"/>
                  <a:gd name="T1" fmla="*/ 0 h 76200"/>
                  <a:gd name="T2" fmla="*/ 2108210 w 2184400"/>
                  <a:gd name="T3" fmla="*/ 76199 h 76200"/>
                  <a:gd name="T4" fmla="*/ 2171730 w 2184400"/>
                  <a:gd name="T5" fmla="*/ 44439 h 76200"/>
                  <a:gd name="T6" fmla="*/ 2120920 w 2184400"/>
                  <a:gd name="T7" fmla="*/ 44439 h 76200"/>
                  <a:gd name="T8" fmla="*/ 2120920 w 2184400"/>
                  <a:gd name="T9" fmla="*/ 31729 h 76200"/>
                  <a:gd name="T10" fmla="*/ 2171669 w 2184400"/>
                  <a:gd name="T11" fmla="*/ 31729 h 76200"/>
                  <a:gd name="T12" fmla="*/ 2108210 w 2184400"/>
                  <a:gd name="T13" fmla="*/ 0 h 76200"/>
                  <a:gd name="T14" fmla="*/ 2108210 w 2184400"/>
                  <a:gd name="T15" fmla="*/ 31729 h 76200"/>
                  <a:gd name="T16" fmla="*/ 0 w 2184400"/>
                  <a:gd name="T17" fmla="*/ 31729 h 76200"/>
                  <a:gd name="T18" fmla="*/ 0 w 2184400"/>
                  <a:gd name="T19" fmla="*/ 44439 h 76200"/>
                  <a:gd name="T20" fmla="*/ 2108210 w 2184400"/>
                  <a:gd name="T21" fmla="*/ 44439 h 76200"/>
                  <a:gd name="T22" fmla="*/ 2108210 w 2184400"/>
                  <a:gd name="T23" fmla="*/ 31729 h 76200"/>
                  <a:gd name="T24" fmla="*/ 2171669 w 2184400"/>
                  <a:gd name="T25" fmla="*/ 31729 h 76200"/>
                  <a:gd name="T26" fmla="*/ 2120920 w 2184400"/>
                  <a:gd name="T27" fmla="*/ 31729 h 76200"/>
                  <a:gd name="T28" fmla="*/ 2120920 w 2184400"/>
                  <a:gd name="T29" fmla="*/ 44439 h 76200"/>
                  <a:gd name="T30" fmla="*/ 2171730 w 2184400"/>
                  <a:gd name="T31" fmla="*/ 44439 h 76200"/>
                  <a:gd name="T32" fmla="*/ 2184410 w 2184400"/>
                  <a:gd name="T33" fmla="*/ 38099 h 76200"/>
                  <a:gd name="T34" fmla="*/ 2171669 w 2184400"/>
                  <a:gd name="T35" fmla="*/ 31729 h 76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184400" h="76200">
                    <a:moveTo>
                      <a:pt x="2108210" y="0"/>
                    </a:moveTo>
                    <a:lnTo>
                      <a:pt x="2108210" y="76199"/>
                    </a:lnTo>
                    <a:lnTo>
                      <a:pt x="2171730" y="44439"/>
                    </a:lnTo>
                    <a:lnTo>
                      <a:pt x="2120920" y="44439"/>
                    </a:lnTo>
                    <a:lnTo>
                      <a:pt x="2120920" y="31729"/>
                    </a:lnTo>
                    <a:lnTo>
                      <a:pt x="2171669" y="31729"/>
                    </a:lnTo>
                    <a:lnTo>
                      <a:pt x="2108210" y="0"/>
                    </a:lnTo>
                    <a:close/>
                  </a:path>
                  <a:path w="2184400" h="76200">
                    <a:moveTo>
                      <a:pt x="2108210" y="31729"/>
                    </a:moveTo>
                    <a:lnTo>
                      <a:pt x="0" y="31729"/>
                    </a:lnTo>
                    <a:lnTo>
                      <a:pt x="0" y="44439"/>
                    </a:lnTo>
                    <a:lnTo>
                      <a:pt x="2108210" y="44439"/>
                    </a:lnTo>
                    <a:lnTo>
                      <a:pt x="2108210" y="31729"/>
                    </a:lnTo>
                    <a:close/>
                  </a:path>
                  <a:path w="2184400" h="76200">
                    <a:moveTo>
                      <a:pt x="2171669" y="31729"/>
                    </a:moveTo>
                    <a:lnTo>
                      <a:pt x="2120920" y="31729"/>
                    </a:lnTo>
                    <a:lnTo>
                      <a:pt x="2120920" y="44439"/>
                    </a:lnTo>
                    <a:lnTo>
                      <a:pt x="2171730" y="44439"/>
                    </a:lnTo>
                    <a:lnTo>
                      <a:pt x="2184410" y="38099"/>
                    </a:lnTo>
                    <a:lnTo>
                      <a:pt x="2171669" y="31729"/>
                    </a:lnTo>
                    <a:close/>
                  </a:path>
                </a:pathLst>
              </a:custGeom>
              <a:solidFill>
                <a:srgbClr val="4449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21" name="object 7">
                <a:extLst>
                  <a:ext uri="{FF2B5EF4-FFF2-40B4-BE49-F238E27FC236}">
                    <a16:creationId xmlns:a16="http://schemas.microsoft.com/office/drawing/2014/main" id="{6C9BD691-9092-AB26-C9BE-498642830F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26275" y="2230438"/>
                <a:ext cx="2184400" cy="76200"/>
              </a:xfrm>
              <a:custGeom>
                <a:avLst/>
                <a:gdLst>
                  <a:gd name="T0" fmla="*/ 76199 w 2184400"/>
                  <a:gd name="T1" fmla="*/ 0 h 76200"/>
                  <a:gd name="T2" fmla="*/ 0 w 2184400"/>
                  <a:gd name="T3" fmla="*/ 38099 h 76200"/>
                  <a:gd name="T4" fmla="*/ 76199 w 2184400"/>
                  <a:gd name="T5" fmla="*/ 76199 h 76200"/>
                  <a:gd name="T6" fmla="*/ 76199 w 2184400"/>
                  <a:gd name="T7" fmla="*/ 44464 h 76200"/>
                  <a:gd name="T8" fmla="*/ 63502 w 2184400"/>
                  <a:gd name="T9" fmla="*/ 44464 h 76200"/>
                  <a:gd name="T10" fmla="*/ 63502 w 2184400"/>
                  <a:gd name="T11" fmla="*/ 31760 h 76200"/>
                  <a:gd name="T12" fmla="*/ 76199 w 2184400"/>
                  <a:gd name="T13" fmla="*/ 31760 h 76200"/>
                  <a:gd name="T14" fmla="*/ 76199 w 2184400"/>
                  <a:gd name="T15" fmla="*/ 0 h 76200"/>
                  <a:gd name="T16" fmla="*/ 76199 w 2184400"/>
                  <a:gd name="T17" fmla="*/ 31760 h 76200"/>
                  <a:gd name="T18" fmla="*/ 63502 w 2184400"/>
                  <a:gd name="T19" fmla="*/ 31760 h 76200"/>
                  <a:gd name="T20" fmla="*/ 63502 w 2184400"/>
                  <a:gd name="T21" fmla="*/ 44464 h 76200"/>
                  <a:gd name="T22" fmla="*/ 76199 w 2184400"/>
                  <a:gd name="T23" fmla="*/ 44464 h 76200"/>
                  <a:gd name="T24" fmla="*/ 76199 w 2184400"/>
                  <a:gd name="T25" fmla="*/ 31760 h 76200"/>
                  <a:gd name="T26" fmla="*/ 2184410 w 2184400"/>
                  <a:gd name="T27" fmla="*/ 31760 h 76200"/>
                  <a:gd name="T28" fmla="*/ 76199 w 2184400"/>
                  <a:gd name="T29" fmla="*/ 31760 h 76200"/>
                  <a:gd name="T30" fmla="*/ 76199 w 2184400"/>
                  <a:gd name="T31" fmla="*/ 44464 h 76200"/>
                  <a:gd name="T32" fmla="*/ 2184410 w 2184400"/>
                  <a:gd name="T33" fmla="*/ 44464 h 76200"/>
                  <a:gd name="T34" fmla="*/ 2184410 w 2184400"/>
                  <a:gd name="T35" fmla="*/ 31760 h 76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184400" h="76200">
                    <a:moveTo>
                      <a:pt x="76199" y="0"/>
                    </a:moveTo>
                    <a:lnTo>
                      <a:pt x="0" y="38099"/>
                    </a:lnTo>
                    <a:lnTo>
                      <a:pt x="76199" y="76199"/>
                    </a:lnTo>
                    <a:lnTo>
                      <a:pt x="76199" y="44464"/>
                    </a:lnTo>
                    <a:lnTo>
                      <a:pt x="63502" y="44464"/>
                    </a:lnTo>
                    <a:lnTo>
                      <a:pt x="63502" y="31760"/>
                    </a:lnTo>
                    <a:lnTo>
                      <a:pt x="76199" y="31760"/>
                    </a:lnTo>
                    <a:lnTo>
                      <a:pt x="76199" y="0"/>
                    </a:lnTo>
                    <a:close/>
                  </a:path>
                  <a:path w="2184400" h="76200">
                    <a:moveTo>
                      <a:pt x="76199" y="31760"/>
                    </a:moveTo>
                    <a:lnTo>
                      <a:pt x="63502" y="31760"/>
                    </a:lnTo>
                    <a:lnTo>
                      <a:pt x="63502" y="44464"/>
                    </a:lnTo>
                    <a:lnTo>
                      <a:pt x="76199" y="44464"/>
                    </a:lnTo>
                    <a:lnTo>
                      <a:pt x="76199" y="31760"/>
                    </a:lnTo>
                    <a:close/>
                  </a:path>
                  <a:path w="2184400" h="76200">
                    <a:moveTo>
                      <a:pt x="2184410" y="31760"/>
                    </a:moveTo>
                    <a:lnTo>
                      <a:pt x="76199" y="31760"/>
                    </a:lnTo>
                    <a:lnTo>
                      <a:pt x="76199" y="44464"/>
                    </a:lnTo>
                    <a:lnTo>
                      <a:pt x="2184410" y="44464"/>
                    </a:lnTo>
                    <a:lnTo>
                      <a:pt x="2184410" y="31760"/>
                    </a:lnTo>
                    <a:close/>
                  </a:path>
                </a:pathLst>
              </a:custGeom>
              <a:solidFill>
                <a:srgbClr val="4449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22" name="object 12">
                <a:extLst>
                  <a:ext uri="{FF2B5EF4-FFF2-40B4-BE49-F238E27FC236}">
                    <a16:creationId xmlns:a16="http://schemas.microsoft.com/office/drawing/2014/main" id="{BCDD0C9D-B943-3891-8BA4-3C50DB42F0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72125" y="1576388"/>
                <a:ext cx="1084263" cy="1081087"/>
              </a:xfrm>
              <a:prstGeom prst="rect">
                <a:avLst/>
              </a:prstGeom>
              <a:blipFill dpi="0" rotWithShape="1">
                <a:blip r:embed="rId2"/>
                <a:srcRect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" name="object 13">
                <a:extLst>
                  <a:ext uri="{FF2B5EF4-FFF2-40B4-BE49-F238E27FC236}">
                    <a16:creationId xmlns:a16="http://schemas.microsoft.com/office/drawing/2014/main" id="{71EBA320-9A3A-8C68-9216-28352B79DF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3225" y="1477963"/>
                <a:ext cx="1228725" cy="1228725"/>
              </a:xfrm>
              <a:prstGeom prst="rect">
                <a:avLst/>
              </a:prstGeom>
              <a:blipFill dpi="0" rotWithShape="1">
                <a:blip r:embed="rId3"/>
                <a:srcRect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4" name="object 14">
                <a:extLst>
                  <a:ext uri="{FF2B5EF4-FFF2-40B4-BE49-F238E27FC236}">
                    <a16:creationId xmlns:a16="http://schemas.microsoft.com/office/drawing/2014/main" id="{443227AC-396D-E67D-7159-BA94C34A36E2}"/>
                  </a:ext>
                </a:extLst>
              </p:cNvPr>
              <p:cNvSpPr txBox="1"/>
              <p:nvPr/>
            </p:nvSpPr>
            <p:spPr>
              <a:xfrm>
                <a:off x="7280275" y="1476375"/>
                <a:ext cx="2808288" cy="777875"/>
              </a:xfrm>
              <a:prstGeom prst="rect">
                <a:avLst/>
              </a:prstGeom>
            </p:spPr>
            <p:txBody>
              <a:bodyPr lIns="0" tIns="0" rIns="0" bIns="0">
                <a:spAutoFit/>
              </a:bodyPr>
              <a:lstStyle>
                <a:lvl1pPr marL="127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ts val="2113"/>
                  </a:lnSpc>
                </a:pPr>
                <a:r>
                  <a:rPr lang="en-US" altLang="en-US" dirty="0">
                    <a:solidFill>
                      <a:srgbClr val="444949"/>
                    </a:solidFill>
                    <a:cs typeface="Calibri" panose="020F0502020204030204" pitchFamily="34" charset="0"/>
                  </a:rPr>
                  <a:t>HTTP</a:t>
                </a:r>
                <a:r>
                  <a:rPr lang="en-US" altLang="en-US" dirty="0">
                    <a:solidFill>
                      <a:srgbClr val="44494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dirty="0">
                    <a:solidFill>
                      <a:srgbClr val="444949"/>
                    </a:solidFill>
                    <a:cs typeface="Calibri" panose="020F0502020204030204" pitchFamily="34" charset="0"/>
                  </a:rPr>
                  <a:t>Restricted</a:t>
                </a:r>
                <a:r>
                  <a:rPr lang="en-US" altLang="en-US" dirty="0">
                    <a:solidFill>
                      <a:srgbClr val="44494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dirty="0">
                    <a:solidFill>
                      <a:srgbClr val="444949"/>
                    </a:solidFill>
                    <a:cs typeface="Calibri" panose="020F0502020204030204" pitchFamily="34" charset="0"/>
                  </a:rPr>
                  <a:t>to</a:t>
                </a:r>
                <a:r>
                  <a:rPr lang="en-US" altLang="en-US" dirty="0">
                    <a:solidFill>
                      <a:srgbClr val="44494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dirty="0">
                    <a:solidFill>
                      <a:srgbClr val="444949"/>
                    </a:solidFill>
                    <a:cs typeface="Calibri" panose="020F0502020204030204" pitchFamily="34" charset="0"/>
                  </a:rPr>
                  <a:t>Load</a:t>
                </a:r>
                <a:r>
                  <a:rPr lang="en-US" altLang="en-US" dirty="0">
                    <a:solidFill>
                      <a:srgbClr val="44494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dirty="0">
                    <a:solidFill>
                      <a:srgbClr val="444949"/>
                    </a:solidFill>
                    <a:cs typeface="Calibri" panose="020F0502020204030204" pitchFamily="34" charset="0"/>
                  </a:rPr>
                  <a:t>balancer</a:t>
                </a:r>
                <a:endParaRPr lang="en-US" altLang="en-US" dirty="0">
                  <a:cs typeface="Calibri" panose="020F0502020204030204" pitchFamily="34" charset="0"/>
                </a:endParaRPr>
              </a:p>
              <a:p>
                <a:pPr algn="r">
                  <a:lnSpc>
                    <a:spcPts val="1950"/>
                  </a:lnSpc>
                </a:pPr>
                <a:r>
                  <a:rPr lang="en-US" altLang="en-US" b="1" dirty="0">
                    <a:solidFill>
                      <a:srgbClr val="444949"/>
                    </a:solidFill>
                    <a:cs typeface="Calibri" panose="020F0502020204030204" pitchFamily="34" charset="0"/>
                  </a:rPr>
                  <a:t>EC2</a:t>
                </a:r>
                <a:endParaRPr lang="en-US" altLang="en-US" dirty="0">
                  <a:cs typeface="Calibri" panose="020F0502020204030204" pitchFamily="34" charset="0"/>
                </a:endParaRPr>
              </a:p>
            </p:txBody>
          </p:sp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6F2DDDF-F492-B46A-DB36-25EB3D3EAEA5}"/>
              </a:ext>
            </a:extLst>
          </p:cNvPr>
          <p:cNvGrpSpPr/>
          <p:nvPr/>
        </p:nvGrpSpPr>
        <p:grpSpPr>
          <a:xfrm>
            <a:off x="209862" y="3268663"/>
            <a:ext cx="11596376" cy="2717800"/>
            <a:chOff x="160338" y="3190875"/>
            <a:chExt cx="11645900" cy="2795588"/>
          </a:xfrm>
        </p:grpSpPr>
        <p:sp>
          <p:nvSpPr>
            <p:cNvPr id="26" name="object 9">
              <a:extLst>
                <a:ext uri="{FF2B5EF4-FFF2-40B4-BE49-F238E27FC236}">
                  <a16:creationId xmlns:a16="http://schemas.microsoft.com/office/drawing/2014/main" id="{D466F1C1-DB40-F006-E22B-89746CA764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838" y="3190875"/>
              <a:ext cx="10325100" cy="1416050"/>
            </a:xfrm>
            <a:prstGeom prst="rect">
              <a:avLst/>
            </a:prstGeom>
            <a:blipFill dpi="0" rotWithShape="1">
              <a:blip r:embed="rId4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7" name="object 11">
              <a:extLst>
                <a:ext uri="{FF2B5EF4-FFF2-40B4-BE49-F238E27FC236}">
                  <a16:creationId xmlns:a16="http://schemas.microsoft.com/office/drawing/2014/main" id="{F38225E5-A975-7D30-F0AA-B1EDB38365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338" y="4868863"/>
              <a:ext cx="11645900" cy="1117600"/>
            </a:xfrm>
            <a:prstGeom prst="rect">
              <a:avLst/>
            </a:prstGeom>
            <a:blipFill dpi="0" rotWithShape="1">
              <a:blip r:embed="rId5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" name="object 15">
              <a:extLst>
                <a:ext uri="{FF2B5EF4-FFF2-40B4-BE49-F238E27FC236}">
                  <a16:creationId xmlns:a16="http://schemas.microsoft.com/office/drawing/2014/main" id="{11C847A5-C2C4-5548-FAD2-C944890C99CD}"/>
                </a:ext>
              </a:extLst>
            </p:cNvPr>
            <p:cNvSpPr txBox="1"/>
            <p:nvPr/>
          </p:nvSpPr>
          <p:spPr>
            <a:xfrm>
              <a:off x="322263" y="4578350"/>
              <a:ext cx="6191250" cy="254000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127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b="1" spc="-15" dirty="0">
                  <a:solidFill>
                    <a:srgbClr val="444949"/>
                  </a:solidFill>
                  <a:latin typeface="Calibri"/>
                  <a:cs typeface="Calibri"/>
                </a:rPr>
                <a:t>Applic</a:t>
              </a:r>
              <a:r>
                <a:rPr b="1" spc="-30" dirty="0">
                  <a:solidFill>
                    <a:srgbClr val="444949"/>
                  </a:solidFill>
                  <a:latin typeface="Calibri"/>
                  <a:cs typeface="Calibri"/>
                </a:rPr>
                <a:t>a</a:t>
              </a:r>
              <a:r>
                <a:rPr b="1" spc="-10" dirty="0">
                  <a:solidFill>
                    <a:srgbClr val="444949"/>
                  </a:solidFill>
                  <a:latin typeface="Calibri"/>
                  <a:cs typeface="Calibri"/>
                </a:rPr>
                <a:t>t</a:t>
              </a:r>
              <a:r>
                <a:rPr b="1" spc="-15" dirty="0">
                  <a:solidFill>
                    <a:srgbClr val="444949"/>
                  </a:solidFill>
                  <a:latin typeface="Calibri"/>
                  <a:cs typeface="Calibri"/>
                </a:rPr>
                <a:t>io</a:t>
              </a:r>
              <a:r>
                <a:rPr b="1" spc="-10" dirty="0">
                  <a:solidFill>
                    <a:srgbClr val="444949"/>
                  </a:solidFill>
                  <a:latin typeface="Calibri"/>
                  <a:cs typeface="Calibri"/>
                </a:rPr>
                <a:t>n</a:t>
              </a:r>
              <a:r>
                <a:rPr b="1" spc="-40" dirty="0">
                  <a:solidFill>
                    <a:srgbClr val="444949"/>
                  </a:solidFill>
                  <a:latin typeface="Times New Roman"/>
                  <a:cs typeface="Times New Roman"/>
                </a:rPr>
                <a:t> </a:t>
              </a:r>
              <a:r>
                <a:rPr b="1" spc="-15" dirty="0">
                  <a:solidFill>
                    <a:srgbClr val="444949"/>
                  </a:solidFill>
                  <a:latin typeface="Calibri"/>
                  <a:cs typeface="Calibri"/>
                </a:rPr>
                <a:t>S</a:t>
              </a:r>
              <a:r>
                <a:rPr b="1" spc="-10" dirty="0">
                  <a:solidFill>
                    <a:srgbClr val="444949"/>
                  </a:solidFill>
                  <a:latin typeface="Calibri"/>
                  <a:cs typeface="Calibri"/>
                </a:rPr>
                <a:t>e</a:t>
              </a:r>
              <a:r>
                <a:rPr b="1" spc="-5" dirty="0">
                  <a:solidFill>
                    <a:srgbClr val="444949"/>
                  </a:solidFill>
                  <a:latin typeface="Calibri"/>
                  <a:cs typeface="Calibri"/>
                </a:rPr>
                <a:t>cur</a:t>
              </a:r>
              <a:r>
                <a:rPr b="1" spc="-10" dirty="0">
                  <a:solidFill>
                    <a:srgbClr val="444949"/>
                  </a:solidFill>
                  <a:latin typeface="Calibri"/>
                  <a:cs typeface="Calibri"/>
                </a:rPr>
                <a:t>ity</a:t>
              </a:r>
              <a:r>
                <a:rPr b="1" spc="-40" dirty="0">
                  <a:solidFill>
                    <a:srgbClr val="444949"/>
                  </a:solidFill>
                  <a:latin typeface="Times New Roman"/>
                  <a:cs typeface="Times New Roman"/>
                </a:rPr>
                <a:t> </a:t>
              </a:r>
              <a:r>
                <a:rPr b="1" dirty="0">
                  <a:solidFill>
                    <a:srgbClr val="444949"/>
                  </a:solidFill>
                  <a:latin typeface="Calibri"/>
                  <a:cs typeface="Calibri"/>
                </a:rPr>
                <a:t>G</a:t>
              </a:r>
              <a:r>
                <a:rPr b="1" spc="-25" dirty="0">
                  <a:solidFill>
                    <a:srgbClr val="444949"/>
                  </a:solidFill>
                  <a:latin typeface="Calibri"/>
                  <a:cs typeface="Calibri"/>
                </a:rPr>
                <a:t>r</a:t>
              </a:r>
              <a:r>
                <a:rPr b="1" spc="-15" dirty="0">
                  <a:solidFill>
                    <a:srgbClr val="444949"/>
                  </a:solidFill>
                  <a:latin typeface="Calibri"/>
                  <a:cs typeface="Calibri"/>
                </a:rPr>
                <a:t>oup</a:t>
              </a:r>
              <a:r>
                <a:rPr b="1" spc="-5" dirty="0">
                  <a:solidFill>
                    <a:srgbClr val="444949"/>
                  </a:solidFill>
                  <a:latin typeface="Calibri"/>
                  <a:cs typeface="Calibri"/>
                </a:rPr>
                <a:t>:</a:t>
              </a:r>
              <a:r>
                <a:rPr b="1" spc="-35" dirty="0">
                  <a:solidFill>
                    <a:srgbClr val="444949"/>
                  </a:solidFill>
                  <a:latin typeface="Times New Roman"/>
                  <a:cs typeface="Times New Roman"/>
                </a:rPr>
                <a:t> </a:t>
              </a:r>
              <a:r>
                <a:rPr b="1" spc="-15" dirty="0">
                  <a:solidFill>
                    <a:srgbClr val="444949"/>
                  </a:solidFill>
                  <a:latin typeface="Calibri"/>
                  <a:cs typeface="Calibri"/>
                </a:rPr>
                <a:t>All</a:t>
              </a:r>
              <a:r>
                <a:rPr b="1" spc="-20" dirty="0">
                  <a:solidFill>
                    <a:srgbClr val="444949"/>
                  </a:solidFill>
                  <a:latin typeface="Calibri"/>
                  <a:cs typeface="Calibri"/>
                </a:rPr>
                <a:t>o</a:t>
              </a:r>
              <a:r>
                <a:rPr b="1" dirty="0">
                  <a:solidFill>
                    <a:srgbClr val="444949"/>
                  </a:solidFill>
                  <a:latin typeface="Calibri"/>
                  <a:cs typeface="Calibri"/>
                </a:rPr>
                <a:t>w</a:t>
              </a:r>
              <a:r>
                <a:rPr b="1" spc="-45" dirty="0">
                  <a:solidFill>
                    <a:srgbClr val="444949"/>
                  </a:solidFill>
                  <a:latin typeface="Times New Roman"/>
                  <a:cs typeface="Times New Roman"/>
                </a:rPr>
                <a:t> </a:t>
              </a:r>
              <a:r>
                <a:rPr b="1" spc="-10" dirty="0">
                  <a:solidFill>
                    <a:srgbClr val="444949"/>
                  </a:solidFill>
                  <a:latin typeface="Calibri"/>
                  <a:cs typeface="Calibri"/>
                </a:rPr>
                <a:t>t</a:t>
              </a:r>
              <a:r>
                <a:rPr b="1" spc="-45" dirty="0">
                  <a:solidFill>
                    <a:srgbClr val="444949"/>
                  </a:solidFill>
                  <a:latin typeface="Calibri"/>
                  <a:cs typeface="Calibri"/>
                </a:rPr>
                <a:t>r</a:t>
              </a:r>
              <a:r>
                <a:rPr b="1" spc="-20" dirty="0">
                  <a:solidFill>
                    <a:srgbClr val="444949"/>
                  </a:solidFill>
                  <a:latin typeface="Calibri"/>
                  <a:cs typeface="Calibri"/>
                </a:rPr>
                <a:t>a</a:t>
              </a:r>
              <a:r>
                <a:rPr b="1" spc="5" dirty="0">
                  <a:solidFill>
                    <a:srgbClr val="444949"/>
                  </a:solidFill>
                  <a:latin typeface="Calibri"/>
                  <a:cs typeface="Calibri"/>
                </a:rPr>
                <a:t>ff</a:t>
              </a:r>
              <a:r>
                <a:rPr b="1" spc="-10" dirty="0">
                  <a:solidFill>
                    <a:srgbClr val="444949"/>
                  </a:solidFill>
                  <a:latin typeface="Calibri"/>
                  <a:cs typeface="Calibri"/>
                </a:rPr>
                <a:t>i</a:t>
              </a:r>
              <a:r>
                <a:rPr b="1" dirty="0">
                  <a:solidFill>
                    <a:srgbClr val="444949"/>
                  </a:solidFill>
                  <a:latin typeface="Calibri"/>
                  <a:cs typeface="Calibri"/>
                </a:rPr>
                <a:t>c</a:t>
              </a:r>
              <a:r>
                <a:rPr b="1" spc="-40" dirty="0">
                  <a:solidFill>
                    <a:srgbClr val="444949"/>
                  </a:solidFill>
                  <a:latin typeface="Times New Roman"/>
                  <a:cs typeface="Times New Roman"/>
                </a:rPr>
                <a:t> </a:t>
              </a:r>
              <a:r>
                <a:rPr b="1" spc="-15" dirty="0">
                  <a:solidFill>
                    <a:srgbClr val="444949"/>
                  </a:solidFill>
                  <a:latin typeface="Calibri"/>
                  <a:cs typeface="Calibri"/>
                </a:rPr>
                <a:t>onl</a:t>
              </a:r>
              <a:r>
                <a:rPr b="1" spc="-10" dirty="0">
                  <a:solidFill>
                    <a:srgbClr val="444949"/>
                  </a:solidFill>
                  <a:latin typeface="Calibri"/>
                  <a:cs typeface="Calibri"/>
                </a:rPr>
                <a:t>y</a:t>
              </a:r>
              <a:r>
                <a:rPr b="1" spc="-40" dirty="0">
                  <a:solidFill>
                    <a:srgbClr val="444949"/>
                  </a:solidFill>
                  <a:latin typeface="Times New Roman"/>
                  <a:cs typeface="Times New Roman"/>
                </a:rPr>
                <a:t> </a:t>
              </a:r>
              <a:r>
                <a:rPr b="1" spc="5" dirty="0">
                  <a:solidFill>
                    <a:srgbClr val="444949"/>
                  </a:solidFill>
                  <a:latin typeface="Calibri"/>
                  <a:cs typeface="Calibri"/>
                </a:rPr>
                <a:t>f</a:t>
              </a:r>
              <a:r>
                <a:rPr b="1" spc="-25" dirty="0">
                  <a:solidFill>
                    <a:srgbClr val="444949"/>
                  </a:solidFill>
                  <a:latin typeface="Calibri"/>
                  <a:cs typeface="Calibri"/>
                </a:rPr>
                <a:t>r</a:t>
              </a:r>
              <a:r>
                <a:rPr b="1" spc="-15" dirty="0">
                  <a:solidFill>
                    <a:srgbClr val="444949"/>
                  </a:solidFill>
                  <a:latin typeface="Calibri"/>
                  <a:cs typeface="Calibri"/>
                </a:rPr>
                <a:t>o</a:t>
              </a:r>
              <a:r>
                <a:rPr b="1" dirty="0">
                  <a:solidFill>
                    <a:srgbClr val="444949"/>
                  </a:solidFill>
                  <a:latin typeface="Calibri"/>
                  <a:cs typeface="Calibri"/>
                </a:rPr>
                <a:t>m</a:t>
              </a:r>
              <a:r>
                <a:rPr b="1" spc="-40" dirty="0">
                  <a:solidFill>
                    <a:srgbClr val="444949"/>
                  </a:solidFill>
                  <a:latin typeface="Times New Roman"/>
                  <a:cs typeface="Times New Roman"/>
                </a:rPr>
                <a:t> </a:t>
              </a:r>
              <a:r>
                <a:rPr b="1" spc="-10" dirty="0">
                  <a:solidFill>
                    <a:srgbClr val="444949"/>
                  </a:solidFill>
                  <a:latin typeface="Calibri"/>
                  <a:cs typeface="Calibri"/>
                </a:rPr>
                <a:t>L</a:t>
              </a:r>
              <a:r>
                <a:rPr b="1" spc="-15" dirty="0">
                  <a:solidFill>
                    <a:srgbClr val="444949"/>
                  </a:solidFill>
                  <a:latin typeface="Calibri"/>
                  <a:cs typeface="Calibri"/>
                </a:rPr>
                <a:t>oa</a:t>
              </a:r>
              <a:r>
                <a:rPr b="1" spc="-10" dirty="0">
                  <a:solidFill>
                    <a:srgbClr val="444949"/>
                  </a:solidFill>
                  <a:latin typeface="Calibri"/>
                  <a:cs typeface="Calibri"/>
                </a:rPr>
                <a:t>d</a:t>
              </a:r>
              <a:r>
                <a:rPr b="1" spc="-40" dirty="0">
                  <a:solidFill>
                    <a:srgbClr val="444949"/>
                  </a:solidFill>
                  <a:latin typeface="Times New Roman"/>
                  <a:cs typeface="Times New Roman"/>
                </a:rPr>
                <a:t> </a:t>
              </a:r>
              <a:r>
                <a:rPr b="1" spc="-10" dirty="0">
                  <a:solidFill>
                    <a:srgbClr val="444949"/>
                  </a:solidFill>
                  <a:latin typeface="Calibri"/>
                  <a:cs typeface="Calibri"/>
                </a:rPr>
                <a:t>B</a:t>
              </a:r>
              <a:r>
                <a:rPr b="1" spc="-15" dirty="0">
                  <a:solidFill>
                    <a:srgbClr val="444949"/>
                  </a:solidFill>
                  <a:latin typeface="Calibri"/>
                  <a:cs typeface="Calibri"/>
                </a:rPr>
                <a:t>ala</a:t>
              </a:r>
              <a:r>
                <a:rPr b="1" spc="-5" dirty="0">
                  <a:solidFill>
                    <a:srgbClr val="444949"/>
                  </a:solidFill>
                  <a:latin typeface="Calibri"/>
                  <a:cs typeface="Calibri"/>
                </a:rPr>
                <a:t>nc</a:t>
              </a:r>
              <a:r>
                <a:rPr b="1" spc="-10" dirty="0">
                  <a:solidFill>
                    <a:srgbClr val="444949"/>
                  </a:solidFill>
                  <a:latin typeface="Calibri"/>
                  <a:cs typeface="Calibri"/>
                </a:rPr>
                <a:t>e</a:t>
              </a:r>
              <a:r>
                <a:rPr b="1" dirty="0">
                  <a:solidFill>
                    <a:srgbClr val="444949"/>
                  </a:solidFill>
                  <a:latin typeface="Calibri"/>
                  <a:cs typeface="Calibri"/>
                </a:rPr>
                <a:t>r</a:t>
              </a:r>
              <a:endParaRPr>
                <a:latin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3948784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253D5-F717-0FFA-3D75-38B1BE386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Balancer - SSL Certificates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A65D612-0E66-C795-ECF3-EE481DE1721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3634487"/>
            <a:ext cx="5181600" cy="733614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23DDD5-1AF0-0C9C-EB9F-B959BEE85A0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 load balancer uses an X.509 certificate (SSL/TLS server certificate)</a:t>
            </a:r>
          </a:p>
          <a:p>
            <a:r>
              <a:rPr lang="en-US" dirty="0"/>
              <a:t>You can manage certificates using ACM (AWS Certificate Manager)</a:t>
            </a:r>
          </a:p>
          <a:p>
            <a:r>
              <a:rPr lang="en-US" dirty="0"/>
              <a:t>You can create upload your own certificates alternatively</a:t>
            </a:r>
          </a:p>
          <a:p>
            <a:r>
              <a:rPr lang="en-US" dirty="0"/>
              <a:t>HTTPS listener:</a:t>
            </a:r>
          </a:p>
          <a:p>
            <a:r>
              <a:rPr lang="en-US" dirty="0"/>
              <a:t>You must specify a default certificate</a:t>
            </a:r>
          </a:p>
          <a:p>
            <a:r>
              <a:rPr lang="en-US" dirty="0"/>
              <a:t>You can add an optional list of certs to support multiple domains</a:t>
            </a:r>
          </a:p>
          <a:p>
            <a:r>
              <a:rPr lang="en-US" dirty="0"/>
              <a:t>Clients can use SNI (Server Name Indication) to specify the hostname they reach</a:t>
            </a:r>
          </a:p>
          <a:p>
            <a:r>
              <a:rPr lang="en-US" dirty="0"/>
              <a:t>Ability to specify a security policy to support older versions of SSL / TLS (legacy clients)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061334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4AD73-A459-55D9-E24A-CA75947EB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an Auto Scaling Group?					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141ACB-F20F-ADE2-91C0-F59B0227C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 real-life, the load on your websites and application can change</a:t>
            </a:r>
          </a:p>
          <a:p>
            <a:r>
              <a:rPr lang="en-US" dirty="0"/>
              <a:t>In the cloud, you can create and get rid of servers very quickly</a:t>
            </a:r>
          </a:p>
          <a:p>
            <a:endParaRPr lang="en-US" dirty="0"/>
          </a:p>
          <a:p>
            <a:r>
              <a:rPr lang="en-US" dirty="0"/>
              <a:t>The goal of an Auto Scaling Group (ASG) is to:</a:t>
            </a:r>
          </a:p>
          <a:p>
            <a:r>
              <a:rPr lang="en-US" dirty="0"/>
              <a:t>Scale out (add EC2 instances) to match an increased load</a:t>
            </a:r>
          </a:p>
          <a:p>
            <a:r>
              <a:rPr lang="en-US" dirty="0"/>
              <a:t>Scale in (remove EC2 instances) to match a decreased load</a:t>
            </a:r>
          </a:p>
          <a:p>
            <a:r>
              <a:rPr lang="en-US" dirty="0"/>
              <a:t>Ensure we have a minimum and a maximum number of EC2 instances running</a:t>
            </a:r>
          </a:p>
          <a:p>
            <a:r>
              <a:rPr lang="en-US" dirty="0"/>
              <a:t>Automatically register new instances to a load balancer</a:t>
            </a:r>
          </a:p>
          <a:p>
            <a:r>
              <a:rPr lang="en-US" dirty="0"/>
              <a:t>Re-create an EC2 instance in case a previous one is terminated (ex: if unhealthy)</a:t>
            </a:r>
          </a:p>
          <a:p>
            <a:endParaRPr lang="en-US" dirty="0"/>
          </a:p>
          <a:p>
            <a:r>
              <a:rPr lang="en-US" dirty="0"/>
              <a:t>ASG are free (you only pay for the underlying EC2 instances)</a:t>
            </a:r>
          </a:p>
          <a:p>
            <a:endParaRPr lang="en-US" dirty="0"/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B256A923-EFE1-503A-6EA5-3B1A1C1974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0463" y="461168"/>
            <a:ext cx="1133475" cy="1133475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548910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FC675-067C-0EB3-4F29-404AF75FA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 Scaling Group in AWS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580DBF5-D2C5-42DE-9349-0B5B0D11DB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9570" y="1825625"/>
            <a:ext cx="877285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91933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037EE-7204-65FD-BE01-9B57142BF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 Scaling Group in AWS With Load Balancer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9D56CB8-9822-4C8A-3DF2-9BE7FEB3EBCB}"/>
              </a:ext>
            </a:extLst>
          </p:cNvPr>
          <p:cNvGrpSpPr/>
          <p:nvPr/>
        </p:nvGrpSpPr>
        <p:grpSpPr>
          <a:xfrm>
            <a:off x="1614488" y="1384300"/>
            <a:ext cx="9131300" cy="4665663"/>
            <a:chOff x="1614488" y="1384300"/>
            <a:chExt cx="9131300" cy="4665663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2C44211-9D29-8C6D-89AC-D60492E75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5000" y="2535238"/>
              <a:ext cx="762000" cy="760412"/>
            </a:xfrm>
            <a:prstGeom prst="rect">
              <a:avLst/>
            </a:prstGeom>
            <a:blipFill dpi="0" rotWithShape="1">
              <a:blip r:embed="rId2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A7DAA927-77CF-AD72-730C-DD3A9A457A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0250" y="1384300"/>
              <a:ext cx="571500" cy="573088"/>
            </a:xfrm>
            <a:prstGeom prst="rect">
              <a:avLst/>
            </a:prstGeom>
            <a:blipFill dpi="0" rotWithShape="1">
              <a:blip r:embed="rId3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E03DCC8C-7130-872B-8835-5BD4BED46BC2}"/>
                </a:ext>
              </a:extLst>
            </p:cNvPr>
            <p:cNvSpPr>
              <a:spLocks/>
            </p:cNvSpPr>
            <p:nvPr/>
          </p:nvSpPr>
          <p:spPr bwMode="auto">
            <a:xfrm>
              <a:off x="6057900" y="1954213"/>
              <a:ext cx="76200" cy="581025"/>
            </a:xfrm>
            <a:custGeom>
              <a:avLst/>
              <a:gdLst>
                <a:gd name="T0" fmla="*/ 34911 w 76200"/>
                <a:gd name="T1" fmla="*/ 503505 h 579755"/>
                <a:gd name="T2" fmla="*/ 0 w 76200"/>
                <a:gd name="T3" fmla="*/ 503505 h 579755"/>
                <a:gd name="T4" fmla="*/ 38099 w 76200"/>
                <a:gd name="T5" fmla="*/ 579705 h 579755"/>
                <a:gd name="T6" fmla="*/ 69860 w 76200"/>
                <a:gd name="T7" fmla="*/ 516184 h 579755"/>
                <a:gd name="T8" fmla="*/ 34911 w 76200"/>
                <a:gd name="T9" fmla="*/ 516184 h 579755"/>
                <a:gd name="T10" fmla="*/ 34911 w 76200"/>
                <a:gd name="T11" fmla="*/ 503505 h 579755"/>
                <a:gd name="T12" fmla="*/ 41269 w 76200"/>
                <a:gd name="T13" fmla="*/ 0 h 579755"/>
                <a:gd name="T14" fmla="*/ 34911 w 76200"/>
                <a:gd name="T15" fmla="*/ 0 h 579755"/>
                <a:gd name="T16" fmla="*/ 34911 w 76200"/>
                <a:gd name="T17" fmla="*/ 516184 h 579755"/>
                <a:gd name="T18" fmla="*/ 41269 w 76200"/>
                <a:gd name="T19" fmla="*/ 516184 h 579755"/>
                <a:gd name="T20" fmla="*/ 41269 w 76200"/>
                <a:gd name="T21" fmla="*/ 0 h 579755"/>
                <a:gd name="T22" fmla="*/ 76199 w 76200"/>
                <a:gd name="T23" fmla="*/ 503505 h 579755"/>
                <a:gd name="T24" fmla="*/ 41269 w 76200"/>
                <a:gd name="T25" fmla="*/ 503505 h 579755"/>
                <a:gd name="T26" fmla="*/ 41269 w 76200"/>
                <a:gd name="T27" fmla="*/ 516184 h 579755"/>
                <a:gd name="T28" fmla="*/ 69860 w 76200"/>
                <a:gd name="T29" fmla="*/ 516184 h 579755"/>
                <a:gd name="T30" fmla="*/ 76199 w 76200"/>
                <a:gd name="T31" fmla="*/ 503505 h 579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6200" h="579755">
                  <a:moveTo>
                    <a:pt x="34911" y="503505"/>
                  </a:moveTo>
                  <a:lnTo>
                    <a:pt x="0" y="503505"/>
                  </a:lnTo>
                  <a:lnTo>
                    <a:pt x="38099" y="579705"/>
                  </a:lnTo>
                  <a:lnTo>
                    <a:pt x="69860" y="516184"/>
                  </a:lnTo>
                  <a:lnTo>
                    <a:pt x="34911" y="516184"/>
                  </a:lnTo>
                  <a:lnTo>
                    <a:pt x="34911" y="503505"/>
                  </a:lnTo>
                  <a:close/>
                </a:path>
                <a:path w="76200" h="579755">
                  <a:moveTo>
                    <a:pt x="41269" y="0"/>
                  </a:moveTo>
                  <a:lnTo>
                    <a:pt x="34911" y="0"/>
                  </a:lnTo>
                  <a:lnTo>
                    <a:pt x="34911" y="516184"/>
                  </a:lnTo>
                  <a:lnTo>
                    <a:pt x="41269" y="516184"/>
                  </a:lnTo>
                  <a:lnTo>
                    <a:pt x="41269" y="0"/>
                  </a:lnTo>
                  <a:close/>
                </a:path>
                <a:path w="76200" h="579755">
                  <a:moveTo>
                    <a:pt x="76199" y="503505"/>
                  </a:moveTo>
                  <a:lnTo>
                    <a:pt x="41269" y="503505"/>
                  </a:lnTo>
                  <a:lnTo>
                    <a:pt x="41269" y="516184"/>
                  </a:lnTo>
                  <a:lnTo>
                    <a:pt x="69860" y="516184"/>
                  </a:lnTo>
                  <a:lnTo>
                    <a:pt x="76199" y="503505"/>
                  </a:lnTo>
                  <a:close/>
                </a:path>
              </a:pathLst>
            </a:custGeom>
            <a:solidFill>
              <a:srgbClr val="44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6E8BBFB6-54E4-D1C0-6455-0E4A21C59E2D}"/>
                </a:ext>
              </a:extLst>
            </p:cNvPr>
            <p:cNvSpPr txBox="1"/>
            <p:nvPr/>
          </p:nvSpPr>
          <p:spPr>
            <a:xfrm>
              <a:off x="6176963" y="2790825"/>
              <a:ext cx="3500437" cy="1001713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39116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sz="2000" spc="-5" dirty="0">
                  <a:solidFill>
                    <a:srgbClr val="444949"/>
                  </a:solidFill>
                  <a:latin typeface="Calibri"/>
                  <a:cs typeface="Calibri"/>
                </a:rPr>
                <a:t>E</a:t>
              </a:r>
              <a:r>
                <a:rPr sz="2000" dirty="0">
                  <a:solidFill>
                    <a:srgbClr val="444949"/>
                  </a:solidFill>
                  <a:latin typeface="Calibri"/>
                  <a:cs typeface="Calibri"/>
                </a:rPr>
                <a:t>la</a:t>
              </a:r>
              <a:r>
                <a:rPr sz="2000" spc="-20" dirty="0">
                  <a:solidFill>
                    <a:srgbClr val="444949"/>
                  </a:solidFill>
                  <a:latin typeface="Calibri"/>
                  <a:cs typeface="Calibri"/>
                </a:rPr>
                <a:t>s</a:t>
              </a:r>
              <a:r>
                <a:rPr sz="2000" spc="-5" dirty="0">
                  <a:solidFill>
                    <a:srgbClr val="444949"/>
                  </a:solidFill>
                  <a:latin typeface="Calibri"/>
                  <a:cs typeface="Calibri"/>
                </a:rPr>
                <a:t>t</a:t>
              </a:r>
              <a:r>
                <a:rPr sz="2000" dirty="0">
                  <a:solidFill>
                    <a:srgbClr val="444949"/>
                  </a:solidFill>
                  <a:latin typeface="Calibri"/>
                  <a:cs typeface="Calibri"/>
                </a:rPr>
                <a:t>i</a:t>
              </a:r>
              <a:r>
                <a:rPr sz="2000" spc="-10" dirty="0">
                  <a:solidFill>
                    <a:srgbClr val="444949"/>
                  </a:solidFill>
                  <a:latin typeface="Calibri"/>
                  <a:cs typeface="Calibri"/>
                </a:rPr>
                <a:t>c</a:t>
              </a:r>
              <a:r>
                <a:rPr sz="2000" spc="-50" dirty="0">
                  <a:solidFill>
                    <a:srgbClr val="444949"/>
                  </a:solidFill>
                  <a:latin typeface="Times New Roman"/>
                  <a:cs typeface="Times New Roman"/>
                </a:rPr>
                <a:t> </a:t>
              </a:r>
              <a:r>
                <a:rPr sz="2000" spc="-5" dirty="0">
                  <a:solidFill>
                    <a:srgbClr val="444949"/>
                  </a:solidFill>
                  <a:latin typeface="Calibri"/>
                  <a:cs typeface="Calibri"/>
                </a:rPr>
                <a:t>Lo</a:t>
              </a:r>
              <a:r>
                <a:rPr sz="2000" dirty="0">
                  <a:solidFill>
                    <a:srgbClr val="444949"/>
                  </a:solidFill>
                  <a:latin typeface="Calibri"/>
                  <a:cs typeface="Calibri"/>
                </a:rPr>
                <a:t>ad</a:t>
              </a:r>
              <a:r>
                <a:rPr sz="2000" spc="-55" dirty="0">
                  <a:solidFill>
                    <a:srgbClr val="444949"/>
                  </a:solidFill>
                  <a:latin typeface="Times New Roman"/>
                  <a:cs typeface="Times New Roman"/>
                </a:rPr>
                <a:t> </a:t>
              </a:r>
              <a:r>
                <a:rPr sz="2000" spc="-20" dirty="0">
                  <a:solidFill>
                    <a:srgbClr val="444949"/>
                  </a:solidFill>
                  <a:latin typeface="Calibri"/>
                  <a:cs typeface="Calibri"/>
                </a:rPr>
                <a:t>B</a:t>
              </a:r>
              <a:r>
                <a:rPr sz="2000" dirty="0">
                  <a:solidFill>
                    <a:srgbClr val="444949"/>
                  </a:solidFill>
                  <a:latin typeface="Calibri"/>
                  <a:cs typeface="Calibri"/>
                </a:rPr>
                <a:t>ala</a:t>
              </a:r>
              <a:r>
                <a:rPr sz="2000" spc="-5" dirty="0">
                  <a:solidFill>
                    <a:srgbClr val="444949"/>
                  </a:solidFill>
                  <a:latin typeface="Calibri"/>
                  <a:cs typeface="Calibri"/>
                </a:rPr>
                <a:t>n</a:t>
              </a:r>
              <a:r>
                <a:rPr sz="2000" dirty="0">
                  <a:solidFill>
                    <a:srgbClr val="444949"/>
                  </a:solidFill>
                  <a:latin typeface="Calibri"/>
                  <a:cs typeface="Calibri"/>
                </a:rPr>
                <a:t>c</a:t>
              </a:r>
              <a:r>
                <a:rPr sz="2000" spc="-5" dirty="0">
                  <a:solidFill>
                    <a:srgbClr val="444949"/>
                  </a:solidFill>
                  <a:latin typeface="Calibri"/>
                  <a:cs typeface="Calibri"/>
                </a:rPr>
                <a:t>e</a:t>
              </a:r>
              <a:r>
                <a:rPr sz="2000" spc="-10" dirty="0">
                  <a:solidFill>
                    <a:srgbClr val="444949"/>
                  </a:solidFill>
                  <a:latin typeface="Calibri"/>
                  <a:cs typeface="Calibri"/>
                </a:rPr>
                <a:t>r</a:t>
              </a:r>
              <a:endParaRPr sz="2000">
                <a:latin typeface="Calibri"/>
                <a:cs typeface="Calibri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sz="2000">
                <a:latin typeface="Times New Roman"/>
                <a:cs typeface="Times New Roman"/>
              </a:endParaRPr>
            </a:p>
            <a:p>
              <a:pPr marL="12700" fontAlgn="auto">
                <a:spcBef>
                  <a:spcPts val="1705"/>
                </a:spcBef>
                <a:spcAft>
                  <a:spcPts val="0"/>
                </a:spcAft>
                <a:defRPr/>
              </a:pPr>
              <a:r>
                <a:rPr sz="1400" b="1" spc="-10" dirty="0">
                  <a:solidFill>
                    <a:srgbClr val="444949"/>
                  </a:solidFill>
                  <a:latin typeface="Calibri"/>
                  <a:cs typeface="Calibri"/>
                </a:rPr>
                <a:t>E</a:t>
              </a:r>
              <a:r>
                <a:rPr sz="1400" b="1" spc="-20" dirty="0">
                  <a:solidFill>
                    <a:srgbClr val="444949"/>
                  </a:solidFill>
                  <a:latin typeface="Calibri"/>
                  <a:cs typeface="Calibri"/>
                </a:rPr>
                <a:t>L</a:t>
              </a:r>
              <a:r>
                <a:rPr sz="1400" b="1" spc="-10" dirty="0">
                  <a:solidFill>
                    <a:srgbClr val="444949"/>
                  </a:solidFill>
                  <a:latin typeface="Calibri"/>
                  <a:cs typeface="Calibri"/>
                </a:rPr>
                <a:t>B</a:t>
              </a:r>
              <a:r>
                <a:rPr sz="1400" b="1" spc="-40" dirty="0">
                  <a:solidFill>
                    <a:srgbClr val="444949"/>
                  </a:solidFill>
                  <a:latin typeface="Times New Roman"/>
                  <a:cs typeface="Times New Roman"/>
                </a:rPr>
                <a:t> </a:t>
              </a:r>
              <a:r>
                <a:rPr sz="1400" b="1" spc="-10" dirty="0">
                  <a:solidFill>
                    <a:srgbClr val="444949"/>
                  </a:solidFill>
                  <a:latin typeface="Calibri"/>
                  <a:cs typeface="Calibri"/>
                </a:rPr>
                <a:t>c</a:t>
              </a:r>
              <a:r>
                <a:rPr sz="1400" b="1" spc="-15" dirty="0">
                  <a:solidFill>
                    <a:srgbClr val="444949"/>
                  </a:solidFill>
                  <a:latin typeface="Calibri"/>
                  <a:cs typeface="Calibri"/>
                </a:rPr>
                <a:t>a</a:t>
              </a:r>
              <a:r>
                <a:rPr sz="1400" b="1" spc="-10" dirty="0">
                  <a:solidFill>
                    <a:srgbClr val="444949"/>
                  </a:solidFill>
                  <a:latin typeface="Calibri"/>
                  <a:cs typeface="Calibri"/>
                </a:rPr>
                <a:t>n</a:t>
              </a:r>
              <a:r>
                <a:rPr sz="1400" b="1" spc="-40" dirty="0">
                  <a:solidFill>
                    <a:srgbClr val="444949"/>
                  </a:solidFill>
                  <a:latin typeface="Times New Roman"/>
                  <a:cs typeface="Times New Roman"/>
                </a:rPr>
                <a:t> </a:t>
              </a:r>
              <a:r>
                <a:rPr sz="1400" b="1" dirty="0">
                  <a:solidFill>
                    <a:srgbClr val="444949"/>
                  </a:solidFill>
                  <a:latin typeface="Calibri"/>
                  <a:cs typeface="Calibri"/>
                </a:rPr>
                <a:t>c</a:t>
              </a:r>
              <a:r>
                <a:rPr sz="1400" b="1" spc="-15" dirty="0">
                  <a:solidFill>
                    <a:srgbClr val="444949"/>
                  </a:solidFill>
                  <a:latin typeface="Calibri"/>
                  <a:cs typeface="Calibri"/>
                </a:rPr>
                <a:t>h</a:t>
              </a:r>
              <a:r>
                <a:rPr sz="1400" b="1" spc="-5" dirty="0">
                  <a:solidFill>
                    <a:srgbClr val="444949"/>
                  </a:solidFill>
                  <a:latin typeface="Calibri"/>
                  <a:cs typeface="Calibri"/>
                </a:rPr>
                <a:t>e</a:t>
              </a:r>
              <a:r>
                <a:rPr sz="1400" b="1" dirty="0">
                  <a:solidFill>
                    <a:srgbClr val="444949"/>
                  </a:solidFill>
                  <a:latin typeface="Calibri"/>
                  <a:cs typeface="Calibri"/>
                </a:rPr>
                <a:t>c</a:t>
              </a:r>
              <a:r>
                <a:rPr sz="1400" b="1" spc="-10" dirty="0">
                  <a:solidFill>
                    <a:srgbClr val="444949"/>
                  </a:solidFill>
                  <a:latin typeface="Calibri"/>
                  <a:cs typeface="Calibri"/>
                </a:rPr>
                <a:t>k</a:t>
              </a:r>
              <a:r>
                <a:rPr sz="1400" b="1" spc="-35" dirty="0">
                  <a:solidFill>
                    <a:srgbClr val="444949"/>
                  </a:solidFill>
                  <a:latin typeface="Times New Roman"/>
                  <a:cs typeface="Times New Roman"/>
                </a:rPr>
                <a:t> </a:t>
              </a:r>
              <a:r>
                <a:rPr sz="1400" b="1" spc="-5" dirty="0">
                  <a:solidFill>
                    <a:srgbClr val="444949"/>
                  </a:solidFill>
                  <a:latin typeface="Calibri"/>
                  <a:cs typeface="Calibri"/>
                </a:rPr>
                <a:t>t</a:t>
              </a:r>
              <a:r>
                <a:rPr sz="1400" b="1" spc="-15" dirty="0">
                  <a:solidFill>
                    <a:srgbClr val="444949"/>
                  </a:solidFill>
                  <a:latin typeface="Calibri"/>
                  <a:cs typeface="Calibri"/>
                </a:rPr>
                <a:t>h</a:t>
              </a:r>
              <a:r>
                <a:rPr sz="1400" b="1" dirty="0">
                  <a:solidFill>
                    <a:srgbClr val="444949"/>
                  </a:solidFill>
                  <a:latin typeface="Calibri"/>
                  <a:cs typeface="Calibri"/>
                </a:rPr>
                <a:t>e</a:t>
              </a:r>
              <a:r>
                <a:rPr sz="1400" b="1" spc="-45" dirty="0">
                  <a:solidFill>
                    <a:srgbClr val="444949"/>
                  </a:solidFill>
                  <a:latin typeface="Times New Roman"/>
                  <a:cs typeface="Times New Roman"/>
                </a:rPr>
                <a:t> </a:t>
              </a:r>
              <a:r>
                <a:rPr sz="1400" b="1" spc="-15" dirty="0">
                  <a:solidFill>
                    <a:srgbClr val="444949"/>
                  </a:solidFill>
                  <a:latin typeface="Calibri"/>
                  <a:cs typeface="Calibri"/>
                </a:rPr>
                <a:t>h</a:t>
              </a:r>
              <a:r>
                <a:rPr sz="1400" b="1" spc="-5" dirty="0">
                  <a:solidFill>
                    <a:srgbClr val="444949"/>
                  </a:solidFill>
                  <a:latin typeface="Calibri"/>
                  <a:cs typeface="Calibri"/>
                </a:rPr>
                <a:t>e</a:t>
              </a:r>
              <a:r>
                <a:rPr sz="1400" b="1" spc="-15" dirty="0">
                  <a:solidFill>
                    <a:srgbClr val="444949"/>
                  </a:solidFill>
                  <a:latin typeface="Calibri"/>
                  <a:cs typeface="Calibri"/>
                </a:rPr>
                <a:t>a</a:t>
              </a:r>
              <a:r>
                <a:rPr sz="1400" b="1" dirty="0">
                  <a:solidFill>
                    <a:srgbClr val="444949"/>
                  </a:solidFill>
                  <a:latin typeface="Calibri"/>
                  <a:cs typeface="Calibri"/>
                </a:rPr>
                <a:t>l</a:t>
              </a:r>
              <a:r>
                <a:rPr sz="1400" b="1" spc="-10" dirty="0">
                  <a:solidFill>
                    <a:srgbClr val="444949"/>
                  </a:solidFill>
                  <a:latin typeface="Calibri"/>
                  <a:cs typeface="Calibri"/>
                </a:rPr>
                <a:t>th</a:t>
              </a:r>
              <a:r>
                <a:rPr sz="1400" b="1" spc="-40" dirty="0">
                  <a:solidFill>
                    <a:srgbClr val="444949"/>
                  </a:solidFill>
                  <a:latin typeface="Times New Roman"/>
                  <a:cs typeface="Times New Roman"/>
                </a:rPr>
                <a:t> </a:t>
              </a:r>
              <a:r>
                <a:rPr sz="1400" b="1" spc="-15" dirty="0">
                  <a:solidFill>
                    <a:srgbClr val="444949"/>
                  </a:solidFill>
                  <a:latin typeface="Calibri"/>
                  <a:cs typeface="Calibri"/>
                </a:rPr>
                <a:t>o</a:t>
              </a:r>
              <a:r>
                <a:rPr sz="1400" b="1" dirty="0">
                  <a:solidFill>
                    <a:srgbClr val="444949"/>
                  </a:solidFill>
                  <a:latin typeface="Calibri"/>
                  <a:cs typeface="Calibri"/>
                </a:rPr>
                <a:t>f</a:t>
              </a:r>
              <a:r>
                <a:rPr sz="1400" b="1" spc="-45" dirty="0">
                  <a:solidFill>
                    <a:srgbClr val="444949"/>
                  </a:solidFill>
                  <a:latin typeface="Times New Roman"/>
                  <a:cs typeface="Times New Roman"/>
                </a:rPr>
                <a:t> </a:t>
              </a:r>
              <a:r>
                <a:rPr sz="1400" b="1" spc="-30" dirty="0">
                  <a:solidFill>
                    <a:srgbClr val="444949"/>
                  </a:solidFill>
                  <a:latin typeface="Calibri"/>
                  <a:cs typeface="Calibri"/>
                </a:rPr>
                <a:t>y</a:t>
              </a:r>
              <a:r>
                <a:rPr sz="1400" b="1" spc="-15" dirty="0">
                  <a:solidFill>
                    <a:srgbClr val="444949"/>
                  </a:solidFill>
                  <a:latin typeface="Calibri"/>
                  <a:cs typeface="Calibri"/>
                </a:rPr>
                <a:t>ou</a:t>
              </a:r>
              <a:r>
                <a:rPr sz="1400" b="1" dirty="0">
                  <a:solidFill>
                    <a:srgbClr val="444949"/>
                  </a:solidFill>
                  <a:latin typeface="Calibri"/>
                  <a:cs typeface="Calibri"/>
                </a:rPr>
                <a:t>r</a:t>
              </a:r>
              <a:r>
                <a:rPr sz="1400" b="1" spc="-40" dirty="0">
                  <a:solidFill>
                    <a:srgbClr val="444949"/>
                  </a:solidFill>
                  <a:latin typeface="Times New Roman"/>
                  <a:cs typeface="Times New Roman"/>
                </a:rPr>
                <a:t> </a:t>
              </a:r>
              <a:r>
                <a:rPr sz="1400" b="1" spc="-30" dirty="0">
                  <a:solidFill>
                    <a:srgbClr val="444949"/>
                  </a:solidFill>
                  <a:latin typeface="Calibri"/>
                  <a:cs typeface="Calibri"/>
                </a:rPr>
                <a:t>E</a:t>
              </a:r>
              <a:r>
                <a:rPr sz="1400" b="1" spc="-5" dirty="0">
                  <a:solidFill>
                    <a:srgbClr val="444949"/>
                  </a:solidFill>
                  <a:latin typeface="Calibri"/>
                  <a:cs typeface="Calibri"/>
                </a:rPr>
                <a:t>C</a:t>
              </a:r>
              <a:r>
                <a:rPr sz="1400" b="1" spc="-10" dirty="0">
                  <a:solidFill>
                    <a:srgbClr val="444949"/>
                  </a:solidFill>
                  <a:latin typeface="Calibri"/>
                  <a:cs typeface="Calibri"/>
                </a:rPr>
                <a:t>2</a:t>
              </a:r>
              <a:r>
                <a:rPr sz="1400" b="1" spc="-35" dirty="0">
                  <a:solidFill>
                    <a:srgbClr val="444949"/>
                  </a:solidFill>
                  <a:latin typeface="Times New Roman"/>
                  <a:cs typeface="Times New Roman"/>
                </a:rPr>
                <a:t> </a:t>
              </a:r>
              <a:r>
                <a:rPr sz="1400" b="1" dirty="0">
                  <a:solidFill>
                    <a:srgbClr val="444949"/>
                  </a:solidFill>
                  <a:latin typeface="Calibri"/>
                  <a:cs typeface="Calibri"/>
                </a:rPr>
                <a:t>i</a:t>
              </a:r>
              <a:r>
                <a:rPr sz="1400" b="1" spc="-15" dirty="0">
                  <a:solidFill>
                    <a:srgbClr val="444949"/>
                  </a:solidFill>
                  <a:latin typeface="Calibri"/>
                  <a:cs typeface="Calibri"/>
                </a:rPr>
                <a:t>n</a:t>
              </a:r>
              <a:r>
                <a:rPr sz="1400" b="1" spc="-25" dirty="0">
                  <a:solidFill>
                    <a:srgbClr val="444949"/>
                  </a:solidFill>
                  <a:latin typeface="Calibri"/>
                  <a:cs typeface="Calibri"/>
                </a:rPr>
                <a:t>st</a:t>
              </a:r>
              <a:r>
                <a:rPr sz="1400" b="1" spc="-15" dirty="0">
                  <a:solidFill>
                    <a:srgbClr val="444949"/>
                  </a:solidFill>
                  <a:latin typeface="Calibri"/>
                  <a:cs typeface="Calibri"/>
                </a:rPr>
                <a:t>an</a:t>
              </a:r>
              <a:r>
                <a:rPr sz="1400" b="1" dirty="0">
                  <a:solidFill>
                    <a:srgbClr val="444949"/>
                  </a:solidFill>
                  <a:latin typeface="Calibri"/>
                  <a:cs typeface="Calibri"/>
                </a:rPr>
                <a:t>c</a:t>
              </a:r>
              <a:r>
                <a:rPr sz="1400" b="1" spc="-5" dirty="0">
                  <a:solidFill>
                    <a:srgbClr val="444949"/>
                  </a:solidFill>
                  <a:latin typeface="Calibri"/>
                  <a:cs typeface="Calibri"/>
                </a:rPr>
                <a:t>es!</a:t>
              </a:r>
              <a:endParaRPr sz="1400">
                <a:latin typeface="Calibri"/>
                <a:cs typeface="Calibri"/>
              </a:endParaRPr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8A93680A-E527-EEB9-47B5-09CEF2C64281}"/>
                </a:ext>
              </a:extLst>
            </p:cNvPr>
            <p:cNvSpPr txBox="1"/>
            <p:nvPr/>
          </p:nvSpPr>
          <p:spPr>
            <a:xfrm>
              <a:off x="6459538" y="1557338"/>
              <a:ext cx="600075" cy="254000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127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sz="2000" spc="-15" dirty="0">
                  <a:solidFill>
                    <a:srgbClr val="444949"/>
                  </a:solidFill>
                  <a:latin typeface="Calibri"/>
                  <a:cs typeface="Calibri"/>
                </a:rPr>
                <a:t>U</a:t>
              </a:r>
              <a:r>
                <a:rPr sz="2000" spc="-5" dirty="0">
                  <a:solidFill>
                    <a:srgbClr val="444949"/>
                  </a:solidFill>
                  <a:latin typeface="Calibri"/>
                  <a:cs typeface="Calibri"/>
                </a:rPr>
                <a:t>s</a:t>
              </a:r>
              <a:r>
                <a:rPr sz="2000" spc="-10" dirty="0">
                  <a:solidFill>
                    <a:srgbClr val="444949"/>
                  </a:solidFill>
                  <a:latin typeface="Calibri"/>
                  <a:cs typeface="Calibri"/>
                </a:rPr>
                <a:t>e</a:t>
              </a:r>
              <a:r>
                <a:rPr sz="2000" spc="-45" dirty="0">
                  <a:solidFill>
                    <a:srgbClr val="444949"/>
                  </a:solidFill>
                  <a:latin typeface="Calibri"/>
                  <a:cs typeface="Calibri"/>
                </a:rPr>
                <a:t>r</a:t>
              </a:r>
              <a:r>
                <a:rPr sz="2000" dirty="0">
                  <a:solidFill>
                    <a:srgbClr val="444949"/>
                  </a:solidFill>
                  <a:latin typeface="Calibri"/>
                  <a:cs typeface="Calibri"/>
                </a:rPr>
                <a:t>s</a:t>
              </a:r>
              <a:endParaRPr sz="2000">
                <a:latin typeface="Calibri"/>
                <a:cs typeface="Calibri"/>
              </a:endParaRPr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BE1821C8-AA83-44A9-BE8C-6BE27343CA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1725" y="3297238"/>
              <a:ext cx="3727450" cy="1873250"/>
            </a:xfrm>
            <a:custGeom>
              <a:avLst/>
              <a:gdLst>
                <a:gd name="T0" fmla="*/ 34920 w 3728085"/>
                <a:gd name="T1" fmla="*/ 1798271 h 1874520"/>
                <a:gd name="T2" fmla="*/ 0 w 3728085"/>
                <a:gd name="T3" fmla="*/ 1798271 h 1874520"/>
                <a:gd name="T4" fmla="*/ 38099 w 3728085"/>
                <a:gd name="T5" fmla="*/ 1874471 h 1874520"/>
                <a:gd name="T6" fmla="*/ 69854 w 3728085"/>
                <a:gd name="T7" fmla="*/ 1810963 h 1874520"/>
                <a:gd name="T8" fmla="*/ 34920 w 3728085"/>
                <a:gd name="T9" fmla="*/ 1810963 h 1874520"/>
                <a:gd name="T10" fmla="*/ 34920 w 3728085"/>
                <a:gd name="T11" fmla="*/ 1798271 h 1874520"/>
                <a:gd name="T12" fmla="*/ 3721461 w 3728085"/>
                <a:gd name="T13" fmla="*/ 934044 h 1874520"/>
                <a:gd name="T14" fmla="*/ 34920 w 3728085"/>
                <a:gd name="T15" fmla="*/ 934044 h 1874520"/>
                <a:gd name="T16" fmla="*/ 34920 w 3728085"/>
                <a:gd name="T17" fmla="*/ 1810963 h 1874520"/>
                <a:gd name="T18" fmla="*/ 41279 w 3728085"/>
                <a:gd name="T19" fmla="*/ 1810963 h 1874520"/>
                <a:gd name="T20" fmla="*/ 41279 w 3728085"/>
                <a:gd name="T21" fmla="*/ 940402 h 1874520"/>
                <a:gd name="T22" fmla="*/ 38099 w 3728085"/>
                <a:gd name="T23" fmla="*/ 940402 h 1874520"/>
                <a:gd name="T24" fmla="*/ 41279 w 3728085"/>
                <a:gd name="T25" fmla="*/ 937223 h 1874520"/>
                <a:gd name="T26" fmla="*/ 3721461 w 3728085"/>
                <a:gd name="T27" fmla="*/ 937223 h 1874520"/>
                <a:gd name="T28" fmla="*/ 3721461 w 3728085"/>
                <a:gd name="T29" fmla="*/ 934044 h 1874520"/>
                <a:gd name="T30" fmla="*/ 76199 w 3728085"/>
                <a:gd name="T31" fmla="*/ 1798271 h 1874520"/>
                <a:gd name="T32" fmla="*/ 41279 w 3728085"/>
                <a:gd name="T33" fmla="*/ 1798271 h 1874520"/>
                <a:gd name="T34" fmla="*/ 41279 w 3728085"/>
                <a:gd name="T35" fmla="*/ 1810963 h 1874520"/>
                <a:gd name="T36" fmla="*/ 69854 w 3728085"/>
                <a:gd name="T37" fmla="*/ 1810963 h 1874520"/>
                <a:gd name="T38" fmla="*/ 76199 w 3728085"/>
                <a:gd name="T39" fmla="*/ 1798271 h 1874520"/>
                <a:gd name="T40" fmla="*/ 41279 w 3728085"/>
                <a:gd name="T41" fmla="*/ 937223 h 1874520"/>
                <a:gd name="T42" fmla="*/ 38099 w 3728085"/>
                <a:gd name="T43" fmla="*/ 940402 h 1874520"/>
                <a:gd name="T44" fmla="*/ 41279 w 3728085"/>
                <a:gd name="T45" fmla="*/ 940402 h 1874520"/>
                <a:gd name="T46" fmla="*/ 41279 w 3728085"/>
                <a:gd name="T47" fmla="*/ 937223 h 1874520"/>
                <a:gd name="T48" fmla="*/ 3727801 w 3728085"/>
                <a:gd name="T49" fmla="*/ 934044 h 1874520"/>
                <a:gd name="T50" fmla="*/ 3724631 w 3728085"/>
                <a:gd name="T51" fmla="*/ 934044 h 1874520"/>
                <a:gd name="T52" fmla="*/ 3721461 w 3728085"/>
                <a:gd name="T53" fmla="*/ 937223 h 1874520"/>
                <a:gd name="T54" fmla="*/ 41279 w 3728085"/>
                <a:gd name="T55" fmla="*/ 937223 h 1874520"/>
                <a:gd name="T56" fmla="*/ 41279 w 3728085"/>
                <a:gd name="T57" fmla="*/ 940402 h 1874520"/>
                <a:gd name="T58" fmla="*/ 3727801 w 3728085"/>
                <a:gd name="T59" fmla="*/ 940402 h 1874520"/>
                <a:gd name="T60" fmla="*/ 3727801 w 3728085"/>
                <a:gd name="T61" fmla="*/ 934044 h 1874520"/>
                <a:gd name="T62" fmla="*/ 3727801 w 3728085"/>
                <a:gd name="T63" fmla="*/ 0 h 1874520"/>
                <a:gd name="T64" fmla="*/ 3721461 w 3728085"/>
                <a:gd name="T65" fmla="*/ 0 h 1874520"/>
                <a:gd name="T66" fmla="*/ 3721461 w 3728085"/>
                <a:gd name="T67" fmla="*/ 937223 h 1874520"/>
                <a:gd name="T68" fmla="*/ 3724631 w 3728085"/>
                <a:gd name="T69" fmla="*/ 934044 h 1874520"/>
                <a:gd name="T70" fmla="*/ 3727801 w 3728085"/>
                <a:gd name="T71" fmla="*/ 934044 h 1874520"/>
                <a:gd name="T72" fmla="*/ 3727801 w 3728085"/>
                <a:gd name="T73" fmla="*/ 0 h 18745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728085" h="1874520">
                  <a:moveTo>
                    <a:pt x="34920" y="1798271"/>
                  </a:moveTo>
                  <a:lnTo>
                    <a:pt x="0" y="1798271"/>
                  </a:lnTo>
                  <a:lnTo>
                    <a:pt x="38099" y="1874471"/>
                  </a:lnTo>
                  <a:lnTo>
                    <a:pt x="69854" y="1810963"/>
                  </a:lnTo>
                  <a:lnTo>
                    <a:pt x="34920" y="1810963"/>
                  </a:lnTo>
                  <a:lnTo>
                    <a:pt x="34920" y="1798271"/>
                  </a:lnTo>
                  <a:close/>
                </a:path>
                <a:path w="3728085" h="1874520">
                  <a:moveTo>
                    <a:pt x="3721461" y="934044"/>
                  </a:moveTo>
                  <a:lnTo>
                    <a:pt x="34920" y="934044"/>
                  </a:lnTo>
                  <a:lnTo>
                    <a:pt x="34920" y="1810963"/>
                  </a:lnTo>
                  <a:lnTo>
                    <a:pt x="41279" y="1810963"/>
                  </a:lnTo>
                  <a:lnTo>
                    <a:pt x="41279" y="940402"/>
                  </a:lnTo>
                  <a:lnTo>
                    <a:pt x="38099" y="940402"/>
                  </a:lnTo>
                  <a:lnTo>
                    <a:pt x="41279" y="937223"/>
                  </a:lnTo>
                  <a:lnTo>
                    <a:pt x="3721461" y="937223"/>
                  </a:lnTo>
                  <a:lnTo>
                    <a:pt x="3721461" y="934044"/>
                  </a:lnTo>
                  <a:close/>
                </a:path>
                <a:path w="3728085" h="1874520">
                  <a:moveTo>
                    <a:pt x="76199" y="1798271"/>
                  </a:moveTo>
                  <a:lnTo>
                    <a:pt x="41279" y="1798271"/>
                  </a:lnTo>
                  <a:lnTo>
                    <a:pt x="41279" y="1810963"/>
                  </a:lnTo>
                  <a:lnTo>
                    <a:pt x="69854" y="1810963"/>
                  </a:lnTo>
                  <a:lnTo>
                    <a:pt x="76199" y="1798271"/>
                  </a:lnTo>
                  <a:close/>
                </a:path>
                <a:path w="3728085" h="1874520">
                  <a:moveTo>
                    <a:pt x="41279" y="937223"/>
                  </a:moveTo>
                  <a:lnTo>
                    <a:pt x="38099" y="940402"/>
                  </a:lnTo>
                  <a:lnTo>
                    <a:pt x="41279" y="940402"/>
                  </a:lnTo>
                  <a:lnTo>
                    <a:pt x="41279" y="937223"/>
                  </a:lnTo>
                  <a:close/>
                </a:path>
                <a:path w="3728085" h="1874520">
                  <a:moveTo>
                    <a:pt x="3727801" y="934044"/>
                  </a:moveTo>
                  <a:lnTo>
                    <a:pt x="3724631" y="934044"/>
                  </a:lnTo>
                  <a:lnTo>
                    <a:pt x="3721461" y="937223"/>
                  </a:lnTo>
                  <a:lnTo>
                    <a:pt x="41279" y="937223"/>
                  </a:lnTo>
                  <a:lnTo>
                    <a:pt x="41279" y="940402"/>
                  </a:lnTo>
                  <a:lnTo>
                    <a:pt x="3727801" y="940402"/>
                  </a:lnTo>
                  <a:lnTo>
                    <a:pt x="3727801" y="934044"/>
                  </a:lnTo>
                  <a:close/>
                </a:path>
                <a:path w="3728085" h="1874520">
                  <a:moveTo>
                    <a:pt x="3727801" y="0"/>
                  </a:moveTo>
                  <a:lnTo>
                    <a:pt x="3721461" y="0"/>
                  </a:lnTo>
                  <a:lnTo>
                    <a:pt x="3721461" y="937223"/>
                  </a:lnTo>
                  <a:lnTo>
                    <a:pt x="3724631" y="934044"/>
                  </a:lnTo>
                  <a:lnTo>
                    <a:pt x="3727801" y="934044"/>
                  </a:lnTo>
                  <a:lnTo>
                    <a:pt x="3727801" y="0"/>
                  </a:lnTo>
                  <a:close/>
                </a:path>
              </a:pathLst>
            </a:custGeom>
            <a:solidFill>
              <a:srgbClr val="44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324C39E7-5ABB-1569-7780-89F1B57957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9638" y="3297238"/>
              <a:ext cx="2649537" cy="1878012"/>
            </a:xfrm>
            <a:custGeom>
              <a:avLst/>
              <a:gdLst>
                <a:gd name="T0" fmla="*/ 34930 w 2650490"/>
                <a:gd name="T1" fmla="*/ 1802462 h 1878964"/>
                <a:gd name="T2" fmla="*/ 0 w 2650490"/>
                <a:gd name="T3" fmla="*/ 1802462 h 1878964"/>
                <a:gd name="T4" fmla="*/ 38099 w 2650490"/>
                <a:gd name="T5" fmla="*/ 1878662 h 1878964"/>
                <a:gd name="T6" fmla="*/ 69847 w 2650490"/>
                <a:gd name="T7" fmla="*/ 1815166 h 1878964"/>
                <a:gd name="T8" fmla="*/ 34930 w 2650490"/>
                <a:gd name="T9" fmla="*/ 1815166 h 1878964"/>
                <a:gd name="T10" fmla="*/ 34930 w 2650490"/>
                <a:gd name="T11" fmla="*/ 1802462 h 1878964"/>
                <a:gd name="T12" fmla="*/ 2643743 w 2650490"/>
                <a:gd name="T13" fmla="*/ 936150 h 1878964"/>
                <a:gd name="T14" fmla="*/ 34930 w 2650490"/>
                <a:gd name="T15" fmla="*/ 936150 h 1878964"/>
                <a:gd name="T16" fmla="*/ 34930 w 2650490"/>
                <a:gd name="T17" fmla="*/ 1815166 h 1878964"/>
                <a:gd name="T18" fmla="*/ 41269 w 2650490"/>
                <a:gd name="T19" fmla="*/ 1815166 h 1878964"/>
                <a:gd name="T20" fmla="*/ 41269 w 2650490"/>
                <a:gd name="T21" fmla="*/ 942496 h 1878964"/>
                <a:gd name="T22" fmla="*/ 38099 w 2650490"/>
                <a:gd name="T23" fmla="*/ 942496 h 1878964"/>
                <a:gd name="T24" fmla="*/ 41269 w 2650490"/>
                <a:gd name="T25" fmla="*/ 939317 h 1878964"/>
                <a:gd name="T26" fmla="*/ 2643743 w 2650490"/>
                <a:gd name="T27" fmla="*/ 939317 h 1878964"/>
                <a:gd name="T28" fmla="*/ 2643743 w 2650490"/>
                <a:gd name="T29" fmla="*/ 936150 h 1878964"/>
                <a:gd name="T30" fmla="*/ 76199 w 2650490"/>
                <a:gd name="T31" fmla="*/ 1802462 h 1878964"/>
                <a:gd name="T32" fmla="*/ 41269 w 2650490"/>
                <a:gd name="T33" fmla="*/ 1802462 h 1878964"/>
                <a:gd name="T34" fmla="*/ 41269 w 2650490"/>
                <a:gd name="T35" fmla="*/ 1815166 h 1878964"/>
                <a:gd name="T36" fmla="*/ 69847 w 2650490"/>
                <a:gd name="T37" fmla="*/ 1815166 h 1878964"/>
                <a:gd name="T38" fmla="*/ 76199 w 2650490"/>
                <a:gd name="T39" fmla="*/ 1802462 h 1878964"/>
                <a:gd name="T40" fmla="*/ 41269 w 2650490"/>
                <a:gd name="T41" fmla="*/ 939317 h 1878964"/>
                <a:gd name="T42" fmla="*/ 38099 w 2650490"/>
                <a:gd name="T43" fmla="*/ 942496 h 1878964"/>
                <a:gd name="T44" fmla="*/ 41269 w 2650490"/>
                <a:gd name="T45" fmla="*/ 942496 h 1878964"/>
                <a:gd name="T46" fmla="*/ 41269 w 2650490"/>
                <a:gd name="T47" fmla="*/ 939317 h 1878964"/>
                <a:gd name="T48" fmla="*/ 2650083 w 2650490"/>
                <a:gd name="T49" fmla="*/ 936150 h 1878964"/>
                <a:gd name="T50" fmla="*/ 2646913 w 2650490"/>
                <a:gd name="T51" fmla="*/ 936150 h 1878964"/>
                <a:gd name="T52" fmla="*/ 2643743 w 2650490"/>
                <a:gd name="T53" fmla="*/ 939317 h 1878964"/>
                <a:gd name="T54" fmla="*/ 41269 w 2650490"/>
                <a:gd name="T55" fmla="*/ 939317 h 1878964"/>
                <a:gd name="T56" fmla="*/ 41269 w 2650490"/>
                <a:gd name="T57" fmla="*/ 942496 h 1878964"/>
                <a:gd name="T58" fmla="*/ 2650083 w 2650490"/>
                <a:gd name="T59" fmla="*/ 942496 h 1878964"/>
                <a:gd name="T60" fmla="*/ 2650083 w 2650490"/>
                <a:gd name="T61" fmla="*/ 936150 h 1878964"/>
                <a:gd name="T62" fmla="*/ 2650083 w 2650490"/>
                <a:gd name="T63" fmla="*/ 0 h 1878964"/>
                <a:gd name="T64" fmla="*/ 2643743 w 2650490"/>
                <a:gd name="T65" fmla="*/ 0 h 1878964"/>
                <a:gd name="T66" fmla="*/ 2643743 w 2650490"/>
                <a:gd name="T67" fmla="*/ 939317 h 1878964"/>
                <a:gd name="T68" fmla="*/ 2646913 w 2650490"/>
                <a:gd name="T69" fmla="*/ 936150 h 1878964"/>
                <a:gd name="T70" fmla="*/ 2650083 w 2650490"/>
                <a:gd name="T71" fmla="*/ 936150 h 1878964"/>
                <a:gd name="T72" fmla="*/ 2650083 w 2650490"/>
                <a:gd name="T73" fmla="*/ 0 h 1878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650490" h="1878964">
                  <a:moveTo>
                    <a:pt x="34930" y="1802462"/>
                  </a:moveTo>
                  <a:lnTo>
                    <a:pt x="0" y="1802462"/>
                  </a:lnTo>
                  <a:lnTo>
                    <a:pt x="38099" y="1878662"/>
                  </a:lnTo>
                  <a:lnTo>
                    <a:pt x="69847" y="1815166"/>
                  </a:lnTo>
                  <a:lnTo>
                    <a:pt x="34930" y="1815166"/>
                  </a:lnTo>
                  <a:lnTo>
                    <a:pt x="34930" y="1802462"/>
                  </a:lnTo>
                  <a:close/>
                </a:path>
                <a:path w="2650490" h="1878964">
                  <a:moveTo>
                    <a:pt x="2643743" y="936150"/>
                  </a:moveTo>
                  <a:lnTo>
                    <a:pt x="34930" y="936150"/>
                  </a:lnTo>
                  <a:lnTo>
                    <a:pt x="34930" y="1815166"/>
                  </a:lnTo>
                  <a:lnTo>
                    <a:pt x="41269" y="1815166"/>
                  </a:lnTo>
                  <a:lnTo>
                    <a:pt x="41269" y="942496"/>
                  </a:lnTo>
                  <a:lnTo>
                    <a:pt x="38099" y="942496"/>
                  </a:lnTo>
                  <a:lnTo>
                    <a:pt x="41269" y="939317"/>
                  </a:lnTo>
                  <a:lnTo>
                    <a:pt x="2643743" y="939317"/>
                  </a:lnTo>
                  <a:lnTo>
                    <a:pt x="2643743" y="936150"/>
                  </a:lnTo>
                  <a:close/>
                </a:path>
                <a:path w="2650490" h="1878964">
                  <a:moveTo>
                    <a:pt x="76199" y="1802462"/>
                  </a:moveTo>
                  <a:lnTo>
                    <a:pt x="41269" y="1802462"/>
                  </a:lnTo>
                  <a:lnTo>
                    <a:pt x="41269" y="1815166"/>
                  </a:lnTo>
                  <a:lnTo>
                    <a:pt x="69847" y="1815166"/>
                  </a:lnTo>
                  <a:lnTo>
                    <a:pt x="76199" y="1802462"/>
                  </a:lnTo>
                  <a:close/>
                </a:path>
                <a:path w="2650490" h="1878964">
                  <a:moveTo>
                    <a:pt x="41269" y="939317"/>
                  </a:moveTo>
                  <a:lnTo>
                    <a:pt x="38099" y="942496"/>
                  </a:lnTo>
                  <a:lnTo>
                    <a:pt x="41269" y="942496"/>
                  </a:lnTo>
                  <a:lnTo>
                    <a:pt x="41269" y="939317"/>
                  </a:lnTo>
                  <a:close/>
                </a:path>
                <a:path w="2650490" h="1878964">
                  <a:moveTo>
                    <a:pt x="2650083" y="936150"/>
                  </a:moveTo>
                  <a:lnTo>
                    <a:pt x="2646913" y="936150"/>
                  </a:lnTo>
                  <a:lnTo>
                    <a:pt x="2643743" y="939317"/>
                  </a:lnTo>
                  <a:lnTo>
                    <a:pt x="41269" y="939317"/>
                  </a:lnTo>
                  <a:lnTo>
                    <a:pt x="41269" y="942496"/>
                  </a:lnTo>
                  <a:lnTo>
                    <a:pt x="2650083" y="942496"/>
                  </a:lnTo>
                  <a:lnTo>
                    <a:pt x="2650083" y="936150"/>
                  </a:lnTo>
                  <a:close/>
                </a:path>
                <a:path w="2650490" h="1878964">
                  <a:moveTo>
                    <a:pt x="2650083" y="0"/>
                  </a:moveTo>
                  <a:lnTo>
                    <a:pt x="2643743" y="0"/>
                  </a:lnTo>
                  <a:lnTo>
                    <a:pt x="2643743" y="939317"/>
                  </a:lnTo>
                  <a:lnTo>
                    <a:pt x="2646913" y="936150"/>
                  </a:lnTo>
                  <a:lnTo>
                    <a:pt x="2650083" y="936150"/>
                  </a:lnTo>
                  <a:lnTo>
                    <a:pt x="2650083" y="0"/>
                  </a:lnTo>
                  <a:close/>
                </a:path>
              </a:pathLst>
            </a:custGeom>
            <a:solidFill>
              <a:srgbClr val="44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9EA09C1C-2652-77C0-1D6A-969D589B53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4063" y="3297238"/>
              <a:ext cx="1535112" cy="1882775"/>
            </a:xfrm>
            <a:custGeom>
              <a:avLst/>
              <a:gdLst>
                <a:gd name="T0" fmla="*/ 34930 w 1535429"/>
                <a:gd name="T1" fmla="*/ 1806235 h 1882775"/>
                <a:gd name="T2" fmla="*/ 0 w 1535429"/>
                <a:gd name="T3" fmla="*/ 1806235 h 1882775"/>
                <a:gd name="T4" fmla="*/ 38099 w 1535429"/>
                <a:gd name="T5" fmla="*/ 1882435 h 1882775"/>
                <a:gd name="T6" fmla="*/ 69854 w 1535429"/>
                <a:gd name="T7" fmla="*/ 1818927 h 1882775"/>
                <a:gd name="T8" fmla="*/ 34930 w 1535429"/>
                <a:gd name="T9" fmla="*/ 1818927 h 1882775"/>
                <a:gd name="T10" fmla="*/ 34930 w 1535429"/>
                <a:gd name="T11" fmla="*/ 1806235 h 1882775"/>
                <a:gd name="T12" fmla="*/ 1529090 w 1535429"/>
                <a:gd name="T13" fmla="*/ 938031 h 1882775"/>
                <a:gd name="T14" fmla="*/ 34930 w 1535429"/>
                <a:gd name="T15" fmla="*/ 938031 h 1882775"/>
                <a:gd name="T16" fmla="*/ 34930 w 1535429"/>
                <a:gd name="T17" fmla="*/ 1818927 h 1882775"/>
                <a:gd name="T18" fmla="*/ 41269 w 1535429"/>
                <a:gd name="T19" fmla="*/ 1818927 h 1882775"/>
                <a:gd name="T20" fmla="*/ 41269 w 1535429"/>
                <a:gd name="T21" fmla="*/ 944377 h 1882775"/>
                <a:gd name="T22" fmla="*/ 38099 w 1535429"/>
                <a:gd name="T23" fmla="*/ 944377 h 1882775"/>
                <a:gd name="T24" fmla="*/ 41269 w 1535429"/>
                <a:gd name="T25" fmla="*/ 941210 h 1882775"/>
                <a:gd name="T26" fmla="*/ 1529090 w 1535429"/>
                <a:gd name="T27" fmla="*/ 941210 h 1882775"/>
                <a:gd name="T28" fmla="*/ 1529090 w 1535429"/>
                <a:gd name="T29" fmla="*/ 938031 h 1882775"/>
                <a:gd name="T30" fmla="*/ 76199 w 1535429"/>
                <a:gd name="T31" fmla="*/ 1806235 h 1882775"/>
                <a:gd name="T32" fmla="*/ 41269 w 1535429"/>
                <a:gd name="T33" fmla="*/ 1806235 h 1882775"/>
                <a:gd name="T34" fmla="*/ 41269 w 1535429"/>
                <a:gd name="T35" fmla="*/ 1818927 h 1882775"/>
                <a:gd name="T36" fmla="*/ 69854 w 1535429"/>
                <a:gd name="T37" fmla="*/ 1818927 h 1882775"/>
                <a:gd name="T38" fmla="*/ 76199 w 1535429"/>
                <a:gd name="T39" fmla="*/ 1806235 h 1882775"/>
                <a:gd name="T40" fmla="*/ 41269 w 1535429"/>
                <a:gd name="T41" fmla="*/ 941210 h 1882775"/>
                <a:gd name="T42" fmla="*/ 38099 w 1535429"/>
                <a:gd name="T43" fmla="*/ 944377 h 1882775"/>
                <a:gd name="T44" fmla="*/ 41269 w 1535429"/>
                <a:gd name="T45" fmla="*/ 944377 h 1882775"/>
                <a:gd name="T46" fmla="*/ 41269 w 1535429"/>
                <a:gd name="T47" fmla="*/ 941210 h 1882775"/>
                <a:gd name="T48" fmla="*/ 1535429 w 1535429"/>
                <a:gd name="T49" fmla="*/ 938031 h 1882775"/>
                <a:gd name="T50" fmla="*/ 1532260 w 1535429"/>
                <a:gd name="T51" fmla="*/ 938031 h 1882775"/>
                <a:gd name="T52" fmla="*/ 1529090 w 1535429"/>
                <a:gd name="T53" fmla="*/ 941210 h 1882775"/>
                <a:gd name="T54" fmla="*/ 41269 w 1535429"/>
                <a:gd name="T55" fmla="*/ 941210 h 1882775"/>
                <a:gd name="T56" fmla="*/ 41269 w 1535429"/>
                <a:gd name="T57" fmla="*/ 944377 h 1882775"/>
                <a:gd name="T58" fmla="*/ 1535429 w 1535429"/>
                <a:gd name="T59" fmla="*/ 944377 h 1882775"/>
                <a:gd name="T60" fmla="*/ 1535429 w 1535429"/>
                <a:gd name="T61" fmla="*/ 938031 h 1882775"/>
                <a:gd name="T62" fmla="*/ 1535429 w 1535429"/>
                <a:gd name="T63" fmla="*/ 0 h 1882775"/>
                <a:gd name="T64" fmla="*/ 1529090 w 1535429"/>
                <a:gd name="T65" fmla="*/ 0 h 1882775"/>
                <a:gd name="T66" fmla="*/ 1529090 w 1535429"/>
                <a:gd name="T67" fmla="*/ 941210 h 1882775"/>
                <a:gd name="T68" fmla="*/ 1532260 w 1535429"/>
                <a:gd name="T69" fmla="*/ 938031 h 1882775"/>
                <a:gd name="T70" fmla="*/ 1535429 w 1535429"/>
                <a:gd name="T71" fmla="*/ 938031 h 1882775"/>
                <a:gd name="T72" fmla="*/ 1535429 w 1535429"/>
                <a:gd name="T73" fmla="*/ 0 h 18827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535429" h="1882775">
                  <a:moveTo>
                    <a:pt x="34930" y="1806235"/>
                  </a:moveTo>
                  <a:lnTo>
                    <a:pt x="0" y="1806235"/>
                  </a:lnTo>
                  <a:lnTo>
                    <a:pt x="38099" y="1882435"/>
                  </a:lnTo>
                  <a:lnTo>
                    <a:pt x="69854" y="1818927"/>
                  </a:lnTo>
                  <a:lnTo>
                    <a:pt x="34930" y="1818927"/>
                  </a:lnTo>
                  <a:lnTo>
                    <a:pt x="34930" y="1806235"/>
                  </a:lnTo>
                  <a:close/>
                </a:path>
                <a:path w="1535429" h="1882775">
                  <a:moveTo>
                    <a:pt x="1529090" y="938031"/>
                  </a:moveTo>
                  <a:lnTo>
                    <a:pt x="34930" y="938031"/>
                  </a:lnTo>
                  <a:lnTo>
                    <a:pt x="34930" y="1818927"/>
                  </a:lnTo>
                  <a:lnTo>
                    <a:pt x="41269" y="1818927"/>
                  </a:lnTo>
                  <a:lnTo>
                    <a:pt x="41269" y="944377"/>
                  </a:lnTo>
                  <a:lnTo>
                    <a:pt x="38099" y="944377"/>
                  </a:lnTo>
                  <a:lnTo>
                    <a:pt x="41269" y="941210"/>
                  </a:lnTo>
                  <a:lnTo>
                    <a:pt x="1529090" y="941210"/>
                  </a:lnTo>
                  <a:lnTo>
                    <a:pt x="1529090" y="938031"/>
                  </a:lnTo>
                  <a:close/>
                </a:path>
                <a:path w="1535429" h="1882775">
                  <a:moveTo>
                    <a:pt x="76199" y="1806235"/>
                  </a:moveTo>
                  <a:lnTo>
                    <a:pt x="41269" y="1806235"/>
                  </a:lnTo>
                  <a:lnTo>
                    <a:pt x="41269" y="1818927"/>
                  </a:lnTo>
                  <a:lnTo>
                    <a:pt x="69854" y="1818927"/>
                  </a:lnTo>
                  <a:lnTo>
                    <a:pt x="76199" y="1806235"/>
                  </a:lnTo>
                  <a:close/>
                </a:path>
                <a:path w="1535429" h="1882775">
                  <a:moveTo>
                    <a:pt x="41269" y="941210"/>
                  </a:moveTo>
                  <a:lnTo>
                    <a:pt x="38099" y="944377"/>
                  </a:lnTo>
                  <a:lnTo>
                    <a:pt x="41269" y="944377"/>
                  </a:lnTo>
                  <a:lnTo>
                    <a:pt x="41269" y="941210"/>
                  </a:lnTo>
                  <a:close/>
                </a:path>
                <a:path w="1535429" h="1882775">
                  <a:moveTo>
                    <a:pt x="1535429" y="938031"/>
                  </a:moveTo>
                  <a:lnTo>
                    <a:pt x="1532260" y="938031"/>
                  </a:lnTo>
                  <a:lnTo>
                    <a:pt x="1529090" y="941210"/>
                  </a:lnTo>
                  <a:lnTo>
                    <a:pt x="41269" y="941210"/>
                  </a:lnTo>
                  <a:lnTo>
                    <a:pt x="41269" y="944377"/>
                  </a:lnTo>
                  <a:lnTo>
                    <a:pt x="1535429" y="944377"/>
                  </a:lnTo>
                  <a:lnTo>
                    <a:pt x="1535429" y="938031"/>
                  </a:lnTo>
                  <a:close/>
                </a:path>
                <a:path w="1535429" h="1882775">
                  <a:moveTo>
                    <a:pt x="1535429" y="0"/>
                  </a:moveTo>
                  <a:lnTo>
                    <a:pt x="1529090" y="0"/>
                  </a:lnTo>
                  <a:lnTo>
                    <a:pt x="1529090" y="941210"/>
                  </a:lnTo>
                  <a:lnTo>
                    <a:pt x="1532260" y="938031"/>
                  </a:lnTo>
                  <a:lnTo>
                    <a:pt x="1535429" y="938031"/>
                  </a:lnTo>
                  <a:lnTo>
                    <a:pt x="1535429" y="0"/>
                  </a:lnTo>
                  <a:close/>
                </a:path>
              </a:pathLst>
            </a:custGeom>
            <a:solidFill>
              <a:srgbClr val="44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0A72D25A-8AE2-5889-23FE-A17145D36C9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76900" y="3297238"/>
              <a:ext cx="422275" cy="1873250"/>
            </a:xfrm>
            <a:custGeom>
              <a:avLst/>
              <a:gdLst>
                <a:gd name="T0" fmla="*/ 34930 w 422275"/>
                <a:gd name="T1" fmla="*/ 1798271 h 1874520"/>
                <a:gd name="T2" fmla="*/ 0 w 422275"/>
                <a:gd name="T3" fmla="*/ 1798271 h 1874520"/>
                <a:gd name="T4" fmla="*/ 38099 w 422275"/>
                <a:gd name="T5" fmla="*/ 1874471 h 1874520"/>
                <a:gd name="T6" fmla="*/ 69854 w 422275"/>
                <a:gd name="T7" fmla="*/ 1810963 h 1874520"/>
                <a:gd name="T8" fmla="*/ 34930 w 422275"/>
                <a:gd name="T9" fmla="*/ 1810963 h 1874520"/>
                <a:gd name="T10" fmla="*/ 34930 w 422275"/>
                <a:gd name="T11" fmla="*/ 1798271 h 1874520"/>
                <a:gd name="T12" fmla="*/ 415503 w 422275"/>
                <a:gd name="T13" fmla="*/ 934044 h 1874520"/>
                <a:gd name="T14" fmla="*/ 34930 w 422275"/>
                <a:gd name="T15" fmla="*/ 934044 h 1874520"/>
                <a:gd name="T16" fmla="*/ 34930 w 422275"/>
                <a:gd name="T17" fmla="*/ 1810963 h 1874520"/>
                <a:gd name="T18" fmla="*/ 41269 w 422275"/>
                <a:gd name="T19" fmla="*/ 1810963 h 1874520"/>
                <a:gd name="T20" fmla="*/ 41269 w 422275"/>
                <a:gd name="T21" fmla="*/ 940402 h 1874520"/>
                <a:gd name="T22" fmla="*/ 38099 w 422275"/>
                <a:gd name="T23" fmla="*/ 940402 h 1874520"/>
                <a:gd name="T24" fmla="*/ 41269 w 422275"/>
                <a:gd name="T25" fmla="*/ 937223 h 1874520"/>
                <a:gd name="T26" fmla="*/ 415503 w 422275"/>
                <a:gd name="T27" fmla="*/ 937223 h 1874520"/>
                <a:gd name="T28" fmla="*/ 415503 w 422275"/>
                <a:gd name="T29" fmla="*/ 934044 h 1874520"/>
                <a:gd name="T30" fmla="*/ 76199 w 422275"/>
                <a:gd name="T31" fmla="*/ 1798271 h 1874520"/>
                <a:gd name="T32" fmla="*/ 41269 w 422275"/>
                <a:gd name="T33" fmla="*/ 1798271 h 1874520"/>
                <a:gd name="T34" fmla="*/ 41269 w 422275"/>
                <a:gd name="T35" fmla="*/ 1810963 h 1874520"/>
                <a:gd name="T36" fmla="*/ 69854 w 422275"/>
                <a:gd name="T37" fmla="*/ 1810963 h 1874520"/>
                <a:gd name="T38" fmla="*/ 76199 w 422275"/>
                <a:gd name="T39" fmla="*/ 1798271 h 1874520"/>
                <a:gd name="T40" fmla="*/ 41269 w 422275"/>
                <a:gd name="T41" fmla="*/ 937223 h 1874520"/>
                <a:gd name="T42" fmla="*/ 38099 w 422275"/>
                <a:gd name="T43" fmla="*/ 940402 h 1874520"/>
                <a:gd name="T44" fmla="*/ 41269 w 422275"/>
                <a:gd name="T45" fmla="*/ 940402 h 1874520"/>
                <a:gd name="T46" fmla="*/ 41269 w 422275"/>
                <a:gd name="T47" fmla="*/ 937223 h 1874520"/>
                <a:gd name="T48" fmla="*/ 421843 w 422275"/>
                <a:gd name="T49" fmla="*/ 934044 h 1874520"/>
                <a:gd name="T50" fmla="*/ 418673 w 422275"/>
                <a:gd name="T51" fmla="*/ 934044 h 1874520"/>
                <a:gd name="T52" fmla="*/ 415503 w 422275"/>
                <a:gd name="T53" fmla="*/ 937223 h 1874520"/>
                <a:gd name="T54" fmla="*/ 41269 w 422275"/>
                <a:gd name="T55" fmla="*/ 937223 h 1874520"/>
                <a:gd name="T56" fmla="*/ 41269 w 422275"/>
                <a:gd name="T57" fmla="*/ 940402 h 1874520"/>
                <a:gd name="T58" fmla="*/ 421843 w 422275"/>
                <a:gd name="T59" fmla="*/ 940402 h 1874520"/>
                <a:gd name="T60" fmla="*/ 421843 w 422275"/>
                <a:gd name="T61" fmla="*/ 934044 h 1874520"/>
                <a:gd name="T62" fmla="*/ 421843 w 422275"/>
                <a:gd name="T63" fmla="*/ 0 h 1874520"/>
                <a:gd name="T64" fmla="*/ 415503 w 422275"/>
                <a:gd name="T65" fmla="*/ 0 h 1874520"/>
                <a:gd name="T66" fmla="*/ 415503 w 422275"/>
                <a:gd name="T67" fmla="*/ 937223 h 1874520"/>
                <a:gd name="T68" fmla="*/ 418673 w 422275"/>
                <a:gd name="T69" fmla="*/ 934044 h 1874520"/>
                <a:gd name="T70" fmla="*/ 421843 w 422275"/>
                <a:gd name="T71" fmla="*/ 934044 h 1874520"/>
                <a:gd name="T72" fmla="*/ 421843 w 422275"/>
                <a:gd name="T73" fmla="*/ 0 h 18745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2275" h="1874520">
                  <a:moveTo>
                    <a:pt x="34930" y="1798271"/>
                  </a:moveTo>
                  <a:lnTo>
                    <a:pt x="0" y="1798271"/>
                  </a:lnTo>
                  <a:lnTo>
                    <a:pt x="38099" y="1874471"/>
                  </a:lnTo>
                  <a:lnTo>
                    <a:pt x="69854" y="1810963"/>
                  </a:lnTo>
                  <a:lnTo>
                    <a:pt x="34930" y="1810963"/>
                  </a:lnTo>
                  <a:lnTo>
                    <a:pt x="34930" y="1798271"/>
                  </a:lnTo>
                  <a:close/>
                </a:path>
                <a:path w="422275" h="1874520">
                  <a:moveTo>
                    <a:pt x="415503" y="934044"/>
                  </a:moveTo>
                  <a:lnTo>
                    <a:pt x="34930" y="934044"/>
                  </a:lnTo>
                  <a:lnTo>
                    <a:pt x="34930" y="1810963"/>
                  </a:lnTo>
                  <a:lnTo>
                    <a:pt x="41269" y="1810963"/>
                  </a:lnTo>
                  <a:lnTo>
                    <a:pt x="41269" y="940402"/>
                  </a:lnTo>
                  <a:lnTo>
                    <a:pt x="38099" y="940402"/>
                  </a:lnTo>
                  <a:lnTo>
                    <a:pt x="41269" y="937223"/>
                  </a:lnTo>
                  <a:lnTo>
                    <a:pt x="415503" y="937223"/>
                  </a:lnTo>
                  <a:lnTo>
                    <a:pt x="415503" y="934044"/>
                  </a:lnTo>
                  <a:close/>
                </a:path>
                <a:path w="422275" h="1874520">
                  <a:moveTo>
                    <a:pt x="76199" y="1798271"/>
                  </a:moveTo>
                  <a:lnTo>
                    <a:pt x="41269" y="1798271"/>
                  </a:lnTo>
                  <a:lnTo>
                    <a:pt x="41269" y="1810963"/>
                  </a:lnTo>
                  <a:lnTo>
                    <a:pt x="69854" y="1810963"/>
                  </a:lnTo>
                  <a:lnTo>
                    <a:pt x="76199" y="1798271"/>
                  </a:lnTo>
                  <a:close/>
                </a:path>
                <a:path w="422275" h="1874520">
                  <a:moveTo>
                    <a:pt x="41269" y="937223"/>
                  </a:moveTo>
                  <a:lnTo>
                    <a:pt x="38099" y="940402"/>
                  </a:lnTo>
                  <a:lnTo>
                    <a:pt x="41269" y="940402"/>
                  </a:lnTo>
                  <a:lnTo>
                    <a:pt x="41269" y="937223"/>
                  </a:lnTo>
                  <a:close/>
                </a:path>
                <a:path w="422275" h="1874520">
                  <a:moveTo>
                    <a:pt x="421843" y="934044"/>
                  </a:moveTo>
                  <a:lnTo>
                    <a:pt x="418673" y="934044"/>
                  </a:lnTo>
                  <a:lnTo>
                    <a:pt x="415503" y="937223"/>
                  </a:lnTo>
                  <a:lnTo>
                    <a:pt x="41269" y="937223"/>
                  </a:lnTo>
                  <a:lnTo>
                    <a:pt x="41269" y="940402"/>
                  </a:lnTo>
                  <a:lnTo>
                    <a:pt x="421843" y="940402"/>
                  </a:lnTo>
                  <a:lnTo>
                    <a:pt x="421843" y="934044"/>
                  </a:lnTo>
                  <a:close/>
                </a:path>
                <a:path w="422275" h="1874520">
                  <a:moveTo>
                    <a:pt x="421843" y="0"/>
                  </a:moveTo>
                  <a:lnTo>
                    <a:pt x="415503" y="0"/>
                  </a:lnTo>
                  <a:lnTo>
                    <a:pt x="415503" y="937223"/>
                  </a:lnTo>
                  <a:lnTo>
                    <a:pt x="418673" y="934044"/>
                  </a:lnTo>
                  <a:lnTo>
                    <a:pt x="421843" y="934044"/>
                  </a:lnTo>
                  <a:lnTo>
                    <a:pt x="421843" y="0"/>
                  </a:lnTo>
                  <a:close/>
                </a:path>
              </a:pathLst>
            </a:custGeom>
            <a:solidFill>
              <a:srgbClr val="44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34EA57CA-ADC8-3CE3-74E1-F85AFD5F0C11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2825" y="3297238"/>
              <a:ext cx="1593850" cy="1873250"/>
            </a:xfrm>
            <a:custGeom>
              <a:avLst/>
              <a:gdLst>
                <a:gd name="T0" fmla="*/ 0 w 1593850"/>
                <a:gd name="T1" fmla="*/ 44439 h 1874520"/>
                <a:gd name="T2" fmla="*/ 6357 w 1593850"/>
                <a:gd name="T3" fmla="*/ 114306 h 1874520"/>
                <a:gd name="T4" fmla="*/ 6357 w 1593850"/>
                <a:gd name="T5" fmla="*/ 177789 h 1874520"/>
                <a:gd name="T6" fmla="*/ 0 w 1593850"/>
                <a:gd name="T7" fmla="*/ 247656 h 1874520"/>
                <a:gd name="T8" fmla="*/ 6357 w 1593850"/>
                <a:gd name="T9" fmla="*/ 266699 h 1874520"/>
                <a:gd name="T10" fmla="*/ 0 w 1593850"/>
                <a:gd name="T11" fmla="*/ 355598 h 1874520"/>
                <a:gd name="T12" fmla="*/ 6357 w 1593850"/>
                <a:gd name="T13" fmla="*/ 425446 h 1874520"/>
                <a:gd name="T14" fmla="*/ 6357 w 1593850"/>
                <a:gd name="T15" fmla="*/ 488936 h 1874520"/>
                <a:gd name="T16" fmla="*/ 0 w 1593850"/>
                <a:gd name="T17" fmla="*/ 558789 h 1874520"/>
                <a:gd name="T18" fmla="*/ 6357 w 1593850"/>
                <a:gd name="T19" fmla="*/ 577839 h 1874520"/>
                <a:gd name="T20" fmla="*/ 0 w 1593850"/>
                <a:gd name="T21" fmla="*/ 666743 h 1874520"/>
                <a:gd name="T22" fmla="*/ 6357 w 1593850"/>
                <a:gd name="T23" fmla="*/ 736585 h 1874520"/>
                <a:gd name="T24" fmla="*/ 6357 w 1593850"/>
                <a:gd name="T25" fmla="*/ 800093 h 1874520"/>
                <a:gd name="T26" fmla="*/ 0 w 1593850"/>
                <a:gd name="T27" fmla="*/ 869935 h 1874520"/>
                <a:gd name="T28" fmla="*/ 6357 w 1593850"/>
                <a:gd name="T29" fmla="*/ 888986 h 1874520"/>
                <a:gd name="T30" fmla="*/ 3169 w 1593850"/>
                <a:gd name="T31" fmla="*/ 934050 h 1874520"/>
                <a:gd name="T32" fmla="*/ 24780 w 1593850"/>
                <a:gd name="T33" fmla="*/ 934050 h 1874520"/>
                <a:gd name="T34" fmla="*/ 43830 w 1593850"/>
                <a:gd name="T35" fmla="*/ 940408 h 1874520"/>
                <a:gd name="T36" fmla="*/ 113666 w 1593850"/>
                <a:gd name="T37" fmla="*/ 934050 h 1874520"/>
                <a:gd name="T38" fmla="*/ 177180 w 1593850"/>
                <a:gd name="T39" fmla="*/ 934050 h 1874520"/>
                <a:gd name="T40" fmla="*/ 247016 w 1593850"/>
                <a:gd name="T41" fmla="*/ 940408 h 1874520"/>
                <a:gd name="T42" fmla="*/ 335926 w 1593850"/>
                <a:gd name="T43" fmla="*/ 934050 h 1874520"/>
                <a:gd name="T44" fmla="*/ 354970 w 1593850"/>
                <a:gd name="T45" fmla="*/ 940408 h 1874520"/>
                <a:gd name="T46" fmla="*/ 424817 w 1593850"/>
                <a:gd name="T47" fmla="*/ 934050 h 1874520"/>
                <a:gd name="T48" fmla="*/ 488320 w 1593850"/>
                <a:gd name="T49" fmla="*/ 934050 h 1874520"/>
                <a:gd name="T50" fmla="*/ 558186 w 1593850"/>
                <a:gd name="T51" fmla="*/ 940408 h 1874520"/>
                <a:gd name="T52" fmla="*/ 647078 w 1593850"/>
                <a:gd name="T53" fmla="*/ 934050 h 1874520"/>
                <a:gd name="T54" fmla="*/ 666140 w 1593850"/>
                <a:gd name="T55" fmla="*/ 940408 h 1874520"/>
                <a:gd name="T56" fmla="*/ 735976 w 1593850"/>
                <a:gd name="T57" fmla="*/ 934050 h 1874520"/>
                <a:gd name="T58" fmla="*/ 799490 w 1593850"/>
                <a:gd name="T59" fmla="*/ 934050 h 1874520"/>
                <a:gd name="T60" fmla="*/ 869326 w 1593850"/>
                <a:gd name="T61" fmla="*/ 940408 h 1874520"/>
                <a:gd name="T62" fmla="*/ 958236 w 1593850"/>
                <a:gd name="T63" fmla="*/ 934050 h 1874520"/>
                <a:gd name="T64" fmla="*/ 977280 w 1593850"/>
                <a:gd name="T65" fmla="*/ 940408 h 1874520"/>
                <a:gd name="T66" fmla="*/ 1047128 w 1593850"/>
                <a:gd name="T67" fmla="*/ 934050 h 1874520"/>
                <a:gd name="T68" fmla="*/ 1110630 w 1593850"/>
                <a:gd name="T69" fmla="*/ 934050 h 1874520"/>
                <a:gd name="T70" fmla="*/ 1180477 w 1593850"/>
                <a:gd name="T71" fmla="*/ 940408 h 1874520"/>
                <a:gd name="T72" fmla="*/ 1269376 w 1593850"/>
                <a:gd name="T73" fmla="*/ 934050 h 1874520"/>
                <a:gd name="T74" fmla="*/ 1288420 w 1593850"/>
                <a:gd name="T75" fmla="*/ 940408 h 1874520"/>
                <a:gd name="T76" fmla="*/ 1358286 w 1593850"/>
                <a:gd name="T77" fmla="*/ 934050 h 1874520"/>
                <a:gd name="T78" fmla="*/ 1421770 w 1593850"/>
                <a:gd name="T79" fmla="*/ 934050 h 1874520"/>
                <a:gd name="T80" fmla="*/ 1491636 w 1593850"/>
                <a:gd name="T81" fmla="*/ 940408 h 1874520"/>
                <a:gd name="T82" fmla="*/ 1552376 w 1593850"/>
                <a:gd name="T83" fmla="*/ 937229 h 1874520"/>
                <a:gd name="T84" fmla="*/ 1555120 w 1593850"/>
                <a:gd name="T85" fmla="*/ 940007 h 1874520"/>
                <a:gd name="T86" fmla="*/ 1555516 w 1593850"/>
                <a:gd name="T87" fmla="*/ 940408 h 1874520"/>
                <a:gd name="T88" fmla="*/ 1558722 w 1593850"/>
                <a:gd name="T89" fmla="*/ 981270 h 1874520"/>
                <a:gd name="T90" fmla="*/ 1552376 w 1593850"/>
                <a:gd name="T91" fmla="*/ 1070174 h 1874520"/>
                <a:gd name="T92" fmla="*/ 1558722 w 1593850"/>
                <a:gd name="T93" fmla="*/ 1140028 h 1874520"/>
                <a:gd name="T94" fmla="*/ 1558722 w 1593850"/>
                <a:gd name="T95" fmla="*/ 1203524 h 1874520"/>
                <a:gd name="T96" fmla="*/ 1552376 w 1593850"/>
                <a:gd name="T97" fmla="*/ 1273378 h 1874520"/>
                <a:gd name="T98" fmla="*/ 1558722 w 1593850"/>
                <a:gd name="T99" fmla="*/ 1292428 h 1874520"/>
                <a:gd name="T100" fmla="*/ 1552376 w 1593850"/>
                <a:gd name="T101" fmla="*/ 1381320 h 1874520"/>
                <a:gd name="T102" fmla="*/ 1558722 w 1593850"/>
                <a:gd name="T103" fmla="*/ 1451174 h 1874520"/>
                <a:gd name="T104" fmla="*/ 1558722 w 1593850"/>
                <a:gd name="T105" fmla="*/ 1514670 h 1874520"/>
                <a:gd name="T106" fmla="*/ 1552376 w 1593850"/>
                <a:gd name="T107" fmla="*/ 1584524 h 1874520"/>
                <a:gd name="T108" fmla="*/ 1558722 w 1593850"/>
                <a:gd name="T109" fmla="*/ 1603574 h 1874520"/>
                <a:gd name="T110" fmla="*/ 1552376 w 1593850"/>
                <a:gd name="T111" fmla="*/ 1692478 h 1874520"/>
                <a:gd name="T112" fmla="*/ 1558722 w 1593850"/>
                <a:gd name="T113" fmla="*/ 1762320 h 1874520"/>
                <a:gd name="T114" fmla="*/ 1552376 w 1593850"/>
                <a:gd name="T115" fmla="*/ 1798277 h 1874520"/>
                <a:gd name="T116" fmla="*/ 1558722 w 1593850"/>
                <a:gd name="T117" fmla="*/ 1798277 h 18745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93850" h="1874520">
                  <a:moveTo>
                    <a:pt x="6357" y="0"/>
                  </a:moveTo>
                  <a:lnTo>
                    <a:pt x="0" y="0"/>
                  </a:lnTo>
                  <a:lnTo>
                    <a:pt x="0" y="25396"/>
                  </a:lnTo>
                  <a:lnTo>
                    <a:pt x="6357" y="25396"/>
                  </a:lnTo>
                  <a:lnTo>
                    <a:pt x="6357" y="0"/>
                  </a:lnTo>
                  <a:close/>
                </a:path>
                <a:path w="1593850" h="1874520">
                  <a:moveTo>
                    <a:pt x="6357" y="44439"/>
                  </a:moveTo>
                  <a:lnTo>
                    <a:pt x="0" y="44439"/>
                  </a:lnTo>
                  <a:lnTo>
                    <a:pt x="0" y="69835"/>
                  </a:lnTo>
                  <a:lnTo>
                    <a:pt x="6357" y="69835"/>
                  </a:lnTo>
                  <a:lnTo>
                    <a:pt x="6357" y="44439"/>
                  </a:lnTo>
                  <a:close/>
                </a:path>
                <a:path w="1593850" h="1874520">
                  <a:moveTo>
                    <a:pt x="6357" y="88898"/>
                  </a:moveTo>
                  <a:lnTo>
                    <a:pt x="0" y="88898"/>
                  </a:lnTo>
                  <a:lnTo>
                    <a:pt x="0" y="114306"/>
                  </a:lnTo>
                  <a:lnTo>
                    <a:pt x="6357" y="114306"/>
                  </a:lnTo>
                  <a:lnTo>
                    <a:pt x="6357" y="88898"/>
                  </a:lnTo>
                  <a:close/>
                </a:path>
                <a:path w="1593850" h="1874520">
                  <a:moveTo>
                    <a:pt x="6357" y="133349"/>
                  </a:moveTo>
                  <a:lnTo>
                    <a:pt x="0" y="133349"/>
                  </a:lnTo>
                  <a:lnTo>
                    <a:pt x="0" y="158746"/>
                  </a:lnTo>
                  <a:lnTo>
                    <a:pt x="6357" y="158746"/>
                  </a:lnTo>
                  <a:lnTo>
                    <a:pt x="6357" y="133349"/>
                  </a:lnTo>
                  <a:close/>
                </a:path>
                <a:path w="1593850" h="1874520">
                  <a:moveTo>
                    <a:pt x="6357" y="177789"/>
                  </a:moveTo>
                  <a:lnTo>
                    <a:pt x="0" y="177789"/>
                  </a:lnTo>
                  <a:lnTo>
                    <a:pt x="0" y="203185"/>
                  </a:lnTo>
                  <a:lnTo>
                    <a:pt x="6357" y="203185"/>
                  </a:lnTo>
                  <a:lnTo>
                    <a:pt x="6357" y="177789"/>
                  </a:lnTo>
                  <a:close/>
                </a:path>
                <a:path w="1593850" h="1874520">
                  <a:moveTo>
                    <a:pt x="6357" y="222248"/>
                  </a:moveTo>
                  <a:lnTo>
                    <a:pt x="0" y="222248"/>
                  </a:lnTo>
                  <a:lnTo>
                    <a:pt x="0" y="247656"/>
                  </a:lnTo>
                  <a:lnTo>
                    <a:pt x="6357" y="247656"/>
                  </a:lnTo>
                  <a:lnTo>
                    <a:pt x="6357" y="222248"/>
                  </a:lnTo>
                  <a:close/>
                </a:path>
                <a:path w="1593850" h="1874520">
                  <a:moveTo>
                    <a:pt x="6357" y="266699"/>
                  </a:moveTo>
                  <a:lnTo>
                    <a:pt x="0" y="266699"/>
                  </a:lnTo>
                  <a:lnTo>
                    <a:pt x="0" y="292096"/>
                  </a:lnTo>
                  <a:lnTo>
                    <a:pt x="6357" y="292096"/>
                  </a:lnTo>
                  <a:lnTo>
                    <a:pt x="6357" y="266699"/>
                  </a:lnTo>
                  <a:close/>
                </a:path>
                <a:path w="1593850" h="1874520">
                  <a:moveTo>
                    <a:pt x="6357" y="311139"/>
                  </a:moveTo>
                  <a:lnTo>
                    <a:pt x="0" y="311139"/>
                  </a:lnTo>
                  <a:lnTo>
                    <a:pt x="0" y="336535"/>
                  </a:lnTo>
                  <a:lnTo>
                    <a:pt x="6357" y="336535"/>
                  </a:lnTo>
                  <a:lnTo>
                    <a:pt x="6357" y="311139"/>
                  </a:lnTo>
                  <a:close/>
                </a:path>
                <a:path w="1593850" h="1874520">
                  <a:moveTo>
                    <a:pt x="6357" y="355598"/>
                  </a:moveTo>
                  <a:lnTo>
                    <a:pt x="0" y="355598"/>
                  </a:lnTo>
                  <a:lnTo>
                    <a:pt x="0" y="381006"/>
                  </a:lnTo>
                  <a:lnTo>
                    <a:pt x="6357" y="381006"/>
                  </a:lnTo>
                  <a:lnTo>
                    <a:pt x="6357" y="355598"/>
                  </a:lnTo>
                  <a:close/>
                </a:path>
                <a:path w="1593850" h="1874520">
                  <a:moveTo>
                    <a:pt x="6357" y="400049"/>
                  </a:moveTo>
                  <a:lnTo>
                    <a:pt x="0" y="400049"/>
                  </a:lnTo>
                  <a:lnTo>
                    <a:pt x="0" y="425446"/>
                  </a:lnTo>
                  <a:lnTo>
                    <a:pt x="6357" y="425446"/>
                  </a:lnTo>
                  <a:lnTo>
                    <a:pt x="6357" y="400049"/>
                  </a:lnTo>
                  <a:close/>
                </a:path>
                <a:path w="1593850" h="1874520">
                  <a:moveTo>
                    <a:pt x="6357" y="444489"/>
                  </a:moveTo>
                  <a:lnTo>
                    <a:pt x="0" y="444489"/>
                  </a:lnTo>
                  <a:lnTo>
                    <a:pt x="0" y="469885"/>
                  </a:lnTo>
                  <a:lnTo>
                    <a:pt x="6357" y="469885"/>
                  </a:lnTo>
                  <a:lnTo>
                    <a:pt x="6357" y="444489"/>
                  </a:lnTo>
                  <a:close/>
                </a:path>
                <a:path w="1593850" h="1874520">
                  <a:moveTo>
                    <a:pt x="6357" y="488936"/>
                  </a:moveTo>
                  <a:lnTo>
                    <a:pt x="0" y="488936"/>
                  </a:lnTo>
                  <a:lnTo>
                    <a:pt x="0" y="514343"/>
                  </a:lnTo>
                  <a:lnTo>
                    <a:pt x="6357" y="514343"/>
                  </a:lnTo>
                  <a:lnTo>
                    <a:pt x="6357" y="488936"/>
                  </a:lnTo>
                  <a:close/>
                </a:path>
                <a:path w="1593850" h="1874520">
                  <a:moveTo>
                    <a:pt x="6357" y="533393"/>
                  </a:moveTo>
                  <a:lnTo>
                    <a:pt x="0" y="533393"/>
                  </a:lnTo>
                  <a:lnTo>
                    <a:pt x="0" y="558789"/>
                  </a:lnTo>
                  <a:lnTo>
                    <a:pt x="6357" y="558789"/>
                  </a:lnTo>
                  <a:lnTo>
                    <a:pt x="6357" y="533393"/>
                  </a:lnTo>
                  <a:close/>
                </a:path>
                <a:path w="1593850" h="1874520">
                  <a:moveTo>
                    <a:pt x="6357" y="577839"/>
                  </a:moveTo>
                  <a:lnTo>
                    <a:pt x="0" y="577839"/>
                  </a:lnTo>
                  <a:lnTo>
                    <a:pt x="0" y="603235"/>
                  </a:lnTo>
                  <a:lnTo>
                    <a:pt x="6357" y="603235"/>
                  </a:lnTo>
                  <a:lnTo>
                    <a:pt x="6357" y="577839"/>
                  </a:lnTo>
                  <a:close/>
                </a:path>
                <a:path w="1593850" h="1874520">
                  <a:moveTo>
                    <a:pt x="6357" y="622286"/>
                  </a:moveTo>
                  <a:lnTo>
                    <a:pt x="0" y="622286"/>
                  </a:lnTo>
                  <a:lnTo>
                    <a:pt x="0" y="647693"/>
                  </a:lnTo>
                  <a:lnTo>
                    <a:pt x="6357" y="647693"/>
                  </a:lnTo>
                  <a:lnTo>
                    <a:pt x="6357" y="622286"/>
                  </a:lnTo>
                  <a:close/>
                </a:path>
                <a:path w="1593850" h="1874520">
                  <a:moveTo>
                    <a:pt x="6357" y="666743"/>
                  </a:moveTo>
                  <a:lnTo>
                    <a:pt x="0" y="666743"/>
                  </a:lnTo>
                  <a:lnTo>
                    <a:pt x="0" y="692139"/>
                  </a:lnTo>
                  <a:lnTo>
                    <a:pt x="6357" y="692139"/>
                  </a:lnTo>
                  <a:lnTo>
                    <a:pt x="6357" y="666743"/>
                  </a:lnTo>
                  <a:close/>
                </a:path>
                <a:path w="1593850" h="1874520">
                  <a:moveTo>
                    <a:pt x="6357" y="711189"/>
                  </a:moveTo>
                  <a:lnTo>
                    <a:pt x="0" y="711189"/>
                  </a:lnTo>
                  <a:lnTo>
                    <a:pt x="0" y="736585"/>
                  </a:lnTo>
                  <a:lnTo>
                    <a:pt x="6357" y="736585"/>
                  </a:lnTo>
                  <a:lnTo>
                    <a:pt x="6357" y="711189"/>
                  </a:lnTo>
                  <a:close/>
                </a:path>
                <a:path w="1593850" h="1874520">
                  <a:moveTo>
                    <a:pt x="6357" y="755636"/>
                  </a:moveTo>
                  <a:lnTo>
                    <a:pt x="0" y="755636"/>
                  </a:lnTo>
                  <a:lnTo>
                    <a:pt x="0" y="781043"/>
                  </a:lnTo>
                  <a:lnTo>
                    <a:pt x="6357" y="781043"/>
                  </a:lnTo>
                  <a:lnTo>
                    <a:pt x="6357" y="755636"/>
                  </a:lnTo>
                  <a:close/>
                </a:path>
                <a:path w="1593850" h="1874520">
                  <a:moveTo>
                    <a:pt x="6357" y="800093"/>
                  </a:moveTo>
                  <a:lnTo>
                    <a:pt x="0" y="800093"/>
                  </a:lnTo>
                  <a:lnTo>
                    <a:pt x="0" y="825489"/>
                  </a:lnTo>
                  <a:lnTo>
                    <a:pt x="6357" y="825489"/>
                  </a:lnTo>
                  <a:lnTo>
                    <a:pt x="6357" y="800093"/>
                  </a:lnTo>
                  <a:close/>
                </a:path>
                <a:path w="1593850" h="1874520">
                  <a:moveTo>
                    <a:pt x="6357" y="844539"/>
                  </a:moveTo>
                  <a:lnTo>
                    <a:pt x="0" y="844539"/>
                  </a:lnTo>
                  <a:lnTo>
                    <a:pt x="0" y="869935"/>
                  </a:lnTo>
                  <a:lnTo>
                    <a:pt x="6357" y="869935"/>
                  </a:lnTo>
                  <a:lnTo>
                    <a:pt x="6357" y="844539"/>
                  </a:lnTo>
                  <a:close/>
                </a:path>
                <a:path w="1593850" h="1874520">
                  <a:moveTo>
                    <a:pt x="6357" y="888986"/>
                  </a:moveTo>
                  <a:lnTo>
                    <a:pt x="0" y="888986"/>
                  </a:lnTo>
                  <a:lnTo>
                    <a:pt x="0" y="914393"/>
                  </a:lnTo>
                  <a:lnTo>
                    <a:pt x="6357" y="914393"/>
                  </a:lnTo>
                  <a:lnTo>
                    <a:pt x="6357" y="888986"/>
                  </a:lnTo>
                  <a:close/>
                </a:path>
                <a:path w="1593850" h="1874520">
                  <a:moveTo>
                    <a:pt x="6339" y="933443"/>
                  </a:moveTo>
                  <a:lnTo>
                    <a:pt x="0" y="933443"/>
                  </a:lnTo>
                  <a:lnTo>
                    <a:pt x="0" y="940408"/>
                  </a:lnTo>
                  <a:lnTo>
                    <a:pt x="24780" y="940408"/>
                  </a:lnTo>
                  <a:lnTo>
                    <a:pt x="24780" y="937229"/>
                  </a:lnTo>
                  <a:lnTo>
                    <a:pt x="6339" y="937229"/>
                  </a:lnTo>
                  <a:lnTo>
                    <a:pt x="3169" y="934050"/>
                  </a:lnTo>
                  <a:lnTo>
                    <a:pt x="6339" y="934050"/>
                  </a:lnTo>
                  <a:lnTo>
                    <a:pt x="6339" y="933443"/>
                  </a:lnTo>
                  <a:close/>
                </a:path>
                <a:path w="1593850" h="1874520">
                  <a:moveTo>
                    <a:pt x="6339" y="934050"/>
                  </a:moveTo>
                  <a:lnTo>
                    <a:pt x="3169" y="934050"/>
                  </a:lnTo>
                  <a:lnTo>
                    <a:pt x="6339" y="937229"/>
                  </a:lnTo>
                  <a:lnTo>
                    <a:pt x="6339" y="934050"/>
                  </a:lnTo>
                  <a:close/>
                </a:path>
                <a:path w="1593850" h="1874520">
                  <a:moveTo>
                    <a:pt x="24780" y="934050"/>
                  </a:moveTo>
                  <a:lnTo>
                    <a:pt x="6339" y="934050"/>
                  </a:lnTo>
                  <a:lnTo>
                    <a:pt x="6339" y="937229"/>
                  </a:lnTo>
                  <a:lnTo>
                    <a:pt x="24780" y="937229"/>
                  </a:lnTo>
                  <a:lnTo>
                    <a:pt x="24780" y="934050"/>
                  </a:lnTo>
                  <a:close/>
                </a:path>
                <a:path w="1593850" h="1874520">
                  <a:moveTo>
                    <a:pt x="69226" y="934050"/>
                  </a:moveTo>
                  <a:lnTo>
                    <a:pt x="43830" y="934050"/>
                  </a:lnTo>
                  <a:lnTo>
                    <a:pt x="43830" y="940408"/>
                  </a:lnTo>
                  <a:lnTo>
                    <a:pt x="69226" y="940408"/>
                  </a:lnTo>
                  <a:lnTo>
                    <a:pt x="69226" y="934050"/>
                  </a:lnTo>
                  <a:close/>
                </a:path>
                <a:path w="1593850" h="1874520">
                  <a:moveTo>
                    <a:pt x="113666" y="934050"/>
                  </a:moveTo>
                  <a:lnTo>
                    <a:pt x="88270" y="934050"/>
                  </a:lnTo>
                  <a:lnTo>
                    <a:pt x="88270" y="940408"/>
                  </a:lnTo>
                  <a:lnTo>
                    <a:pt x="113666" y="940408"/>
                  </a:lnTo>
                  <a:lnTo>
                    <a:pt x="113666" y="934050"/>
                  </a:lnTo>
                  <a:close/>
                </a:path>
                <a:path w="1593850" h="1874520">
                  <a:moveTo>
                    <a:pt x="158117" y="934050"/>
                  </a:moveTo>
                  <a:lnTo>
                    <a:pt x="132709" y="934050"/>
                  </a:lnTo>
                  <a:lnTo>
                    <a:pt x="132709" y="940408"/>
                  </a:lnTo>
                  <a:lnTo>
                    <a:pt x="158117" y="940408"/>
                  </a:lnTo>
                  <a:lnTo>
                    <a:pt x="158117" y="934050"/>
                  </a:lnTo>
                  <a:close/>
                </a:path>
                <a:path w="1593850" h="1874520">
                  <a:moveTo>
                    <a:pt x="202576" y="934050"/>
                  </a:moveTo>
                  <a:lnTo>
                    <a:pt x="177180" y="934050"/>
                  </a:lnTo>
                  <a:lnTo>
                    <a:pt x="177180" y="940408"/>
                  </a:lnTo>
                  <a:lnTo>
                    <a:pt x="202576" y="940408"/>
                  </a:lnTo>
                  <a:lnTo>
                    <a:pt x="202576" y="934050"/>
                  </a:lnTo>
                  <a:close/>
                </a:path>
                <a:path w="1593850" h="1874520">
                  <a:moveTo>
                    <a:pt x="247016" y="934050"/>
                  </a:moveTo>
                  <a:lnTo>
                    <a:pt x="221620" y="934050"/>
                  </a:lnTo>
                  <a:lnTo>
                    <a:pt x="221620" y="940408"/>
                  </a:lnTo>
                  <a:lnTo>
                    <a:pt x="247016" y="940408"/>
                  </a:lnTo>
                  <a:lnTo>
                    <a:pt x="247016" y="934050"/>
                  </a:lnTo>
                  <a:close/>
                </a:path>
                <a:path w="1593850" h="1874520">
                  <a:moveTo>
                    <a:pt x="291467" y="934050"/>
                  </a:moveTo>
                  <a:lnTo>
                    <a:pt x="266059" y="934050"/>
                  </a:lnTo>
                  <a:lnTo>
                    <a:pt x="266059" y="940408"/>
                  </a:lnTo>
                  <a:lnTo>
                    <a:pt x="291467" y="940408"/>
                  </a:lnTo>
                  <a:lnTo>
                    <a:pt x="291467" y="934050"/>
                  </a:lnTo>
                  <a:close/>
                </a:path>
                <a:path w="1593850" h="1874520">
                  <a:moveTo>
                    <a:pt x="335926" y="934050"/>
                  </a:moveTo>
                  <a:lnTo>
                    <a:pt x="310530" y="934050"/>
                  </a:lnTo>
                  <a:lnTo>
                    <a:pt x="310530" y="940408"/>
                  </a:lnTo>
                  <a:lnTo>
                    <a:pt x="335926" y="940408"/>
                  </a:lnTo>
                  <a:lnTo>
                    <a:pt x="335926" y="934050"/>
                  </a:lnTo>
                  <a:close/>
                </a:path>
                <a:path w="1593850" h="1874520">
                  <a:moveTo>
                    <a:pt x="380366" y="934050"/>
                  </a:moveTo>
                  <a:lnTo>
                    <a:pt x="354970" y="934050"/>
                  </a:lnTo>
                  <a:lnTo>
                    <a:pt x="354970" y="940408"/>
                  </a:lnTo>
                  <a:lnTo>
                    <a:pt x="380366" y="940408"/>
                  </a:lnTo>
                  <a:lnTo>
                    <a:pt x="380366" y="934050"/>
                  </a:lnTo>
                  <a:close/>
                </a:path>
                <a:path w="1593850" h="1874520">
                  <a:moveTo>
                    <a:pt x="424817" y="934050"/>
                  </a:moveTo>
                  <a:lnTo>
                    <a:pt x="399409" y="934050"/>
                  </a:lnTo>
                  <a:lnTo>
                    <a:pt x="399409" y="940408"/>
                  </a:lnTo>
                  <a:lnTo>
                    <a:pt x="424817" y="940408"/>
                  </a:lnTo>
                  <a:lnTo>
                    <a:pt x="424817" y="934050"/>
                  </a:lnTo>
                  <a:close/>
                </a:path>
                <a:path w="1593850" h="1874520">
                  <a:moveTo>
                    <a:pt x="469276" y="934050"/>
                  </a:moveTo>
                  <a:lnTo>
                    <a:pt x="443880" y="934050"/>
                  </a:lnTo>
                  <a:lnTo>
                    <a:pt x="443880" y="940408"/>
                  </a:lnTo>
                  <a:lnTo>
                    <a:pt x="469276" y="940408"/>
                  </a:lnTo>
                  <a:lnTo>
                    <a:pt x="469276" y="934050"/>
                  </a:lnTo>
                  <a:close/>
                </a:path>
                <a:path w="1593850" h="1874520">
                  <a:moveTo>
                    <a:pt x="513728" y="934050"/>
                  </a:moveTo>
                  <a:lnTo>
                    <a:pt x="488320" y="934050"/>
                  </a:lnTo>
                  <a:lnTo>
                    <a:pt x="488320" y="940408"/>
                  </a:lnTo>
                  <a:lnTo>
                    <a:pt x="513728" y="940408"/>
                  </a:lnTo>
                  <a:lnTo>
                    <a:pt x="513728" y="934050"/>
                  </a:lnTo>
                  <a:close/>
                </a:path>
                <a:path w="1593850" h="1874520">
                  <a:moveTo>
                    <a:pt x="558186" y="934050"/>
                  </a:moveTo>
                  <a:lnTo>
                    <a:pt x="532790" y="934050"/>
                  </a:lnTo>
                  <a:lnTo>
                    <a:pt x="532790" y="940408"/>
                  </a:lnTo>
                  <a:lnTo>
                    <a:pt x="558186" y="940408"/>
                  </a:lnTo>
                  <a:lnTo>
                    <a:pt x="558186" y="934050"/>
                  </a:lnTo>
                  <a:close/>
                </a:path>
                <a:path w="1593850" h="1874520">
                  <a:moveTo>
                    <a:pt x="602626" y="934050"/>
                  </a:moveTo>
                  <a:lnTo>
                    <a:pt x="577230" y="934050"/>
                  </a:lnTo>
                  <a:lnTo>
                    <a:pt x="577230" y="940408"/>
                  </a:lnTo>
                  <a:lnTo>
                    <a:pt x="602626" y="940408"/>
                  </a:lnTo>
                  <a:lnTo>
                    <a:pt x="602626" y="934050"/>
                  </a:lnTo>
                  <a:close/>
                </a:path>
                <a:path w="1593850" h="1874520">
                  <a:moveTo>
                    <a:pt x="647078" y="934050"/>
                  </a:moveTo>
                  <a:lnTo>
                    <a:pt x="621670" y="934050"/>
                  </a:lnTo>
                  <a:lnTo>
                    <a:pt x="621670" y="940408"/>
                  </a:lnTo>
                  <a:lnTo>
                    <a:pt x="647078" y="940408"/>
                  </a:lnTo>
                  <a:lnTo>
                    <a:pt x="647078" y="934050"/>
                  </a:lnTo>
                  <a:close/>
                </a:path>
                <a:path w="1593850" h="1874520">
                  <a:moveTo>
                    <a:pt x="691536" y="934050"/>
                  </a:moveTo>
                  <a:lnTo>
                    <a:pt x="666140" y="934050"/>
                  </a:lnTo>
                  <a:lnTo>
                    <a:pt x="666140" y="940408"/>
                  </a:lnTo>
                  <a:lnTo>
                    <a:pt x="691536" y="940408"/>
                  </a:lnTo>
                  <a:lnTo>
                    <a:pt x="691536" y="934050"/>
                  </a:lnTo>
                  <a:close/>
                </a:path>
                <a:path w="1593850" h="1874520">
                  <a:moveTo>
                    <a:pt x="735976" y="934050"/>
                  </a:moveTo>
                  <a:lnTo>
                    <a:pt x="710580" y="934050"/>
                  </a:lnTo>
                  <a:lnTo>
                    <a:pt x="710580" y="940408"/>
                  </a:lnTo>
                  <a:lnTo>
                    <a:pt x="735976" y="940408"/>
                  </a:lnTo>
                  <a:lnTo>
                    <a:pt x="735976" y="934050"/>
                  </a:lnTo>
                  <a:close/>
                </a:path>
                <a:path w="1593850" h="1874520">
                  <a:moveTo>
                    <a:pt x="780428" y="934050"/>
                  </a:moveTo>
                  <a:lnTo>
                    <a:pt x="755020" y="934050"/>
                  </a:lnTo>
                  <a:lnTo>
                    <a:pt x="755020" y="940408"/>
                  </a:lnTo>
                  <a:lnTo>
                    <a:pt x="780428" y="940408"/>
                  </a:lnTo>
                  <a:lnTo>
                    <a:pt x="780428" y="934050"/>
                  </a:lnTo>
                  <a:close/>
                </a:path>
                <a:path w="1593850" h="1874520">
                  <a:moveTo>
                    <a:pt x="824886" y="934050"/>
                  </a:moveTo>
                  <a:lnTo>
                    <a:pt x="799490" y="934050"/>
                  </a:lnTo>
                  <a:lnTo>
                    <a:pt x="799490" y="940408"/>
                  </a:lnTo>
                  <a:lnTo>
                    <a:pt x="824886" y="940408"/>
                  </a:lnTo>
                  <a:lnTo>
                    <a:pt x="824886" y="934050"/>
                  </a:lnTo>
                  <a:close/>
                </a:path>
                <a:path w="1593850" h="1874520">
                  <a:moveTo>
                    <a:pt x="869326" y="934050"/>
                  </a:moveTo>
                  <a:lnTo>
                    <a:pt x="843930" y="934050"/>
                  </a:lnTo>
                  <a:lnTo>
                    <a:pt x="843930" y="940408"/>
                  </a:lnTo>
                  <a:lnTo>
                    <a:pt x="869326" y="940408"/>
                  </a:lnTo>
                  <a:lnTo>
                    <a:pt x="869326" y="934050"/>
                  </a:lnTo>
                  <a:close/>
                </a:path>
                <a:path w="1593850" h="1874520">
                  <a:moveTo>
                    <a:pt x="913778" y="934050"/>
                  </a:moveTo>
                  <a:lnTo>
                    <a:pt x="888370" y="934050"/>
                  </a:lnTo>
                  <a:lnTo>
                    <a:pt x="888370" y="940408"/>
                  </a:lnTo>
                  <a:lnTo>
                    <a:pt x="913778" y="940408"/>
                  </a:lnTo>
                  <a:lnTo>
                    <a:pt x="913778" y="934050"/>
                  </a:lnTo>
                  <a:close/>
                </a:path>
                <a:path w="1593850" h="1874520">
                  <a:moveTo>
                    <a:pt x="958236" y="934050"/>
                  </a:moveTo>
                  <a:lnTo>
                    <a:pt x="932840" y="934050"/>
                  </a:lnTo>
                  <a:lnTo>
                    <a:pt x="932840" y="940408"/>
                  </a:lnTo>
                  <a:lnTo>
                    <a:pt x="958236" y="940408"/>
                  </a:lnTo>
                  <a:lnTo>
                    <a:pt x="958236" y="934050"/>
                  </a:lnTo>
                  <a:close/>
                </a:path>
                <a:path w="1593850" h="1874520">
                  <a:moveTo>
                    <a:pt x="1002676" y="934050"/>
                  </a:moveTo>
                  <a:lnTo>
                    <a:pt x="977280" y="934050"/>
                  </a:lnTo>
                  <a:lnTo>
                    <a:pt x="977280" y="940408"/>
                  </a:lnTo>
                  <a:lnTo>
                    <a:pt x="1002676" y="940408"/>
                  </a:lnTo>
                  <a:lnTo>
                    <a:pt x="1002676" y="934050"/>
                  </a:lnTo>
                  <a:close/>
                </a:path>
                <a:path w="1593850" h="1874520">
                  <a:moveTo>
                    <a:pt x="1047128" y="934050"/>
                  </a:moveTo>
                  <a:lnTo>
                    <a:pt x="1021720" y="934050"/>
                  </a:lnTo>
                  <a:lnTo>
                    <a:pt x="1021720" y="940408"/>
                  </a:lnTo>
                  <a:lnTo>
                    <a:pt x="1047128" y="940408"/>
                  </a:lnTo>
                  <a:lnTo>
                    <a:pt x="1047128" y="934050"/>
                  </a:lnTo>
                  <a:close/>
                </a:path>
                <a:path w="1593850" h="1874520">
                  <a:moveTo>
                    <a:pt x="1091586" y="934050"/>
                  </a:moveTo>
                  <a:lnTo>
                    <a:pt x="1066190" y="934050"/>
                  </a:lnTo>
                  <a:lnTo>
                    <a:pt x="1066190" y="940408"/>
                  </a:lnTo>
                  <a:lnTo>
                    <a:pt x="1091586" y="940408"/>
                  </a:lnTo>
                  <a:lnTo>
                    <a:pt x="1091586" y="934050"/>
                  </a:lnTo>
                  <a:close/>
                </a:path>
                <a:path w="1593850" h="1874520">
                  <a:moveTo>
                    <a:pt x="1136026" y="934050"/>
                  </a:moveTo>
                  <a:lnTo>
                    <a:pt x="1110630" y="934050"/>
                  </a:lnTo>
                  <a:lnTo>
                    <a:pt x="1110630" y="940408"/>
                  </a:lnTo>
                  <a:lnTo>
                    <a:pt x="1136026" y="940408"/>
                  </a:lnTo>
                  <a:lnTo>
                    <a:pt x="1136026" y="934050"/>
                  </a:lnTo>
                  <a:close/>
                </a:path>
                <a:path w="1593850" h="1874520">
                  <a:moveTo>
                    <a:pt x="1180477" y="934050"/>
                  </a:moveTo>
                  <a:lnTo>
                    <a:pt x="1155070" y="934050"/>
                  </a:lnTo>
                  <a:lnTo>
                    <a:pt x="1155070" y="940408"/>
                  </a:lnTo>
                  <a:lnTo>
                    <a:pt x="1180477" y="940408"/>
                  </a:lnTo>
                  <a:lnTo>
                    <a:pt x="1180477" y="934050"/>
                  </a:lnTo>
                  <a:close/>
                </a:path>
                <a:path w="1593850" h="1874520">
                  <a:moveTo>
                    <a:pt x="1224936" y="934050"/>
                  </a:moveTo>
                  <a:lnTo>
                    <a:pt x="1199540" y="934050"/>
                  </a:lnTo>
                  <a:lnTo>
                    <a:pt x="1199540" y="940408"/>
                  </a:lnTo>
                  <a:lnTo>
                    <a:pt x="1224936" y="940408"/>
                  </a:lnTo>
                  <a:lnTo>
                    <a:pt x="1224936" y="934050"/>
                  </a:lnTo>
                  <a:close/>
                </a:path>
                <a:path w="1593850" h="1874520">
                  <a:moveTo>
                    <a:pt x="1269376" y="934050"/>
                  </a:moveTo>
                  <a:lnTo>
                    <a:pt x="1243980" y="934050"/>
                  </a:lnTo>
                  <a:lnTo>
                    <a:pt x="1243980" y="940408"/>
                  </a:lnTo>
                  <a:lnTo>
                    <a:pt x="1269376" y="940408"/>
                  </a:lnTo>
                  <a:lnTo>
                    <a:pt x="1269376" y="934050"/>
                  </a:lnTo>
                  <a:close/>
                </a:path>
                <a:path w="1593850" h="1874520">
                  <a:moveTo>
                    <a:pt x="1313827" y="934050"/>
                  </a:moveTo>
                  <a:lnTo>
                    <a:pt x="1288420" y="934050"/>
                  </a:lnTo>
                  <a:lnTo>
                    <a:pt x="1288420" y="940408"/>
                  </a:lnTo>
                  <a:lnTo>
                    <a:pt x="1313827" y="940408"/>
                  </a:lnTo>
                  <a:lnTo>
                    <a:pt x="1313827" y="934050"/>
                  </a:lnTo>
                  <a:close/>
                </a:path>
                <a:path w="1593850" h="1874520">
                  <a:moveTo>
                    <a:pt x="1358286" y="934050"/>
                  </a:moveTo>
                  <a:lnTo>
                    <a:pt x="1332890" y="934050"/>
                  </a:lnTo>
                  <a:lnTo>
                    <a:pt x="1332890" y="940408"/>
                  </a:lnTo>
                  <a:lnTo>
                    <a:pt x="1358286" y="940408"/>
                  </a:lnTo>
                  <a:lnTo>
                    <a:pt x="1358286" y="934050"/>
                  </a:lnTo>
                  <a:close/>
                </a:path>
                <a:path w="1593850" h="1874520">
                  <a:moveTo>
                    <a:pt x="1402726" y="934050"/>
                  </a:moveTo>
                  <a:lnTo>
                    <a:pt x="1377330" y="934050"/>
                  </a:lnTo>
                  <a:lnTo>
                    <a:pt x="1377330" y="940408"/>
                  </a:lnTo>
                  <a:lnTo>
                    <a:pt x="1402726" y="940408"/>
                  </a:lnTo>
                  <a:lnTo>
                    <a:pt x="1402726" y="934050"/>
                  </a:lnTo>
                  <a:close/>
                </a:path>
                <a:path w="1593850" h="1874520">
                  <a:moveTo>
                    <a:pt x="1447177" y="934050"/>
                  </a:moveTo>
                  <a:lnTo>
                    <a:pt x="1421770" y="934050"/>
                  </a:lnTo>
                  <a:lnTo>
                    <a:pt x="1421770" y="940408"/>
                  </a:lnTo>
                  <a:lnTo>
                    <a:pt x="1447177" y="940408"/>
                  </a:lnTo>
                  <a:lnTo>
                    <a:pt x="1447177" y="934050"/>
                  </a:lnTo>
                  <a:close/>
                </a:path>
                <a:path w="1593850" h="1874520">
                  <a:moveTo>
                    <a:pt x="1491636" y="934050"/>
                  </a:moveTo>
                  <a:lnTo>
                    <a:pt x="1466240" y="934050"/>
                  </a:lnTo>
                  <a:lnTo>
                    <a:pt x="1466240" y="940408"/>
                  </a:lnTo>
                  <a:lnTo>
                    <a:pt x="1491636" y="940408"/>
                  </a:lnTo>
                  <a:lnTo>
                    <a:pt x="1491636" y="934050"/>
                  </a:lnTo>
                  <a:close/>
                </a:path>
                <a:path w="1593850" h="1874520">
                  <a:moveTo>
                    <a:pt x="1536076" y="934050"/>
                  </a:moveTo>
                  <a:lnTo>
                    <a:pt x="1510680" y="934050"/>
                  </a:lnTo>
                  <a:lnTo>
                    <a:pt x="1510680" y="940408"/>
                  </a:lnTo>
                  <a:lnTo>
                    <a:pt x="1536076" y="940408"/>
                  </a:lnTo>
                  <a:lnTo>
                    <a:pt x="1536076" y="934050"/>
                  </a:lnTo>
                  <a:close/>
                </a:path>
                <a:path w="1593850" h="1874520">
                  <a:moveTo>
                    <a:pt x="1552376" y="937229"/>
                  </a:moveTo>
                  <a:lnTo>
                    <a:pt x="1552376" y="962220"/>
                  </a:lnTo>
                  <a:lnTo>
                    <a:pt x="1558716" y="962220"/>
                  </a:lnTo>
                  <a:lnTo>
                    <a:pt x="1558716" y="940408"/>
                  </a:lnTo>
                  <a:lnTo>
                    <a:pt x="1555120" y="940408"/>
                  </a:lnTo>
                  <a:lnTo>
                    <a:pt x="1555120" y="940007"/>
                  </a:lnTo>
                  <a:lnTo>
                    <a:pt x="1552376" y="937229"/>
                  </a:lnTo>
                  <a:close/>
                </a:path>
                <a:path w="1593850" h="1874520">
                  <a:moveTo>
                    <a:pt x="1555120" y="940007"/>
                  </a:moveTo>
                  <a:lnTo>
                    <a:pt x="1555120" y="940408"/>
                  </a:lnTo>
                  <a:lnTo>
                    <a:pt x="1555516" y="940408"/>
                  </a:lnTo>
                  <a:lnTo>
                    <a:pt x="1555120" y="940007"/>
                  </a:lnTo>
                  <a:close/>
                </a:path>
                <a:path w="1593850" h="1874520">
                  <a:moveTo>
                    <a:pt x="1558716" y="934050"/>
                  </a:moveTo>
                  <a:lnTo>
                    <a:pt x="1555120" y="934050"/>
                  </a:lnTo>
                  <a:lnTo>
                    <a:pt x="1555120" y="940007"/>
                  </a:lnTo>
                  <a:lnTo>
                    <a:pt x="1555516" y="940408"/>
                  </a:lnTo>
                  <a:lnTo>
                    <a:pt x="1558716" y="940408"/>
                  </a:lnTo>
                  <a:lnTo>
                    <a:pt x="1558716" y="934050"/>
                  </a:lnTo>
                  <a:close/>
                </a:path>
                <a:path w="1593850" h="1874520">
                  <a:moveTo>
                    <a:pt x="1558722" y="981270"/>
                  </a:moveTo>
                  <a:lnTo>
                    <a:pt x="1552376" y="981270"/>
                  </a:lnTo>
                  <a:lnTo>
                    <a:pt x="1552376" y="1006678"/>
                  </a:lnTo>
                  <a:lnTo>
                    <a:pt x="1558722" y="1006678"/>
                  </a:lnTo>
                  <a:lnTo>
                    <a:pt x="1558722" y="981270"/>
                  </a:lnTo>
                  <a:close/>
                </a:path>
                <a:path w="1593850" h="1874520">
                  <a:moveTo>
                    <a:pt x="1558722" y="1025728"/>
                  </a:moveTo>
                  <a:lnTo>
                    <a:pt x="1552376" y="1025728"/>
                  </a:lnTo>
                  <a:lnTo>
                    <a:pt x="1552376" y="1051124"/>
                  </a:lnTo>
                  <a:lnTo>
                    <a:pt x="1558722" y="1051124"/>
                  </a:lnTo>
                  <a:lnTo>
                    <a:pt x="1558722" y="1025728"/>
                  </a:lnTo>
                  <a:close/>
                </a:path>
                <a:path w="1593850" h="1874520">
                  <a:moveTo>
                    <a:pt x="1558722" y="1070174"/>
                  </a:moveTo>
                  <a:lnTo>
                    <a:pt x="1552376" y="1070174"/>
                  </a:lnTo>
                  <a:lnTo>
                    <a:pt x="1552376" y="1095570"/>
                  </a:lnTo>
                  <a:lnTo>
                    <a:pt x="1558722" y="1095570"/>
                  </a:lnTo>
                  <a:lnTo>
                    <a:pt x="1558722" y="1070174"/>
                  </a:lnTo>
                  <a:close/>
                </a:path>
                <a:path w="1593850" h="1874520">
                  <a:moveTo>
                    <a:pt x="1558722" y="1114620"/>
                  </a:moveTo>
                  <a:lnTo>
                    <a:pt x="1552376" y="1114620"/>
                  </a:lnTo>
                  <a:lnTo>
                    <a:pt x="1552376" y="1140028"/>
                  </a:lnTo>
                  <a:lnTo>
                    <a:pt x="1558722" y="1140028"/>
                  </a:lnTo>
                  <a:lnTo>
                    <a:pt x="1558722" y="1114620"/>
                  </a:lnTo>
                  <a:close/>
                </a:path>
                <a:path w="1593850" h="1874520">
                  <a:moveTo>
                    <a:pt x="1558722" y="1159078"/>
                  </a:moveTo>
                  <a:lnTo>
                    <a:pt x="1552376" y="1159078"/>
                  </a:lnTo>
                  <a:lnTo>
                    <a:pt x="1552376" y="1184474"/>
                  </a:lnTo>
                  <a:lnTo>
                    <a:pt x="1558722" y="1184474"/>
                  </a:lnTo>
                  <a:lnTo>
                    <a:pt x="1558722" y="1159078"/>
                  </a:lnTo>
                  <a:close/>
                </a:path>
                <a:path w="1593850" h="1874520">
                  <a:moveTo>
                    <a:pt x="1558722" y="1203524"/>
                  </a:moveTo>
                  <a:lnTo>
                    <a:pt x="1552376" y="1203524"/>
                  </a:lnTo>
                  <a:lnTo>
                    <a:pt x="1552376" y="1228920"/>
                  </a:lnTo>
                  <a:lnTo>
                    <a:pt x="1558722" y="1228920"/>
                  </a:lnTo>
                  <a:lnTo>
                    <a:pt x="1558722" y="1203524"/>
                  </a:lnTo>
                  <a:close/>
                </a:path>
                <a:path w="1593850" h="1874520">
                  <a:moveTo>
                    <a:pt x="1558722" y="1247970"/>
                  </a:moveTo>
                  <a:lnTo>
                    <a:pt x="1552376" y="1247970"/>
                  </a:lnTo>
                  <a:lnTo>
                    <a:pt x="1552376" y="1273378"/>
                  </a:lnTo>
                  <a:lnTo>
                    <a:pt x="1558722" y="1273378"/>
                  </a:lnTo>
                  <a:lnTo>
                    <a:pt x="1558722" y="1247970"/>
                  </a:lnTo>
                  <a:close/>
                </a:path>
                <a:path w="1593850" h="1874520">
                  <a:moveTo>
                    <a:pt x="1558722" y="1292428"/>
                  </a:moveTo>
                  <a:lnTo>
                    <a:pt x="1552376" y="1292428"/>
                  </a:lnTo>
                  <a:lnTo>
                    <a:pt x="1552376" y="1317824"/>
                  </a:lnTo>
                  <a:lnTo>
                    <a:pt x="1558722" y="1317824"/>
                  </a:lnTo>
                  <a:lnTo>
                    <a:pt x="1558722" y="1292428"/>
                  </a:lnTo>
                  <a:close/>
                </a:path>
                <a:path w="1593850" h="1874520">
                  <a:moveTo>
                    <a:pt x="1558722" y="1336874"/>
                  </a:moveTo>
                  <a:lnTo>
                    <a:pt x="1552376" y="1336874"/>
                  </a:lnTo>
                  <a:lnTo>
                    <a:pt x="1552376" y="1362270"/>
                  </a:lnTo>
                  <a:lnTo>
                    <a:pt x="1558722" y="1362270"/>
                  </a:lnTo>
                  <a:lnTo>
                    <a:pt x="1558722" y="1336874"/>
                  </a:lnTo>
                  <a:close/>
                </a:path>
                <a:path w="1593850" h="1874520">
                  <a:moveTo>
                    <a:pt x="1558722" y="1381320"/>
                  </a:moveTo>
                  <a:lnTo>
                    <a:pt x="1552376" y="1381320"/>
                  </a:lnTo>
                  <a:lnTo>
                    <a:pt x="1552376" y="1406728"/>
                  </a:lnTo>
                  <a:lnTo>
                    <a:pt x="1558722" y="1406728"/>
                  </a:lnTo>
                  <a:lnTo>
                    <a:pt x="1558722" y="1381320"/>
                  </a:lnTo>
                  <a:close/>
                </a:path>
                <a:path w="1593850" h="1874520">
                  <a:moveTo>
                    <a:pt x="1558722" y="1425778"/>
                  </a:moveTo>
                  <a:lnTo>
                    <a:pt x="1552376" y="1425778"/>
                  </a:lnTo>
                  <a:lnTo>
                    <a:pt x="1552376" y="1451174"/>
                  </a:lnTo>
                  <a:lnTo>
                    <a:pt x="1558722" y="1451174"/>
                  </a:lnTo>
                  <a:lnTo>
                    <a:pt x="1558722" y="1425778"/>
                  </a:lnTo>
                  <a:close/>
                </a:path>
                <a:path w="1593850" h="1874520">
                  <a:moveTo>
                    <a:pt x="1558722" y="1470224"/>
                  </a:moveTo>
                  <a:lnTo>
                    <a:pt x="1552376" y="1470224"/>
                  </a:lnTo>
                  <a:lnTo>
                    <a:pt x="1552376" y="1495620"/>
                  </a:lnTo>
                  <a:lnTo>
                    <a:pt x="1558722" y="1495620"/>
                  </a:lnTo>
                  <a:lnTo>
                    <a:pt x="1558722" y="1470224"/>
                  </a:lnTo>
                  <a:close/>
                </a:path>
                <a:path w="1593850" h="1874520">
                  <a:moveTo>
                    <a:pt x="1558722" y="1514670"/>
                  </a:moveTo>
                  <a:lnTo>
                    <a:pt x="1552376" y="1514670"/>
                  </a:lnTo>
                  <a:lnTo>
                    <a:pt x="1552376" y="1540078"/>
                  </a:lnTo>
                  <a:lnTo>
                    <a:pt x="1558722" y="1540078"/>
                  </a:lnTo>
                  <a:lnTo>
                    <a:pt x="1558722" y="1514670"/>
                  </a:lnTo>
                  <a:close/>
                </a:path>
                <a:path w="1593850" h="1874520">
                  <a:moveTo>
                    <a:pt x="1558722" y="1559128"/>
                  </a:moveTo>
                  <a:lnTo>
                    <a:pt x="1552376" y="1559128"/>
                  </a:lnTo>
                  <a:lnTo>
                    <a:pt x="1552376" y="1584524"/>
                  </a:lnTo>
                  <a:lnTo>
                    <a:pt x="1558722" y="1584524"/>
                  </a:lnTo>
                  <a:lnTo>
                    <a:pt x="1558722" y="1559128"/>
                  </a:lnTo>
                  <a:close/>
                </a:path>
                <a:path w="1593850" h="1874520">
                  <a:moveTo>
                    <a:pt x="1558722" y="1603574"/>
                  </a:moveTo>
                  <a:lnTo>
                    <a:pt x="1552376" y="1603574"/>
                  </a:lnTo>
                  <a:lnTo>
                    <a:pt x="1552376" y="1628970"/>
                  </a:lnTo>
                  <a:lnTo>
                    <a:pt x="1558722" y="1628970"/>
                  </a:lnTo>
                  <a:lnTo>
                    <a:pt x="1558722" y="1603574"/>
                  </a:lnTo>
                  <a:close/>
                </a:path>
                <a:path w="1593850" h="1874520">
                  <a:moveTo>
                    <a:pt x="1558722" y="1648020"/>
                  </a:moveTo>
                  <a:lnTo>
                    <a:pt x="1552376" y="1648020"/>
                  </a:lnTo>
                  <a:lnTo>
                    <a:pt x="1552376" y="1673428"/>
                  </a:lnTo>
                  <a:lnTo>
                    <a:pt x="1558722" y="1673428"/>
                  </a:lnTo>
                  <a:lnTo>
                    <a:pt x="1558722" y="1648020"/>
                  </a:lnTo>
                  <a:close/>
                </a:path>
                <a:path w="1593850" h="1874520">
                  <a:moveTo>
                    <a:pt x="1558722" y="1692478"/>
                  </a:moveTo>
                  <a:lnTo>
                    <a:pt x="1552376" y="1692478"/>
                  </a:lnTo>
                  <a:lnTo>
                    <a:pt x="1552376" y="1717874"/>
                  </a:lnTo>
                  <a:lnTo>
                    <a:pt x="1558722" y="1717874"/>
                  </a:lnTo>
                  <a:lnTo>
                    <a:pt x="1558722" y="1692478"/>
                  </a:lnTo>
                  <a:close/>
                </a:path>
                <a:path w="1593850" h="1874520">
                  <a:moveTo>
                    <a:pt x="1558722" y="1736924"/>
                  </a:moveTo>
                  <a:lnTo>
                    <a:pt x="1552376" y="1736924"/>
                  </a:lnTo>
                  <a:lnTo>
                    <a:pt x="1552376" y="1762320"/>
                  </a:lnTo>
                  <a:lnTo>
                    <a:pt x="1558722" y="1762320"/>
                  </a:lnTo>
                  <a:lnTo>
                    <a:pt x="1558722" y="1736924"/>
                  </a:lnTo>
                  <a:close/>
                </a:path>
                <a:path w="1593850" h="1874520">
                  <a:moveTo>
                    <a:pt x="1552376" y="1798277"/>
                  </a:moveTo>
                  <a:lnTo>
                    <a:pt x="1517416" y="1798277"/>
                  </a:lnTo>
                  <a:lnTo>
                    <a:pt x="1555516" y="1874477"/>
                  </a:lnTo>
                  <a:lnTo>
                    <a:pt x="1589365" y="1806778"/>
                  </a:lnTo>
                  <a:lnTo>
                    <a:pt x="1552376" y="1806778"/>
                  </a:lnTo>
                  <a:lnTo>
                    <a:pt x="1552376" y="1798277"/>
                  </a:lnTo>
                  <a:close/>
                </a:path>
                <a:path w="1593850" h="1874520">
                  <a:moveTo>
                    <a:pt x="1558722" y="1781370"/>
                  </a:moveTo>
                  <a:lnTo>
                    <a:pt x="1552376" y="1781370"/>
                  </a:lnTo>
                  <a:lnTo>
                    <a:pt x="1552376" y="1806778"/>
                  </a:lnTo>
                  <a:lnTo>
                    <a:pt x="1558722" y="1806778"/>
                  </a:lnTo>
                  <a:lnTo>
                    <a:pt x="1558722" y="1781370"/>
                  </a:lnTo>
                  <a:close/>
                </a:path>
                <a:path w="1593850" h="1874520">
                  <a:moveTo>
                    <a:pt x="1593616" y="1798277"/>
                  </a:moveTo>
                  <a:lnTo>
                    <a:pt x="1558722" y="1798277"/>
                  </a:lnTo>
                  <a:lnTo>
                    <a:pt x="1558722" y="1806778"/>
                  </a:lnTo>
                  <a:lnTo>
                    <a:pt x="1589365" y="1806778"/>
                  </a:lnTo>
                  <a:lnTo>
                    <a:pt x="1593616" y="1798277"/>
                  </a:lnTo>
                  <a:close/>
                </a:path>
              </a:pathLst>
            </a:custGeom>
            <a:solidFill>
              <a:srgbClr val="44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31A1A36D-CB37-33F6-BC60-219B3393163D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2825" y="3297238"/>
              <a:ext cx="2708275" cy="1873250"/>
            </a:xfrm>
            <a:custGeom>
              <a:avLst/>
              <a:gdLst>
                <a:gd name="T0" fmla="*/ 6357 w 2708275"/>
                <a:gd name="T1" fmla="*/ 69835 h 1874520"/>
                <a:gd name="T2" fmla="*/ 0 w 2708275"/>
                <a:gd name="T3" fmla="*/ 158746 h 1874520"/>
                <a:gd name="T4" fmla="*/ 0 w 2708275"/>
                <a:gd name="T5" fmla="*/ 222248 h 1874520"/>
                <a:gd name="T6" fmla="*/ 6357 w 2708275"/>
                <a:gd name="T7" fmla="*/ 311139 h 1874520"/>
                <a:gd name="T8" fmla="*/ 6357 w 2708275"/>
                <a:gd name="T9" fmla="*/ 355598 h 1874520"/>
                <a:gd name="T10" fmla="*/ 6357 w 2708275"/>
                <a:gd name="T11" fmla="*/ 469885 h 1874520"/>
                <a:gd name="T12" fmla="*/ 0 w 2708275"/>
                <a:gd name="T13" fmla="*/ 558789 h 1874520"/>
                <a:gd name="T14" fmla="*/ 0 w 2708275"/>
                <a:gd name="T15" fmla="*/ 622286 h 1874520"/>
                <a:gd name="T16" fmla="*/ 6357 w 2708275"/>
                <a:gd name="T17" fmla="*/ 711189 h 1874520"/>
                <a:gd name="T18" fmla="*/ 6357 w 2708275"/>
                <a:gd name="T19" fmla="*/ 755636 h 1874520"/>
                <a:gd name="T20" fmla="*/ 6357 w 2708275"/>
                <a:gd name="T21" fmla="*/ 869935 h 1874520"/>
                <a:gd name="T22" fmla="*/ 0 w 2708275"/>
                <a:gd name="T23" fmla="*/ 940408 h 1874520"/>
                <a:gd name="T24" fmla="*/ 6339 w 2708275"/>
                <a:gd name="T25" fmla="*/ 937229 h 1874520"/>
                <a:gd name="T26" fmla="*/ 43830 w 2708275"/>
                <a:gd name="T27" fmla="*/ 940408 h 1874520"/>
                <a:gd name="T28" fmla="*/ 132709 w 2708275"/>
                <a:gd name="T29" fmla="*/ 934050 h 1874520"/>
                <a:gd name="T30" fmla="*/ 247016 w 2708275"/>
                <a:gd name="T31" fmla="*/ 934050 h 1874520"/>
                <a:gd name="T32" fmla="*/ 291467 w 2708275"/>
                <a:gd name="T33" fmla="*/ 934050 h 1874520"/>
                <a:gd name="T34" fmla="*/ 380366 w 2708275"/>
                <a:gd name="T35" fmla="*/ 940408 h 1874520"/>
                <a:gd name="T36" fmla="*/ 443880 w 2708275"/>
                <a:gd name="T37" fmla="*/ 940408 h 1874520"/>
                <a:gd name="T38" fmla="*/ 532790 w 2708275"/>
                <a:gd name="T39" fmla="*/ 934050 h 1874520"/>
                <a:gd name="T40" fmla="*/ 647078 w 2708275"/>
                <a:gd name="T41" fmla="*/ 934050 h 1874520"/>
                <a:gd name="T42" fmla="*/ 691536 w 2708275"/>
                <a:gd name="T43" fmla="*/ 934050 h 1874520"/>
                <a:gd name="T44" fmla="*/ 780428 w 2708275"/>
                <a:gd name="T45" fmla="*/ 940408 h 1874520"/>
                <a:gd name="T46" fmla="*/ 843930 w 2708275"/>
                <a:gd name="T47" fmla="*/ 940408 h 1874520"/>
                <a:gd name="T48" fmla="*/ 932840 w 2708275"/>
                <a:gd name="T49" fmla="*/ 934050 h 1874520"/>
                <a:gd name="T50" fmla="*/ 1047128 w 2708275"/>
                <a:gd name="T51" fmla="*/ 934050 h 1874520"/>
                <a:gd name="T52" fmla="*/ 1091586 w 2708275"/>
                <a:gd name="T53" fmla="*/ 934050 h 1874520"/>
                <a:gd name="T54" fmla="*/ 1180477 w 2708275"/>
                <a:gd name="T55" fmla="*/ 940408 h 1874520"/>
                <a:gd name="T56" fmla="*/ 1243980 w 2708275"/>
                <a:gd name="T57" fmla="*/ 940408 h 1874520"/>
                <a:gd name="T58" fmla="*/ 1332890 w 2708275"/>
                <a:gd name="T59" fmla="*/ 934050 h 1874520"/>
                <a:gd name="T60" fmla="*/ 1447177 w 2708275"/>
                <a:gd name="T61" fmla="*/ 934050 h 1874520"/>
                <a:gd name="T62" fmla="*/ 1491636 w 2708275"/>
                <a:gd name="T63" fmla="*/ 934050 h 1874520"/>
                <a:gd name="T64" fmla="*/ 1580527 w 2708275"/>
                <a:gd name="T65" fmla="*/ 940408 h 1874520"/>
                <a:gd name="T66" fmla="*/ 1644030 w 2708275"/>
                <a:gd name="T67" fmla="*/ 940408 h 1874520"/>
                <a:gd name="T68" fmla="*/ 1732940 w 2708275"/>
                <a:gd name="T69" fmla="*/ 934050 h 1874520"/>
                <a:gd name="T70" fmla="*/ 1847227 w 2708275"/>
                <a:gd name="T71" fmla="*/ 934050 h 1874520"/>
                <a:gd name="T72" fmla="*/ 1891686 w 2708275"/>
                <a:gd name="T73" fmla="*/ 934050 h 1874520"/>
                <a:gd name="T74" fmla="*/ 1980577 w 2708275"/>
                <a:gd name="T75" fmla="*/ 940408 h 1874520"/>
                <a:gd name="T76" fmla="*/ 2044080 w 2708275"/>
                <a:gd name="T77" fmla="*/ 940408 h 1874520"/>
                <a:gd name="T78" fmla="*/ 2132990 w 2708275"/>
                <a:gd name="T79" fmla="*/ 934050 h 1874520"/>
                <a:gd name="T80" fmla="*/ 2247277 w 2708275"/>
                <a:gd name="T81" fmla="*/ 934050 h 1874520"/>
                <a:gd name="T82" fmla="*/ 2291736 w 2708275"/>
                <a:gd name="T83" fmla="*/ 934050 h 1874520"/>
                <a:gd name="T84" fmla="*/ 2380627 w 2708275"/>
                <a:gd name="T85" fmla="*/ 940408 h 1874520"/>
                <a:gd name="T86" fmla="*/ 2444130 w 2708275"/>
                <a:gd name="T87" fmla="*/ 940408 h 1874520"/>
                <a:gd name="T88" fmla="*/ 2533040 w 2708275"/>
                <a:gd name="T89" fmla="*/ 934050 h 1874520"/>
                <a:gd name="T90" fmla="*/ 2647327 w 2708275"/>
                <a:gd name="T91" fmla="*/ 934050 h 1874520"/>
                <a:gd name="T92" fmla="*/ 2670169 w 2708275"/>
                <a:gd name="T93" fmla="*/ 940408 h 1874520"/>
                <a:gd name="T94" fmla="*/ 2673370 w 2708275"/>
                <a:gd name="T95" fmla="*/ 937229 h 1874520"/>
                <a:gd name="T96" fmla="*/ 2673357 w 2708275"/>
                <a:gd name="T97" fmla="*/ 977877 h 1874520"/>
                <a:gd name="T98" fmla="*/ 2673357 w 2708275"/>
                <a:gd name="T99" fmla="*/ 1092177 h 1874520"/>
                <a:gd name="T100" fmla="*/ 2666999 w 2708275"/>
                <a:gd name="T101" fmla="*/ 1181081 h 1874520"/>
                <a:gd name="T102" fmla="*/ 2666999 w 2708275"/>
                <a:gd name="T103" fmla="*/ 1244577 h 1874520"/>
                <a:gd name="T104" fmla="*/ 2673357 w 2708275"/>
                <a:gd name="T105" fmla="*/ 1333481 h 1874520"/>
                <a:gd name="T106" fmla="*/ 2673357 w 2708275"/>
                <a:gd name="T107" fmla="*/ 1377927 h 1874520"/>
                <a:gd name="T108" fmla="*/ 2673357 w 2708275"/>
                <a:gd name="T109" fmla="*/ 1492227 h 1874520"/>
                <a:gd name="T110" fmla="*/ 2666999 w 2708275"/>
                <a:gd name="T111" fmla="*/ 1581131 h 1874520"/>
                <a:gd name="T112" fmla="*/ 2666999 w 2708275"/>
                <a:gd name="T113" fmla="*/ 1644627 h 1874520"/>
                <a:gd name="T114" fmla="*/ 2673357 w 2708275"/>
                <a:gd name="T115" fmla="*/ 1733531 h 1874520"/>
                <a:gd name="T116" fmla="*/ 2666999 w 2708275"/>
                <a:gd name="T117" fmla="*/ 1803373 h 1874520"/>
                <a:gd name="T118" fmla="*/ 2673357 w 2708275"/>
                <a:gd name="T119" fmla="*/ 1803373 h 18745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08275" h="1874520">
                  <a:moveTo>
                    <a:pt x="6357" y="0"/>
                  </a:moveTo>
                  <a:lnTo>
                    <a:pt x="0" y="0"/>
                  </a:lnTo>
                  <a:lnTo>
                    <a:pt x="0" y="25396"/>
                  </a:lnTo>
                  <a:lnTo>
                    <a:pt x="6357" y="25396"/>
                  </a:lnTo>
                  <a:lnTo>
                    <a:pt x="6357" y="0"/>
                  </a:lnTo>
                  <a:close/>
                </a:path>
                <a:path w="2708275" h="1874520">
                  <a:moveTo>
                    <a:pt x="6357" y="44439"/>
                  </a:moveTo>
                  <a:lnTo>
                    <a:pt x="0" y="44439"/>
                  </a:lnTo>
                  <a:lnTo>
                    <a:pt x="0" y="69835"/>
                  </a:lnTo>
                  <a:lnTo>
                    <a:pt x="6357" y="69835"/>
                  </a:lnTo>
                  <a:lnTo>
                    <a:pt x="6357" y="44439"/>
                  </a:lnTo>
                  <a:close/>
                </a:path>
                <a:path w="2708275" h="1874520">
                  <a:moveTo>
                    <a:pt x="6357" y="88898"/>
                  </a:moveTo>
                  <a:lnTo>
                    <a:pt x="0" y="88898"/>
                  </a:lnTo>
                  <a:lnTo>
                    <a:pt x="0" y="114306"/>
                  </a:lnTo>
                  <a:lnTo>
                    <a:pt x="6357" y="114306"/>
                  </a:lnTo>
                  <a:lnTo>
                    <a:pt x="6357" y="88898"/>
                  </a:lnTo>
                  <a:close/>
                </a:path>
                <a:path w="2708275" h="1874520">
                  <a:moveTo>
                    <a:pt x="6357" y="133349"/>
                  </a:moveTo>
                  <a:lnTo>
                    <a:pt x="0" y="133349"/>
                  </a:lnTo>
                  <a:lnTo>
                    <a:pt x="0" y="158746"/>
                  </a:lnTo>
                  <a:lnTo>
                    <a:pt x="6357" y="158746"/>
                  </a:lnTo>
                  <a:lnTo>
                    <a:pt x="6357" y="133349"/>
                  </a:lnTo>
                  <a:close/>
                </a:path>
                <a:path w="2708275" h="1874520">
                  <a:moveTo>
                    <a:pt x="6357" y="177789"/>
                  </a:moveTo>
                  <a:lnTo>
                    <a:pt x="0" y="177789"/>
                  </a:lnTo>
                  <a:lnTo>
                    <a:pt x="0" y="203185"/>
                  </a:lnTo>
                  <a:lnTo>
                    <a:pt x="6357" y="203185"/>
                  </a:lnTo>
                  <a:lnTo>
                    <a:pt x="6357" y="177789"/>
                  </a:lnTo>
                  <a:close/>
                </a:path>
                <a:path w="2708275" h="1874520">
                  <a:moveTo>
                    <a:pt x="6357" y="222248"/>
                  </a:moveTo>
                  <a:lnTo>
                    <a:pt x="0" y="222248"/>
                  </a:lnTo>
                  <a:lnTo>
                    <a:pt x="0" y="247656"/>
                  </a:lnTo>
                  <a:lnTo>
                    <a:pt x="6357" y="247656"/>
                  </a:lnTo>
                  <a:lnTo>
                    <a:pt x="6357" y="222248"/>
                  </a:lnTo>
                  <a:close/>
                </a:path>
                <a:path w="2708275" h="1874520">
                  <a:moveTo>
                    <a:pt x="6357" y="266699"/>
                  </a:moveTo>
                  <a:lnTo>
                    <a:pt x="0" y="266699"/>
                  </a:lnTo>
                  <a:lnTo>
                    <a:pt x="0" y="292096"/>
                  </a:lnTo>
                  <a:lnTo>
                    <a:pt x="6357" y="292096"/>
                  </a:lnTo>
                  <a:lnTo>
                    <a:pt x="6357" y="266699"/>
                  </a:lnTo>
                  <a:close/>
                </a:path>
                <a:path w="2708275" h="1874520">
                  <a:moveTo>
                    <a:pt x="6357" y="311139"/>
                  </a:moveTo>
                  <a:lnTo>
                    <a:pt x="0" y="311139"/>
                  </a:lnTo>
                  <a:lnTo>
                    <a:pt x="0" y="336535"/>
                  </a:lnTo>
                  <a:lnTo>
                    <a:pt x="6357" y="336535"/>
                  </a:lnTo>
                  <a:lnTo>
                    <a:pt x="6357" y="311139"/>
                  </a:lnTo>
                  <a:close/>
                </a:path>
                <a:path w="2708275" h="1874520">
                  <a:moveTo>
                    <a:pt x="6357" y="355598"/>
                  </a:moveTo>
                  <a:lnTo>
                    <a:pt x="0" y="355598"/>
                  </a:lnTo>
                  <a:lnTo>
                    <a:pt x="0" y="381006"/>
                  </a:lnTo>
                  <a:lnTo>
                    <a:pt x="6357" y="381006"/>
                  </a:lnTo>
                  <a:lnTo>
                    <a:pt x="6357" y="355598"/>
                  </a:lnTo>
                  <a:close/>
                </a:path>
                <a:path w="2708275" h="1874520">
                  <a:moveTo>
                    <a:pt x="6357" y="400049"/>
                  </a:moveTo>
                  <a:lnTo>
                    <a:pt x="0" y="400049"/>
                  </a:lnTo>
                  <a:lnTo>
                    <a:pt x="0" y="425446"/>
                  </a:lnTo>
                  <a:lnTo>
                    <a:pt x="6357" y="425446"/>
                  </a:lnTo>
                  <a:lnTo>
                    <a:pt x="6357" y="400049"/>
                  </a:lnTo>
                  <a:close/>
                </a:path>
                <a:path w="2708275" h="1874520">
                  <a:moveTo>
                    <a:pt x="6357" y="444489"/>
                  </a:moveTo>
                  <a:lnTo>
                    <a:pt x="0" y="444489"/>
                  </a:lnTo>
                  <a:lnTo>
                    <a:pt x="0" y="469885"/>
                  </a:lnTo>
                  <a:lnTo>
                    <a:pt x="6357" y="469885"/>
                  </a:lnTo>
                  <a:lnTo>
                    <a:pt x="6357" y="444489"/>
                  </a:lnTo>
                  <a:close/>
                </a:path>
                <a:path w="2708275" h="1874520">
                  <a:moveTo>
                    <a:pt x="6357" y="488936"/>
                  </a:moveTo>
                  <a:lnTo>
                    <a:pt x="0" y="488936"/>
                  </a:lnTo>
                  <a:lnTo>
                    <a:pt x="0" y="514343"/>
                  </a:lnTo>
                  <a:lnTo>
                    <a:pt x="6357" y="514343"/>
                  </a:lnTo>
                  <a:lnTo>
                    <a:pt x="6357" y="488936"/>
                  </a:lnTo>
                  <a:close/>
                </a:path>
                <a:path w="2708275" h="1874520">
                  <a:moveTo>
                    <a:pt x="6357" y="533393"/>
                  </a:moveTo>
                  <a:lnTo>
                    <a:pt x="0" y="533393"/>
                  </a:lnTo>
                  <a:lnTo>
                    <a:pt x="0" y="558789"/>
                  </a:lnTo>
                  <a:lnTo>
                    <a:pt x="6357" y="558789"/>
                  </a:lnTo>
                  <a:lnTo>
                    <a:pt x="6357" y="533393"/>
                  </a:lnTo>
                  <a:close/>
                </a:path>
                <a:path w="2708275" h="1874520">
                  <a:moveTo>
                    <a:pt x="6357" y="577839"/>
                  </a:moveTo>
                  <a:lnTo>
                    <a:pt x="0" y="577839"/>
                  </a:lnTo>
                  <a:lnTo>
                    <a:pt x="0" y="603235"/>
                  </a:lnTo>
                  <a:lnTo>
                    <a:pt x="6357" y="603235"/>
                  </a:lnTo>
                  <a:lnTo>
                    <a:pt x="6357" y="577839"/>
                  </a:lnTo>
                  <a:close/>
                </a:path>
                <a:path w="2708275" h="1874520">
                  <a:moveTo>
                    <a:pt x="6357" y="622286"/>
                  </a:moveTo>
                  <a:lnTo>
                    <a:pt x="0" y="622286"/>
                  </a:lnTo>
                  <a:lnTo>
                    <a:pt x="0" y="647693"/>
                  </a:lnTo>
                  <a:lnTo>
                    <a:pt x="6357" y="647693"/>
                  </a:lnTo>
                  <a:lnTo>
                    <a:pt x="6357" y="622286"/>
                  </a:lnTo>
                  <a:close/>
                </a:path>
                <a:path w="2708275" h="1874520">
                  <a:moveTo>
                    <a:pt x="6357" y="666743"/>
                  </a:moveTo>
                  <a:lnTo>
                    <a:pt x="0" y="666743"/>
                  </a:lnTo>
                  <a:lnTo>
                    <a:pt x="0" y="692139"/>
                  </a:lnTo>
                  <a:lnTo>
                    <a:pt x="6357" y="692139"/>
                  </a:lnTo>
                  <a:lnTo>
                    <a:pt x="6357" y="666743"/>
                  </a:lnTo>
                  <a:close/>
                </a:path>
                <a:path w="2708275" h="1874520">
                  <a:moveTo>
                    <a:pt x="6357" y="711189"/>
                  </a:moveTo>
                  <a:lnTo>
                    <a:pt x="0" y="711189"/>
                  </a:lnTo>
                  <a:lnTo>
                    <a:pt x="0" y="736585"/>
                  </a:lnTo>
                  <a:lnTo>
                    <a:pt x="6357" y="736585"/>
                  </a:lnTo>
                  <a:lnTo>
                    <a:pt x="6357" y="711189"/>
                  </a:lnTo>
                  <a:close/>
                </a:path>
                <a:path w="2708275" h="1874520">
                  <a:moveTo>
                    <a:pt x="6357" y="755636"/>
                  </a:moveTo>
                  <a:lnTo>
                    <a:pt x="0" y="755636"/>
                  </a:lnTo>
                  <a:lnTo>
                    <a:pt x="0" y="781043"/>
                  </a:lnTo>
                  <a:lnTo>
                    <a:pt x="6357" y="781043"/>
                  </a:lnTo>
                  <a:lnTo>
                    <a:pt x="6357" y="755636"/>
                  </a:lnTo>
                  <a:close/>
                </a:path>
                <a:path w="2708275" h="1874520">
                  <a:moveTo>
                    <a:pt x="6357" y="800093"/>
                  </a:moveTo>
                  <a:lnTo>
                    <a:pt x="0" y="800093"/>
                  </a:lnTo>
                  <a:lnTo>
                    <a:pt x="0" y="825489"/>
                  </a:lnTo>
                  <a:lnTo>
                    <a:pt x="6357" y="825489"/>
                  </a:lnTo>
                  <a:lnTo>
                    <a:pt x="6357" y="800093"/>
                  </a:lnTo>
                  <a:close/>
                </a:path>
                <a:path w="2708275" h="1874520">
                  <a:moveTo>
                    <a:pt x="6357" y="844539"/>
                  </a:moveTo>
                  <a:lnTo>
                    <a:pt x="0" y="844539"/>
                  </a:lnTo>
                  <a:lnTo>
                    <a:pt x="0" y="869935"/>
                  </a:lnTo>
                  <a:lnTo>
                    <a:pt x="6357" y="869935"/>
                  </a:lnTo>
                  <a:lnTo>
                    <a:pt x="6357" y="844539"/>
                  </a:lnTo>
                  <a:close/>
                </a:path>
                <a:path w="2708275" h="1874520">
                  <a:moveTo>
                    <a:pt x="6357" y="888986"/>
                  </a:moveTo>
                  <a:lnTo>
                    <a:pt x="0" y="888986"/>
                  </a:lnTo>
                  <a:lnTo>
                    <a:pt x="0" y="914393"/>
                  </a:lnTo>
                  <a:lnTo>
                    <a:pt x="6357" y="914393"/>
                  </a:lnTo>
                  <a:lnTo>
                    <a:pt x="6357" y="888986"/>
                  </a:lnTo>
                  <a:close/>
                </a:path>
                <a:path w="2708275" h="1874520">
                  <a:moveTo>
                    <a:pt x="6339" y="933443"/>
                  </a:moveTo>
                  <a:lnTo>
                    <a:pt x="0" y="933443"/>
                  </a:lnTo>
                  <a:lnTo>
                    <a:pt x="0" y="940408"/>
                  </a:lnTo>
                  <a:lnTo>
                    <a:pt x="24780" y="940408"/>
                  </a:lnTo>
                  <a:lnTo>
                    <a:pt x="24780" y="937229"/>
                  </a:lnTo>
                  <a:lnTo>
                    <a:pt x="6339" y="937229"/>
                  </a:lnTo>
                  <a:lnTo>
                    <a:pt x="3169" y="934050"/>
                  </a:lnTo>
                  <a:lnTo>
                    <a:pt x="6339" y="934050"/>
                  </a:lnTo>
                  <a:lnTo>
                    <a:pt x="6339" y="933443"/>
                  </a:lnTo>
                  <a:close/>
                </a:path>
                <a:path w="2708275" h="1874520">
                  <a:moveTo>
                    <a:pt x="6339" y="934050"/>
                  </a:moveTo>
                  <a:lnTo>
                    <a:pt x="3169" y="934050"/>
                  </a:lnTo>
                  <a:lnTo>
                    <a:pt x="6339" y="937229"/>
                  </a:lnTo>
                  <a:lnTo>
                    <a:pt x="6339" y="934050"/>
                  </a:lnTo>
                  <a:close/>
                </a:path>
                <a:path w="2708275" h="1874520">
                  <a:moveTo>
                    <a:pt x="24780" y="934050"/>
                  </a:moveTo>
                  <a:lnTo>
                    <a:pt x="6339" y="934050"/>
                  </a:lnTo>
                  <a:lnTo>
                    <a:pt x="6339" y="937229"/>
                  </a:lnTo>
                  <a:lnTo>
                    <a:pt x="24780" y="937229"/>
                  </a:lnTo>
                  <a:lnTo>
                    <a:pt x="24780" y="934050"/>
                  </a:lnTo>
                  <a:close/>
                </a:path>
                <a:path w="2708275" h="1874520">
                  <a:moveTo>
                    <a:pt x="69226" y="934050"/>
                  </a:moveTo>
                  <a:lnTo>
                    <a:pt x="43830" y="934050"/>
                  </a:lnTo>
                  <a:lnTo>
                    <a:pt x="43830" y="940408"/>
                  </a:lnTo>
                  <a:lnTo>
                    <a:pt x="69226" y="940408"/>
                  </a:lnTo>
                  <a:lnTo>
                    <a:pt x="69226" y="934050"/>
                  </a:lnTo>
                  <a:close/>
                </a:path>
                <a:path w="2708275" h="1874520">
                  <a:moveTo>
                    <a:pt x="113666" y="934050"/>
                  </a:moveTo>
                  <a:lnTo>
                    <a:pt x="88270" y="934050"/>
                  </a:lnTo>
                  <a:lnTo>
                    <a:pt x="88270" y="940408"/>
                  </a:lnTo>
                  <a:lnTo>
                    <a:pt x="113666" y="940408"/>
                  </a:lnTo>
                  <a:lnTo>
                    <a:pt x="113666" y="934050"/>
                  </a:lnTo>
                  <a:close/>
                </a:path>
                <a:path w="2708275" h="1874520">
                  <a:moveTo>
                    <a:pt x="158117" y="934050"/>
                  </a:moveTo>
                  <a:lnTo>
                    <a:pt x="132709" y="934050"/>
                  </a:lnTo>
                  <a:lnTo>
                    <a:pt x="132709" y="940408"/>
                  </a:lnTo>
                  <a:lnTo>
                    <a:pt x="158117" y="940408"/>
                  </a:lnTo>
                  <a:lnTo>
                    <a:pt x="158117" y="934050"/>
                  </a:lnTo>
                  <a:close/>
                </a:path>
                <a:path w="2708275" h="1874520">
                  <a:moveTo>
                    <a:pt x="202576" y="934050"/>
                  </a:moveTo>
                  <a:lnTo>
                    <a:pt x="177180" y="934050"/>
                  </a:lnTo>
                  <a:lnTo>
                    <a:pt x="177180" y="940408"/>
                  </a:lnTo>
                  <a:lnTo>
                    <a:pt x="202576" y="940408"/>
                  </a:lnTo>
                  <a:lnTo>
                    <a:pt x="202576" y="934050"/>
                  </a:lnTo>
                  <a:close/>
                </a:path>
                <a:path w="2708275" h="1874520">
                  <a:moveTo>
                    <a:pt x="247016" y="934050"/>
                  </a:moveTo>
                  <a:lnTo>
                    <a:pt x="221620" y="934050"/>
                  </a:lnTo>
                  <a:lnTo>
                    <a:pt x="221620" y="940408"/>
                  </a:lnTo>
                  <a:lnTo>
                    <a:pt x="247016" y="940408"/>
                  </a:lnTo>
                  <a:lnTo>
                    <a:pt x="247016" y="934050"/>
                  </a:lnTo>
                  <a:close/>
                </a:path>
                <a:path w="2708275" h="1874520">
                  <a:moveTo>
                    <a:pt x="291467" y="934050"/>
                  </a:moveTo>
                  <a:lnTo>
                    <a:pt x="266059" y="934050"/>
                  </a:lnTo>
                  <a:lnTo>
                    <a:pt x="266059" y="940408"/>
                  </a:lnTo>
                  <a:lnTo>
                    <a:pt x="291467" y="940408"/>
                  </a:lnTo>
                  <a:lnTo>
                    <a:pt x="291467" y="934050"/>
                  </a:lnTo>
                  <a:close/>
                </a:path>
                <a:path w="2708275" h="1874520">
                  <a:moveTo>
                    <a:pt x="335926" y="934050"/>
                  </a:moveTo>
                  <a:lnTo>
                    <a:pt x="310530" y="934050"/>
                  </a:lnTo>
                  <a:lnTo>
                    <a:pt x="310530" y="940408"/>
                  </a:lnTo>
                  <a:lnTo>
                    <a:pt x="335926" y="940408"/>
                  </a:lnTo>
                  <a:lnTo>
                    <a:pt x="335926" y="934050"/>
                  </a:lnTo>
                  <a:close/>
                </a:path>
                <a:path w="2708275" h="1874520">
                  <a:moveTo>
                    <a:pt x="380366" y="934050"/>
                  </a:moveTo>
                  <a:lnTo>
                    <a:pt x="354970" y="934050"/>
                  </a:lnTo>
                  <a:lnTo>
                    <a:pt x="354970" y="940408"/>
                  </a:lnTo>
                  <a:lnTo>
                    <a:pt x="380366" y="940408"/>
                  </a:lnTo>
                  <a:lnTo>
                    <a:pt x="380366" y="934050"/>
                  </a:lnTo>
                  <a:close/>
                </a:path>
                <a:path w="2708275" h="1874520">
                  <a:moveTo>
                    <a:pt x="424817" y="934050"/>
                  </a:moveTo>
                  <a:lnTo>
                    <a:pt x="399409" y="934050"/>
                  </a:lnTo>
                  <a:lnTo>
                    <a:pt x="399409" y="940408"/>
                  </a:lnTo>
                  <a:lnTo>
                    <a:pt x="424817" y="940408"/>
                  </a:lnTo>
                  <a:lnTo>
                    <a:pt x="424817" y="934050"/>
                  </a:lnTo>
                  <a:close/>
                </a:path>
                <a:path w="2708275" h="1874520">
                  <a:moveTo>
                    <a:pt x="469276" y="934050"/>
                  </a:moveTo>
                  <a:lnTo>
                    <a:pt x="443880" y="934050"/>
                  </a:lnTo>
                  <a:lnTo>
                    <a:pt x="443880" y="940408"/>
                  </a:lnTo>
                  <a:lnTo>
                    <a:pt x="469276" y="940408"/>
                  </a:lnTo>
                  <a:lnTo>
                    <a:pt x="469276" y="934050"/>
                  </a:lnTo>
                  <a:close/>
                </a:path>
                <a:path w="2708275" h="1874520">
                  <a:moveTo>
                    <a:pt x="513728" y="934050"/>
                  </a:moveTo>
                  <a:lnTo>
                    <a:pt x="488320" y="934050"/>
                  </a:lnTo>
                  <a:lnTo>
                    <a:pt x="488320" y="940408"/>
                  </a:lnTo>
                  <a:lnTo>
                    <a:pt x="513728" y="940408"/>
                  </a:lnTo>
                  <a:lnTo>
                    <a:pt x="513728" y="934050"/>
                  </a:lnTo>
                  <a:close/>
                </a:path>
                <a:path w="2708275" h="1874520">
                  <a:moveTo>
                    <a:pt x="558186" y="934050"/>
                  </a:moveTo>
                  <a:lnTo>
                    <a:pt x="532790" y="934050"/>
                  </a:lnTo>
                  <a:lnTo>
                    <a:pt x="532790" y="940408"/>
                  </a:lnTo>
                  <a:lnTo>
                    <a:pt x="558186" y="940408"/>
                  </a:lnTo>
                  <a:lnTo>
                    <a:pt x="558186" y="934050"/>
                  </a:lnTo>
                  <a:close/>
                </a:path>
                <a:path w="2708275" h="1874520">
                  <a:moveTo>
                    <a:pt x="602626" y="934050"/>
                  </a:moveTo>
                  <a:lnTo>
                    <a:pt x="577230" y="934050"/>
                  </a:lnTo>
                  <a:lnTo>
                    <a:pt x="577230" y="940408"/>
                  </a:lnTo>
                  <a:lnTo>
                    <a:pt x="602626" y="940408"/>
                  </a:lnTo>
                  <a:lnTo>
                    <a:pt x="602626" y="934050"/>
                  </a:lnTo>
                  <a:close/>
                </a:path>
                <a:path w="2708275" h="1874520">
                  <a:moveTo>
                    <a:pt x="647078" y="934050"/>
                  </a:moveTo>
                  <a:lnTo>
                    <a:pt x="621670" y="934050"/>
                  </a:lnTo>
                  <a:lnTo>
                    <a:pt x="621670" y="940408"/>
                  </a:lnTo>
                  <a:lnTo>
                    <a:pt x="647078" y="940408"/>
                  </a:lnTo>
                  <a:lnTo>
                    <a:pt x="647078" y="934050"/>
                  </a:lnTo>
                  <a:close/>
                </a:path>
                <a:path w="2708275" h="1874520">
                  <a:moveTo>
                    <a:pt x="691536" y="934050"/>
                  </a:moveTo>
                  <a:lnTo>
                    <a:pt x="666140" y="934050"/>
                  </a:lnTo>
                  <a:lnTo>
                    <a:pt x="666140" y="940408"/>
                  </a:lnTo>
                  <a:lnTo>
                    <a:pt x="691536" y="940408"/>
                  </a:lnTo>
                  <a:lnTo>
                    <a:pt x="691536" y="934050"/>
                  </a:lnTo>
                  <a:close/>
                </a:path>
                <a:path w="2708275" h="1874520">
                  <a:moveTo>
                    <a:pt x="735976" y="934050"/>
                  </a:moveTo>
                  <a:lnTo>
                    <a:pt x="710580" y="934050"/>
                  </a:lnTo>
                  <a:lnTo>
                    <a:pt x="710580" y="940408"/>
                  </a:lnTo>
                  <a:lnTo>
                    <a:pt x="735976" y="940408"/>
                  </a:lnTo>
                  <a:lnTo>
                    <a:pt x="735976" y="934050"/>
                  </a:lnTo>
                  <a:close/>
                </a:path>
                <a:path w="2708275" h="1874520">
                  <a:moveTo>
                    <a:pt x="780428" y="934050"/>
                  </a:moveTo>
                  <a:lnTo>
                    <a:pt x="755020" y="934050"/>
                  </a:lnTo>
                  <a:lnTo>
                    <a:pt x="755020" y="940408"/>
                  </a:lnTo>
                  <a:lnTo>
                    <a:pt x="780428" y="940408"/>
                  </a:lnTo>
                  <a:lnTo>
                    <a:pt x="780428" y="934050"/>
                  </a:lnTo>
                  <a:close/>
                </a:path>
                <a:path w="2708275" h="1874520">
                  <a:moveTo>
                    <a:pt x="824886" y="934050"/>
                  </a:moveTo>
                  <a:lnTo>
                    <a:pt x="799490" y="934050"/>
                  </a:lnTo>
                  <a:lnTo>
                    <a:pt x="799490" y="940408"/>
                  </a:lnTo>
                  <a:lnTo>
                    <a:pt x="824886" y="940408"/>
                  </a:lnTo>
                  <a:lnTo>
                    <a:pt x="824886" y="934050"/>
                  </a:lnTo>
                  <a:close/>
                </a:path>
                <a:path w="2708275" h="1874520">
                  <a:moveTo>
                    <a:pt x="869326" y="934050"/>
                  </a:moveTo>
                  <a:lnTo>
                    <a:pt x="843930" y="934050"/>
                  </a:lnTo>
                  <a:lnTo>
                    <a:pt x="843930" y="940408"/>
                  </a:lnTo>
                  <a:lnTo>
                    <a:pt x="869326" y="940408"/>
                  </a:lnTo>
                  <a:lnTo>
                    <a:pt x="869326" y="934050"/>
                  </a:lnTo>
                  <a:close/>
                </a:path>
                <a:path w="2708275" h="1874520">
                  <a:moveTo>
                    <a:pt x="913778" y="934050"/>
                  </a:moveTo>
                  <a:lnTo>
                    <a:pt x="888370" y="934050"/>
                  </a:lnTo>
                  <a:lnTo>
                    <a:pt x="888370" y="940408"/>
                  </a:lnTo>
                  <a:lnTo>
                    <a:pt x="913778" y="940408"/>
                  </a:lnTo>
                  <a:lnTo>
                    <a:pt x="913778" y="934050"/>
                  </a:lnTo>
                  <a:close/>
                </a:path>
                <a:path w="2708275" h="1874520">
                  <a:moveTo>
                    <a:pt x="958236" y="934050"/>
                  </a:moveTo>
                  <a:lnTo>
                    <a:pt x="932840" y="934050"/>
                  </a:lnTo>
                  <a:lnTo>
                    <a:pt x="932840" y="940408"/>
                  </a:lnTo>
                  <a:lnTo>
                    <a:pt x="958236" y="940408"/>
                  </a:lnTo>
                  <a:lnTo>
                    <a:pt x="958236" y="934050"/>
                  </a:lnTo>
                  <a:close/>
                </a:path>
                <a:path w="2708275" h="1874520">
                  <a:moveTo>
                    <a:pt x="1002676" y="934050"/>
                  </a:moveTo>
                  <a:lnTo>
                    <a:pt x="977280" y="934050"/>
                  </a:lnTo>
                  <a:lnTo>
                    <a:pt x="977280" y="940408"/>
                  </a:lnTo>
                  <a:lnTo>
                    <a:pt x="1002676" y="940408"/>
                  </a:lnTo>
                  <a:lnTo>
                    <a:pt x="1002676" y="934050"/>
                  </a:lnTo>
                  <a:close/>
                </a:path>
                <a:path w="2708275" h="1874520">
                  <a:moveTo>
                    <a:pt x="1047128" y="934050"/>
                  </a:moveTo>
                  <a:lnTo>
                    <a:pt x="1021720" y="934050"/>
                  </a:lnTo>
                  <a:lnTo>
                    <a:pt x="1021720" y="940408"/>
                  </a:lnTo>
                  <a:lnTo>
                    <a:pt x="1047128" y="940408"/>
                  </a:lnTo>
                  <a:lnTo>
                    <a:pt x="1047128" y="934050"/>
                  </a:lnTo>
                  <a:close/>
                </a:path>
                <a:path w="2708275" h="1874520">
                  <a:moveTo>
                    <a:pt x="1091586" y="934050"/>
                  </a:moveTo>
                  <a:lnTo>
                    <a:pt x="1066190" y="934050"/>
                  </a:lnTo>
                  <a:lnTo>
                    <a:pt x="1066190" y="940408"/>
                  </a:lnTo>
                  <a:lnTo>
                    <a:pt x="1091586" y="940408"/>
                  </a:lnTo>
                  <a:lnTo>
                    <a:pt x="1091586" y="934050"/>
                  </a:lnTo>
                  <a:close/>
                </a:path>
                <a:path w="2708275" h="1874520">
                  <a:moveTo>
                    <a:pt x="1136026" y="934050"/>
                  </a:moveTo>
                  <a:lnTo>
                    <a:pt x="1110630" y="934050"/>
                  </a:lnTo>
                  <a:lnTo>
                    <a:pt x="1110630" y="940408"/>
                  </a:lnTo>
                  <a:lnTo>
                    <a:pt x="1136026" y="940408"/>
                  </a:lnTo>
                  <a:lnTo>
                    <a:pt x="1136026" y="934050"/>
                  </a:lnTo>
                  <a:close/>
                </a:path>
                <a:path w="2708275" h="1874520">
                  <a:moveTo>
                    <a:pt x="1180477" y="934050"/>
                  </a:moveTo>
                  <a:lnTo>
                    <a:pt x="1155070" y="934050"/>
                  </a:lnTo>
                  <a:lnTo>
                    <a:pt x="1155070" y="940408"/>
                  </a:lnTo>
                  <a:lnTo>
                    <a:pt x="1180477" y="940408"/>
                  </a:lnTo>
                  <a:lnTo>
                    <a:pt x="1180477" y="934050"/>
                  </a:lnTo>
                  <a:close/>
                </a:path>
                <a:path w="2708275" h="1874520">
                  <a:moveTo>
                    <a:pt x="1224936" y="934050"/>
                  </a:moveTo>
                  <a:lnTo>
                    <a:pt x="1199540" y="934050"/>
                  </a:lnTo>
                  <a:lnTo>
                    <a:pt x="1199540" y="940408"/>
                  </a:lnTo>
                  <a:lnTo>
                    <a:pt x="1224936" y="940408"/>
                  </a:lnTo>
                  <a:lnTo>
                    <a:pt x="1224936" y="934050"/>
                  </a:lnTo>
                  <a:close/>
                </a:path>
                <a:path w="2708275" h="1874520">
                  <a:moveTo>
                    <a:pt x="1269376" y="934050"/>
                  </a:moveTo>
                  <a:lnTo>
                    <a:pt x="1243980" y="934050"/>
                  </a:lnTo>
                  <a:lnTo>
                    <a:pt x="1243980" y="940408"/>
                  </a:lnTo>
                  <a:lnTo>
                    <a:pt x="1269376" y="940408"/>
                  </a:lnTo>
                  <a:lnTo>
                    <a:pt x="1269376" y="934050"/>
                  </a:lnTo>
                  <a:close/>
                </a:path>
                <a:path w="2708275" h="1874520">
                  <a:moveTo>
                    <a:pt x="1313827" y="934050"/>
                  </a:moveTo>
                  <a:lnTo>
                    <a:pt x="1288420" y="934050"/>
                  </a:lnTo>
                  <a:lnTo>
                    <a:pt x="1288420" y="940408"/>
                  </a:lnTo>
                  <a:lnTo>
                    <a:pt x="1313827" y="940408"/>
                  </a:lnTo>
                  <a:lnTo>
                    <a:pt x="1313827" y="934050"/>
                  </a:lnTo>
                  <a:close/>
                </a:path>
                <a:path w="2708275" h="1874520">
                  <a:moveTo>
                    <a:pt x="1358286" y="934050"/>
                  </a:moveTo>
                  <a:lnTo>
                    <a:pt x="1332890" y="934050"/>
                  </a:lnTo>
                  <a:lnTo>
                    <a:pt x="1332890" y="940408"/>
                  </a:lnTo>
                  <a:lnTo>
                    <a:pt x="1358286" y="940408"/>
                  </a:lnTo>
                  <a:lnTo>
                    <a:pt x="1358286" y="934050"/>
                  </a:lnTo>
                  <a:close/>
                </a:path>
                <a:path w="2708275" h="1874520">
                  <a:moveTo>
                    <a:pt x="1402726" y="934050"/>
                  </a:moveTo>
                  <a:lnTo>
                    <a:pt x="1377330" y="934050"/>
                  </a:lnTo>
                  <a:lnTo>
                    <a:pt x="1377330" y="940408"/>
                  </a:lnTo>
                  <a:lnTo>
                    <a:pt x="1402726" y="940408"/>
                  </a:lnTo>
                  <a:lnTo>
                    <a:pt x="1402726" y="934050"/>
                  </a:lnTo>
                  <a:close/>
                </a:path>
                <a:path w="2708275" h="1874520">
                  <a:moveTo>
                    <a:pt x="1447177" y="934050"/>
                  </a:moveTo>
                  <a:lnTo>
                    <a:pt x="1421770" y="934050"/>
                  </a:lnTo>
                  <a:lnTo>
                    <a:pt x="1421770" y="940408"/>
                  </a:lnTo>
                  <a:lnTo>
                    <a:pt x="1447177" y="940408"/>
                  </a:lnTo>
                  <a:lnTo>
                    <a:pt x="1447177" y="934050"/>
                  </a:lnTo>
                  <a:close/>
                </a:path>
                <a:path w="2708275" h="1874520">
                  <a:moveTo>
                    <a:pt x="1491636" y="934050"/>
                  </a:moveTo>
                  <a:lnTo>
                    <a:pt x="1466240" y="934050"/>
                  </a:lnTo>
                  <a:lnTo>
                    <a:pt x="1466240" y="940408"/>
                  </a:lnTo>
                  <a:lnTo>
                    <a:pt x="1491636" y="940408"/>
                  </a:lnTo>
                  <a:lnTo>
                    <a:pt x="1491636" y="934050"/>
                  </a:lnTo>
                  <a:close/>
                </a:path>
                <a:path w="2708275" h="1874520">
                  <a:moveTo>
                    <a:pt x="1536076" y="934050"/>
                  </a:moveTo>
                  <a:lnTo>
                    <a:pt x="1510680" y="934050"/>
                  </a:lnTo>
                  <a:lnTo>
                    <a:pt x="1510680" y="940408"/>
                  </a:lnTo>
                  <a:lnTo>
                    <a:pt x="1536076" y="940408"/>
                  </a:lnTo>
                  <a:lnTo>
                    <a:pt x="1536076" y="934050"/>
                  </a:lnTo>
                  <a:close/>
                </a:path>
                <a:path w="2708275" h="1874520">
                  <a:moveTo>
                    <a:pt x="1580527" y="934050"/>
                  </a:moveTo>
                  <a:lnTo>
                    <a:pt x="1555120" y="934050"/>
                  </a:lnTo>
                  <a:lnTo>
                    <a:pt x="1555120" y="940408"/>
                  </a:lnTo>
                  <a:lnTo>
                    <a:pt x="1580527" y="940408"/>
                  </a:lnTo>
                  <a:lnTo>
                    <a:pt x="1580527" y="934050"/>
                  </a:lnTo>
                  <a:close/>
                </a:path>
                <a:path w="2708275" h="1874520">
                  <a:moveTo>
                    <a:pt x="1624986" y="934050"/>
                  </a:moveTo>
                  <a:lnTo>
                    <a:pt x="1599590" y="934050"/>
                  </a:lnTo>
                  <a:lnTo>
                    <a:pt x="1599590" y="940408"/>
                  </a:lnTo>
                  <a:lnTo>
                    <a:pt x="1624986" y="940408"/>
                  </a:lnTo>
                  <a:lnTo>
                    <a:pt x="1624986" y="934050"/>
                  </a:lnTo>
                  <a:close/>
                </a:path>
                <a:path w="2708275" h="1874520">
                  <a:moveTo>
                    <a:pt x="1669426" y="934050"/>
                  </a:moveTo>
                  <a:lnTo>
                    <a:pt x="1644030" y="934050"/>
                  </a:lnTo>
                  <a:lnTo>
                    <a:pt x="1644030" y="940408"/>
                  </a:lnTo>
                  <a:lnTo>
                    <a:pt x="1669426" y="940408"/>
                  </a:lnTo>
                  <a:lnTo>
                    <a:pt x="1669426" y="934050"/>
                  </a:lnTo>
                  <a:close/>
                </a:path>
                <a:path w="2708275" h="1874520">
                  <a:moveTo>
                    <a:pt x="1713877" y="934050"/>
                  </a:moveTo>
                  <a:lnTo>
                    <a:pt x="1688470" y="934050"/>
                  </a:lnTo>
                  <a:lnTo>
                    <a:pt x="1688470" y="940408"/>
                  </a:lnTo>
                  <a:lnTo>
                    <a:pt x="1713877" y="940408"/>
                  </a:lnTo>
                  <a:lnTo>
                    <a:pt x="1713877" y="934050"/>
                  </a:lnTo>
                  <a:close/>
                </a:path>
                <a:path w="2708275" h="1874520">
                  <a:moveTo>
                    <a:pt x="1758336" y="934050"/>
                  </a:moveTo>
                  <a:lnTo>
                    <a:pt x="1732940" y="934050"/>
                  </a:lnTo>
                  <a:lnTo>
                    <a:pt x="1732940" y="940408"/>
                  </a:lnTo>
                  <a:lnTo>
                    <a:pt x="1758336" y="940408"/>
                  </a:lnTo>
                  <a:lnTo>
                    <a:pt x="1758336" y="934050"/>
                  </a:lnTo>
                  <a:close/>
                </a:path>
                <a:path w="2708275" h="1874520">
                  <a:moveTo>
                    <a:pt x="1802776" y="934050"/>
                  </a:moveTo>
                  <a:lnTo>
                    <a:pt x="1777380" y="934050"/>
                  </a:lnTo>
                  <a:lnTo>
                    <a:pt x="1777380" y="940408"/>
                  </a:lnTo>
                  <a:lnTo>
                    <a:pt x="1802776" y="940408"/>
                  </a:lnTo>
                  <a:lnTo>
                    <a:pt x="1802776" y="934050"/>
                  </a:lnTo>
                  <a:close/>
                </a:path>
                <a:path w="2708275" h="1874520">
                  <a:moveTo>
                    <a:pt x="1847227" y="934050"/>
                  </a:moveTo>
                  <a:lnTo>
                    <a:pt x="1821820" y="934050"/>
                  </a:lnTo>
                  <a:lnTo>
                    <a:pt x="1821820" y="940408"/>
                  </a:lnTo>
                  <a:lnTo>
                    <a:pt x="1847227" y="940408"/>
                  </a:lnTo>
                  <a:lnTo>
                    <a:pt x="1847227" y="934050"/>
                  </a:lnTo>
                  <a:close/>
                </a:path>
                <a:path w="2708275" h="1874520">
                  <a:moveTo>
                    <a:pt x="1891686" y="934050"/>
                  </a:moveTo>
                  <a:lnTo>
                    <a:pt x="1866290" y="934050"/>
                  </a:lnTo>
                  <a:lnTo>
                    <a:pt x="1866290" y="940408"/>
                  </a:lnTo>
                  <a:lnTo>
                    <a:pt x="1891686" y="940408"/>
                  </a:lnTo>
                  <a:lnTo>
                    <a:pt x="1891686" y="934050"/>
                  </a:lnTo>
                  <a:close/>
                </a:path>
                <a:path w="2708275" h="1874520">
                  <a:moveTo>
                    <a:pt x="1936126" y="934050"/>
                  </a:moveTo>
                  <a:lnTo>
                    <a:pt x="1910730" y="934050"/>
                  </a:lnTo>
                  <a:lnTo>
                    <a:pt x="1910730" y="940408"/>
                  </a:lnTo>
                  <a:lnTo>
                    <a:pt x="1936126" y="940408"/>
                  </a:lnTo>
                  <a:lnTo>
                    <a:pt x="1936126" y="934050"/>
                  </a:lnTo>
                  <a:close/>
                </a:path>
                <a:path w="2708275" h="1874520">
                  <a:moveTo>
                    <a:pt x="1980577" y="934050"/>
                  </a:moveTo>
                  <a:lnTo>
                    <a:pt x="1955170" y="934050"/>
                  </a:lnTo>
                  <a:lnTo>
                    <a:pt x="1955170" y="940408"/>
                  </a:lnTo>
                  <a:lnTo>
                    <a:pt x="1980577" y="940408"/>
                  </a:lnTo>
                  <a:lnTo>
                    <a:pt x="1980577" y="934050"/>
                  </a:lnTo>
                  <a:close/>
                </a:path>
                <a:path w="2708275" h="1874520">
                  <a:moveTo>
                    <a:pt x="2025036" y="934050"/>
                  </a:moveTo>
                  <a:lnTo>
                    <a:pt x="1999640" y="934050"/>
                  </a:lnTo>
                  <a:lnTo>
                    <a:pt x="1999640" y="940408"/>
                  </a:lnTo>
                  <a:lnTo>
                    <a:pt x="2025036" y="940408"/>
                  </a:lnTo>
                  <a:lnTo>
                    <a:pt x="2025036" y="934050"/>
                  </a:lnTo>
                  <a:close/>
                </a:path>
                <a:path w="2708275" h="1874520">
                  <a:moveTo>
                    <a:pt x="2069476" y="934050"/>
                  </a:moveTo>
                  <a:lnTo>
                    <a:pt x="2044080" y="934050"/>
                  </a:lnTo>
                  <a:lnTo>
                    <a:pt x="2044080" y="940408"/>
                  </a:lnTo>
                  <a:lnTo>
                    <a:pt x="2069476" y="940408"/>
                  </a:lnTo>
                  <a:lnTo>
                    <a:pt x="2069476" y="934050"/>
                  </a:lnTo>
                  <a:close/>
                </a:path>
                <a:path w="2708275" h="1874520">
                  <a:moveTo>
                    <a:pt x="2113927" y="934050"/>
                  </a:moveTo>
                  <a:lnTo>
                    <a:pt x="2088520" y="934050"/>
                  </a:lnTo>
                  <a:lnTo>
                    <a:pt x="2088520" y="940408"/>
                  </a:lnTo>
                  <a:lnTo>
                    <a:pt x="2113927" y="940408"/>
                  </a:lnTo>
                  <a:lnTo>
                    <a:pt x="2113927" y="934050"/>
                  </a:lnTo>
                  <a:close/>
                </a:path>
                <a:path w="2708275" h="1874520">
                  <a:moveTo>
                    <a:pt x="2158386" y="934050"/>
                  </a:moveTo>
                  <a:lnTo>
                    <a:pt x="2132990" y="934050"/>
                  </a:lnTo>
                  <a:lnTo>
                    <a:pt x="2132990" y="940408"/>
                  </a:lnTo>
                  <a:lnTo>
                    <a:pt x="2158386" y="940408"/>
                  </a:lnTo>
                  <a:lnTo>
                    <a:pt x="2158386" y="934050"/>
                  </a:lnTo>
                  <a:close/>
                </a:path>
                <a:path w="2708275" h="1874520">
                  <a:moveTo>
                    <a:pt x="2202826" y="934050"/>
                  </a:moveTo>
                  <a:lnTo>
                    <a:pt x="2177430" y="934050"/>
                  </a:lnTo>
                  <a:lnTo>
                    <a:pt x="2177430" y="940408"/>
                  </a:lnTo>
                  <a:lnTo>
                    <a:pt x="2202826" y="940408"/>
                  </a:lnTo>
                  <a:lnTo>
                    <a:pt x="2202826" y="934050"/>
                  </a:lnTo>
                  <a:close/>
                </a:path>
                <a:path w="2708275" h="1874520">
                  <a:moveTo>
                    <a:pt x="2247277" y="934050"/>
                  </a:moveTo>
                  <a:lnTo>
                    <a:pt x="2221870" y="934050"/>
                  </a:lnTo>
                  <a:lnTo>
                    <a:pt x="2221870" y="940408"/>
                  </a:lnTo>
                  <a:lnTo>
                    <a:pt x="2247277" y="940408"/>
                  </a:lnTo>
                  <a:lnTo>
                    <a:pt x="2247277" y="934050"/>
                  </a:lnTo>
                  <a:close/>
                </a:path>
                <a:path w="2708275" h="1874520">
                  <a:moveTo>
                    <a:pt x="2291736" y="934050"/>
                  </a:moveTo>
                  <a:lnTo>
                    <a:pt x="2266340" y="934050"/>
                  </a:lnTo>
                  <a:lnTo>
                    <a:pt x="2266340" y="940408"/>
                  </a:lnTo>
                  <a:lnTo>
                    <a:pt x="2291736" y="940408"/>
                  </a:lnTo>
                  <a:lnTo>
                    <a:pt x="2291736" y="934050"/>
                  </a:lnTo>
                  <a:close/>
                </a:path>
                <a:path w="2708275" h="1874520">
                  <a:moveTo>
                    <a:pt x="2336176" y="934050"/>
                  </a:moveTo>
                  <a:lnTo>
                    <a:pt x="2310780" y="934050"/>
                  </a:lnTo>
                  <a:lnTo>
                    <a:pt x="2310780" y="940408"/>
                  </a:lnTo>
                  <a:lnTo>
                    <a:pt x="2336176" y="940408"/>
                  </a:lnTo>
                  <a:lnTo>
                    <a:pt x="2336176" y="934050"/>
                  </a:lnTo>
                  <a:close/>
                </a:path>
                <a:path w="2708275" h="1874520">
                  <a:moveTo>
                    <a:pt x="2380627" y="934050"/>
                  </a:moveTo>
                  <a:lnTo>
                    <a:pt x="2355220" y="934050"/>
                  </a:lnTo>
                  <a:lnTo>
                    <a:pt x="2355220" y="940408"/>
                  </a:lnTo>
                  <a:lnTo>
                    <a:pt x="2380627" y="940408"/>
                  </a:lnTo>
                  <a:lnTo>
                    <a:pt x="2380627" y="934050"/>
                  </a:lnTo>
                  <a:close/>
                </a:path>
                <a:path w="2708275" h="1874520">
                  <a:moveTo>
                    <a:pt x="2425086" y="934050"/>
                  </a:moveTo>
                  <a:lnTo>
                    <a:pt x="2399690" y="934050"/>
                  </a:lnTo>
                  <a:lnTo>
                    <a:pt x="2399690" y="940408"/>
                  </a:lnTo>
                  <a:lnTo>
                    <a:pt x="2425086" y="940408"/>
                  </a:lnTo>
                  <a:lnTo>
                    <a:pt x="2425086" y="934050"/>
                  </a:lnTo>
                  <a:close/>
                </a:path>
                <a:path w="2708275" h="1874520">
                  <a:moveTo>
                    <a:pt x="2469526" y="934050"/>
                  </a:moveTo>
                  <a:lnTo>
                    <a:pt x="2444130" y="934050"/>
                  </a:lnTo>
                  <a:lnTo>
                    <a:pt x="2444130" y="940408"/>
                  </a:lnTo>
                  <a:lnTo>
                    <a:pt x="2469526" y="940408"/>
                  </a:lnTo>
                  <a:lnTo>
                    <a:pt x="2469526" y="934050"/>
                  </a:lnTo>
                  <a:close/>
                </a:path>
                <a:path w="2708275" h="1874520">
                  <a:moveTo>
                    <a:pt x="2513977" y="934050"/>
                  </a:moveTo>
                  <a:lnTo>
                    <a:pt x="2488570" y="934050"/>
                  </a:lnTo>
                  <a:lnTo>
                    <a:pt x="2488570" y="940408"/>
                  </a:lnTo>
                  <a:lnTo>
                    <a:pt x="2513977" y="940408"/>
                  </a:lnTo>
                  <a:lnTo>
                    <a:pt x="2513977" y="934050"/>
                  </a:lnTo>
                  <a:close/>
                </a:path>
                <a:path w="2708275" h="1874520">
                  <a:moveTo>
                    <a:pt x="2558436" y="934050"/>
                  </a:moveTo>
                  <a:lnTo>
                    <a:pt x="2533040" y="934050"/>
                  </a:lnTo>
                  <a:lnTo>
                    <a:pt x="2533040" y="940408"/>
                  </a:lnTo>
                  <a:lnTo>
                    <a:pt x="2558436" y="940408"/>
                  </a:lnTo>
                  <a:lnTo>
                    <a:pt x="2558436" y="934050"/>
                  </a:lnTo>
                  <a:close/>
                </a:path>
                <a:path w="2708275" h="1874520">
                  <a:moveTo>
                    <a:pt x="2602876" y="934050"/>
                  </a:moveTo>
                  <a:lnTo>
                    <a:pt x="2577480" y="934050"/>
                  </a:lnTo>
                  <a:lnTo>
                    <a:pt x="2577480" y="940408"/>
                  </a:lnTo>
                  <a:lnTo>
                    <a:pt x="2602876" y="940408"/>
                  </a:lnTo>
                  <a:lnTo>
                    <a:pt x="2602876" y="934050"/>
                  </a:lnTo>
                  <a:close/>
                </a:path>
                <a:path w="2708275" h="1874520">
                  <a:moveTo>
                    <a:pt x="2647327" y="934050"/>
                  </a:moveTo>
                  <a:lnTo>
                    <a:pt x="2621920" y="934050"/>
                  </a:lnTo>
                  <a:lnTo>
                    <a:pt x="2621920" y="940408"/>
                  </a:lnTo>
                  <a:lnTo>
                    <a:pt x="2647327" y="940408"/>
                  </a:lnTo>
                  <a:lnTo>
                    <a:pt x="2647327" y="934050"/>
                  </a:lnTo>
                  <a:close/>
                </a:path>
                <a:path w="2708275" h="1874520">
                  <a:moveTo>
                    <a:pt x="2666999" y="937229"/>
                  </a:moveTo>
                  <a:lnTo>
                    <a:pt x="2666999" y="958827"/>
                  </a:lnTo>
                  <a:lnTo>
                    <a:pt x="2673370" y="958827"/>
                  </a:lnTo>
                  <a:lnTo>
                    <a:pt x="2673370" y="940408"/>
                  </a:lnTo>
                  <a:lnTo>
                    <a:pt x="2670169" y="940408"/>
                  </a:lnTo>
                  <a:lnTo>
                    <a:pt x="2666999" y="937229"/>
                  </a:lnTo>
                  <a:close/>
                </a:path>
                <a:path w="2708275" h="1874520">
                  <a:moveTo>
                    <a:pt x="2673370" y="934050"/>
                  </a:moveTo>
                  <a:lnTo>
                    <a:pt x="2666390" y="934050"/>
                  </a:lnTo>
                  <a:lnTo>
                    <a:pt x="2666390" y="940408"/>
                  </a:lnTo>
                  <a:lnTo>
                    <a:pt x="2666999" y="940408"/>
                  </a:lnTo>
                  <a:lnTo>
                    <a:pt x="2666999" y="937229"/>
                  </a:lnTo>
                  <a:lnTo>
                    <a:pt x="2673370" y="937229"/>
                  </a:lnTo>
                  <a:lnTo>
                    <a:pt x="2673370" y="934050"/>
                  </a:lnTo>
                  <a:close/>
                </a:path>
                <a:path w="2708275" h="1874520">
                  <a:moveTo>
                    <a:pt x="2673370" y="937229"/>
                  </a:moveTo>
                  <a:lnTo>
                    <a:pt x="2666999" y="937229"/>
                  </a:lnTo>
                  <a:lnTo>
                    <a:pt x="2670169" y="940408"/>
                  </a:lnTo>
                  <a:lnTo>
                    <a:pt x="2673370" y="940408"/>
                  </a:lnTo>
                  <a:lnTo>
                    <a:pt x="2673370" y="937229"/>
                  </a:lnTo>
                  <a:close/>
                </a:path>
                <a:path w="2708275" h="1874520">
                  <a:moveTo>
                    <a:pt x="2673357" y="977877"/>
                  </a:moveTo>
                  <a:lnTo>
                    <a:pt x="2666999" y="977877"/>
                  </a:lnTo>
                  <a:lnTo>
                    <a:pt x="2666999" y="1003273"/>
                  </a:lnTo>
                  <a:lnTo>
                    <a:pt x="2673357" y="1003273"/>
                  </a:lnTo>
                  <a:lnTo>
                    <a:pt x="2673357" y="977877"/>
                  </a:lnTo>
                  <a:close/>
                </a:path>
                <a:path w="2708275" h="1874520">
                  <a:moveTo>
                    <a:pt x="2673357" y="1022323"/>
                  </a:moveTo>
                  <a:lnTo>
                    <a:pt x="2666999" y="1022323"/>
                  </a:lnTo>
                  <a:lnTo>
                    <a:pt x="2666999" y="1047731"/>
                  </a:lnTo>
                  <a:lnTo>
                    <a:pt x="2673357" y="1047731"/>
                  </a:lnTo>
                  <a:lnTo>
                    <a:pt x="2673357" y="1022323"/>
                  </a:lnTo>
                  <a:close/>
                </a:path>
                <a:path w="2708275" h="1874520">
                  <a:moveTo>
                    <a:pt x="2673357" y="1066781"/>
                  </a:moveTo>
                  <a:lnTo>
                    <a:pt x="2666999" y="1066781"/>
                  </a:lnTo>
                  <a:lnTo>
                    <a:pt x="2666999" y="1092177"/>
                  </a:lnTo>
                  <a:lnTo>
                    <a:pt x="2673357" y="1092177"/>
                  </a:lnTo>
                  <a:lnTo>
                    <a:pt x="2673357" y="1066781"/>
                  </a:lnTo>
                  <a:close/>
                </a:path>
                <a:path w="2708275" h="1874520">
                  <a:moveTo>
                    <a:pt x="2673357" y="1111227"/>
                  </a:moveTo>
                  <a:lnTo>
                    <a:pt x="2666999" y="1111227"/>
                  </a:lnTo>
                  <a:lnTo>
                    <a:pt x="2666999" y="1136623"/>
                  </a:lnTo>
                  <a:lnTo>
                    <a:pt x="2673357" y="1136623"/>
                  </a:lnTo>
                  <a:lnTo>
                    <a:pt x="2673357" y="1111227"/>
                  </a:lnTo>
                  <a:close/>
                </a:path>
                <a:path w="2708275" h="1874520">
                  <a:moveTo>
                    <a:pt x="2673357" y="1155673"/>
                  </a:moveTo>
                  <a:lnTo>
                    <a:pt x="2666999" y="1155673"/>
                  </a:lnTo>
                  <a:lnTo>
                    <a:pt x="2666999" y="1181081"/>
                  </a:lnTo>
                  <a:lnTo>
                    <a:pt x="2673357" y="1181081"/>
                  </a:lnTo>
                  <a:lnTo>
                    <a:pt x="2673357" y="1155673"/>
                  </a:lnTo>
                  <a:close/>
                </a:path>
                <a:path w="2708275" h="1874520">
                  <a:moveTo>
                    <a:pt x="2673357" y="1200131"/>
                  </a:moveTo>
                  <a:lnTo>
                    <a:pt x="2666999" y="1200131"/>
                  </a:lnTo>
                  <a:lnTo>
                    <a:pt x="2666999" y="1225527"/>
                  </a:lnTo>
                  <a:lnTo>
                    <a:pt x="2673357" y="1225527"/>
                  </a:lnTo>
                  <a:lnTo>
                    <a:pt x="2673357" y="1200131"/>
                  </a:lnTo>
                  <a:close/>
                </a:path>
                <a:path w="2708275" h="1874520">
                  <a:moveTo>
                    <a:pt x="2673357" y="1244577"/>
                  </a:moveTo>
                  <a:lnTo>
                    <a:pt x="2666999" y="1244577"/>
                  </a:lnTo>
                  <a:lnTo>
                    <a:pt x="2666999" y="1269973"/>
                  </a:lnTo>
                  <a:lnTo>
                    <a:pt x="2673357" y="1269973"/>
                  </a:lnTo>
                  <a:lnTo>
                    <a:pt x="2673357" y="1244577"/>
                  </a:lnTo>
                  <a:close/>
                </a:path>
                <a:path w="2708275" h="1874520">
                  <a:moveTo>
                    <a:pt x="2673357" y="1289023"/>
                  </a:moveTo>
                  <a:lnTo>
                    <a:pt x="2666999" y="1289023"/>
                  </a:lnTo>
                  <a:lnTo>
                    <a:pt x="2666999" y="1314431"/>
                  </a:lnTo>
                  <a:lnTo>
                    <a:pt x="2673357" y="1314431"/>
                  </a:lnTo>
                  <a:lnTo>
                    <a:pt x="2673357" y="1289023"/>
                  </a:lnTo>
                  <a:close/>
                </a:path>
                <a:path w="2708275" h="1874520">
                  <a:moveTo>
                    <a:pt x="2673357" y="1333481"/>
                  </a:moveTo>
                  <a:lnTo>
                    <a:pt x="2666999" y="1333481"/>
                  </a:lnTo>
                  <a:lnTo>
                    <a:pt x="2666999" y="1358877"/>
                  </a:lnTo>
                  <a:lnTo>
                    <a:pt x="2673357" y="1358877"/>
                  </a:lnTo>
                  <a:lnTo>
                    <a:pt x="2673357" y="1333481"/>
                  </a:lnTo>
                  <a:close/>
                </a:path>
                <a:path w="2708275" h="1874520">
                  <a:moveTo>
                    <a:pt x="2673357" y="1377927"/>
                  </a:moveTo>
                  <a:lnTo>
                    <a:pt x="2666999" y="1377927"/>
                  </a:lnTo>
                  <a:lnTo>
                    <a:pt x="2666999" y="1403323"/>
                  </a:lnTo>
                  <a:lnTo>
                    <a:pt x="2673357" y="1403323"/>
                  </a:lnTo>
                  <a:lnTo>
                    <a:pt x="2673357" y="1377927"/>
                  </a:lnTo>
                  <a:close/>
                </a:path>
                <a:path w="2708275" h="1874520">
                  <a:moveTo>
                    <a:pt x="2673357" y="1422373"/>
                  </a:moveTo>
                  <a:lnTo>
                    <a:pt x="2666999" y="1422373"/>
                  </a:lnTo>
                  <a:lnTo>
                    <a:pt x="2666999" y="1447781"/>
                  </a:lnTo>
                  <a:lnTo>
                    <a:pt x="2673357" y="1447781"/>
                  </a:lnTo>
                  <a:lnTo>
                    <a:pt x="2673357" y="1422373"/>
                  </a:lnTo>
                  <a:close/>
                </a:path>
                <a:path w="2708275" h="1874520">
                  <a:moveTo>
                    <a:pt x="2673357" y="1466831"/>
                  </a:moveTo>
                  <a:lnTo>
                    <a:pt x="2666999" y="1466831"/>
                  </a:lnTo>
                  <a:lnTo>
                    <a:pt x="2666999" y="1492227"/>
                  </a:lnTo>
                  <a:lnTo>
                    <a:pt x="2673357" y="1492227"/>
                  </a:lnTo>
                  <a:lnTo>
                    <a:pt x="2673357" y="1466831"/>
                  </a:lnTo>
                  <a:close/>
                </a:path>
                <a:path w="2708275" h="1874520">
                  <a:moveTo>
                    <a:pt x="2673357" y="1511277"/>
                  </a:moveTo>
                  <a:lnTo>
                    <a:pt x="2666999" y="1511277"/>
                  </a:lnTo>
                  <a:lnTo>
                    <a:pt x="2666999" y="1536673"/>
                  </a:lnTo>
                  <a:lnTo>
                    <a:pt x="2673357" y="1536673"/>
                  </a:lnTo>
                  <a:lnTo>
                    <a:pt x="2673357" y="1511277"/>
                  </a:lnTo>
                  <a:close/>
                </a:path>
                <a:path w="2708275" h="1874520">
                  <a:moveTo>
                    <a:pt x="2673357" y="1555723"/>
                  </a:moveTo>
                  <a:lnTo>
                    <a:pt x="2666999" y="1555723"/>
                  </a:lnTo>
                  <a:lnTo>
                    <a:pt x="2666999" y="1581131"/>
                  </a:lnTo>
                  <a:lnTo>
                    <a:pt x="2673357" y="1581131"/>
                  </a:lnTo>
                  <a:lnTo>
                    <a:pt x="2673357" y="1555723"/>
                  </a:lnTo>
                  <a:close/>
                </a:path>
                <a:path w="2708275" h="1874520">
                  <a:moveTo>
                    <a:pt x="2673357" y="1600181"/>
                  </a:moveTo>
                  <a:lnTo>
                    <a:pt x="2666999" y="1600181"/>
                  </a:lnTo>
                  <a:lnTo>
                    <a:pt x="2666999" y="1625577"/>
                  </a:lnTo>
                  <a:lnTo>
                    <a:pt x="2673357" y="1625577"/>
                  </a:lnTo>
                  <a:lnTo>
                    <a:pt x="2673357" y="1600181"/>
                  </a:lnTo>
                  <a:close/>
                </a:path>
                <a:path w="2708275" h="1874520">
                  <a:moveTo>
                    <a:pt x="2673357" y="1644627"/>
                  </a:moveTo>
                  <a:lnTo>
                    <a:pt x="2666999" y="1644627"/>
                  </a:lnTo>
                  <a:lnTo>
                    <a:pt x="2666999" y="1670023"/>
                  </a:lnTo>
                  <a:lnTo>
                    <a:pt x="2673357" y="1670023"/>
                  </a:lnTo>
                  <a:lnTo>
                    <a:pt x="2673357" y="1644627"/>
                  </a:lnTo>
                  <a:close/>
                </a:path>
                <a:path w="2708275" h="1874520">
                  <a:moveTo>
                    <a:pt x="2673357" y="1689073"/>
                  </a:moveTo>
                  <a:lnTo>
                    <a:pt x="2666999" y="1689073"/>
                  </a:lnTo>
                  <a:lnTo>
                    <a:pt x="2666999" y="1714481"/>
                  </a:lnTo>
                  <a:lnTo>
                    <a:pt x="2673357" y="1714481"/>
                  </a:lnTo>
                  <a:lnTo>
                    <a:pt x="2673357" y="1689073"/>
                  </a:lnTo>
                  <a:close/>
                </a:path>
                <a:path w="2708275" h="1874520">
                  <a:moveTo>
                    <a:pt x="2673357" y="1733531"/>
                  </a:moveTo>
                  <a:lnTo>
                    <a:pt x="2666999" y="1733531"/>
                  </a:lnTo>
                  <a:lnTo>
                    <a:pt x="2666999" y="1758927"/>
                  </a:lnTo>
                  <a:lnTo>
                    <a:pt x="2673357" y="1758927"/>
                  </a:lnTo>
                  <a:lnTo>
                    <a:pt x="2673357" y="1733531"/>
                  </a:lnTo>
                  <a:close/>
                </a:path>
                <a:path w="2708275" h="1874520">
                  <a:moveTo>
                    <a:pt x="2666999" y="1798277"/>
                  </a:moveTo>
                  <a:lnTo>
                    <a:pt x="2632069" y="1798277"/>
                  </a:lnTo>
                  <a:lnTo>
                    <a:pt x="2670169" y="1874477"/>
                  </a:lnTo>
                  <a:lnTo>
                    <a:pt x="2705721" y="1803373"/>
                  </a:lnTo>
                  <a:lnTo>
                    <a:pt x="2666999" y="1803373"/>
                  </a:lnTo>
                  <a:lnTo>
                    <a:pt x="2666999" y="1798277"/>
                  </a:lnTo>
                  <a:close/>
                </a:path>
                <a:path w="2708275" h="1874520">
                  <a:moveTo>
                    <a:pt x="2673357" y="1777977"/>
                  </a:moveTo>
                  <a:lnTo>
                    <a:pt x="2666999" y="1777977"/>
                  </a:lnTo>
                  <a:lnTo>
                    <a:pt x="2666999" y="1803373"/>
                  </a:lnTo>
                  <a:lnTo>
                    <a:pt x="2673357" y="1803373"/>
                  </a:lnTo>
                  <a:lnTo>
                    <a:pt x="2673357" y="1777977"/>
                  </a:lnTo>
                  <a:close/>
                </a:path>
                <a:path w="2708275" h="1874520">
                  <a:moveTo>
                    <a:pt x="2708269" y="1798277"/>
                  </a:moveTo>
                  <a:lnTo>
                    <a:pt x="2673357" y="1798277"/>
                  </a:lnTo>
                  <a:lnTo>
                    <a:pt x="2673357" y="1803373"/>
                  </a:lnTo>
                  <a:lnTo>
                    <a:pt x="2705721" y="1803373"/>
                  </a:lnTo>
                  <a:lnTo>
                    <a:pt x="2708269" y="1798277"/>
                  </a:lnTo>
                  <a:close/>
                </a:path>
              </a:pathLst>
            </a:custGeom>
            <a:solidFill>
              <a:srgbClr val="44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BCD56507-1C65-ACF6-32DE-3110F6E1DFB2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2825" y="3297238"/>
              <a:ext cx="3822700" cy="1873250"/>
            </a:xfrm>
            <a:custGeom>
              <a:avLst/>
              <a:gdLst>
                <a:gd name="T0" fmla="*/ 6357 w 3823334"/>
                <a:gd name="T1" fmla="*/ 88898 h 1874520"/>
                <a:gd name="T2" fmla="*/ 0 w 3823334"/>
                <a:gd name="T3" fmla="*/ 177789 h 1874520"/>
                <a:gd name="T4" fmla="*/ 0 w 3823334"/>
                <a:gd name="T5" fmla="*/ 292096 h 1874520"/>
                <a:gd name="T6" fmla="*/ 6357 w 3823334"/>
                <a:gd name="T7" fmla="*/ 381006 h 1874520"/>
                <a:gd name="T8" fmla="*/ 6357 w 3823334"/>
                <a:gd name="T9" fmla="*/ 444489 h 1874520"/>
                <a:gd name="T10" fmla="*/ 6357 w 3823334"/>
                <a:gd name="T11" fmla="*/ 577839 h 1874520"/>
                <a:gd name="T12" fmla="*/ 0 w 3823334"/>
                <a:gd name="T13" fmla="*/ 666743 h 1874520"/>
                <a:gd name="T14" fmla="*/ 0 w 3823334"/>
                <a:gd name="T15" fmla="*/ 781043 h 1874520"/>
                <a:gd name="T16" fmla="*/ 6357 w 3823334"/>
                <a:gd name="T17" fmla="*/ 869935 h 1874520"/>
                <a:gd name="T18" fmla="*/ 24780 w 3823334"/>
                <a:gd name="T19" fmla="*/ 937229 h 1874520"/>
                <a:gd name="T20" fmla="*/ 6339 w 3823334"/>
                <a:gd name="T21" fmla="*/ 937229 h 1874520"/>
                <a:gd name="T22" fmla="*/ 113666 w 3823334"/>
                <a:gd name="T23" fmla="*/ 940408 h 1874520"/>
                <a:gd name="T24" fmla="*/ 202576 w 3823334"/>
                <a:gd name="T25" fmla="*/ 934062 h 1874520"/>
                <a:gd name="T26" fmla="*/ 335926 w 3823334"/>
                <a:gd name="T27" fmla="*/ 934062 h 1874520"/>
                <a:gd name="T28" fmla="*/ 399409 w 3823334"/>
                <a:gd name="T29" fmla="*/ 934062 h 1874520"/>
                <a:gd name="T30" fmla="*/ 488320 w 3823334"/>
                <a:gd name="T31" fmla="*/ 940408 h 1874520"/>
                <a:gd name="T32" fmla="*/ 602626 w 3823334"/>
                <a:gd name="T33" fmla="*/ 940408 h 1874520"/>
                <a:gd name="T34" fmla="*/ 691517 w 3823334"/>
                <a:gd name="T35" fmla="*/ 934062 h 1874520"/>
                <a:gd name="T36" fmla="*/ 824867 w 3823334"/>
                <a:gd name="T37" fmla="*/ 934062 h 1874520"/>
                <a:gd name="T38" fmla="*/ 888370 w 3823334"/>
                <a:gd name="T39" fmla="*/ 934062 h 1874520"/>
                <a:gd name="T40" fmla="*/ 977280 w 3823334"/>
                <a:gd name="T41" fmla="*/ 940408 h 1874520"/>
                <a:gd name="T42" fmla="*/ 1091567 w 3823334"/>
                <a:gd name="T43" fmla="*/ 940408 h 1874520"/>
                <a:gd name="T44" fmla="*/ 1180466 w 3823334"/>
                <a:gd name="T45" fmla="*/ 934062 h 1874520"/>
                <a:gd name="T46" fmla="*/ 1313816 w 3823334"/>
                <a:gd name="T47" fmla="*/ 934062 h 1874520"/>
                <a:gd name="T48" fmla="*/ 1377330 w 3823334"/>
                <a:gd name="T49" fmla="*/ 934062 h 1874520"/>
                <a:gd name="T50" fmla="*/ 1466209 w 3823334"/>
                <a:gd name="T51" fmla="*/ 940408 h 1874520"/>
                <a:gd name="T52" fmla="*/ 1580516 w 3823334"/>
                <a:gd name="T53" fmla="*/ 940408 h 1874520"/>
                <a:gd name="T54" fmla="*/ 1669426 w 3823334"/>
                <a:gd name="T55" fmla="*/ 934062 h 1874520"/>
                <a:gd name="T56" fmla="*/ 1802776 w 3823334"/>
                <a:gd name="T57" fmla="*/ 934062 h 1874520"/>
                <a:gd name="T58" fmla="*/ 1866259 w 3823334"/>
                <a:gd name="T59" fmla="*/ 934062 h 1874520"/>
                <a:gd name="T60" fmla="*/ 1955170 w 3823334"/>
                <a:gd name="T61" fmla="*/ 940408 h 1874520"/>
                <a:gd name="T62" fmla="*/ 2069476 w 3823334"/>
                <a:gd name="T63" fmla="*/ 940408 h 1874520"/>
                <a:gd name="T64" fmla="*/ 2158367 w 3823334"/>
                <a:gd name="T65" fmla="*/ 934062 h 1874520"/>
                <a:gd name="T66" fmla="*/ 2291717 w 3823334"/>
                <a:gd name="T67" fmla="*/ 934062 h 1874520"/>
                <a:gd name="T68" fmla="*/ 2355220 w 3823334"/>
                <a:gd name="T69" fmla="*/ 934062 h 1874520"/>
                <a:gd name="T70" fmla="*/ 2444130 w 3823334"/>
                <a:gd name="T71" fmla="*/ 940408 h 1874520"/>
                <a:gd name="T72" fmla="*/ 2558417 w 3823334"/>
                <a:gd name="T73" fmla="*/ 940408 h 1874520"/>
                <a:gd name="T74" fmla="*/ 2647316 w 3823334"/>
                <a:gd name="T75" fmla="*/ 934062 h 1874520"/>
                <a:gd name="T76" fmla="*/ 2780666 w 3823334"/>
                <a:gd name="T77" fmla="*/ 934062 h 1874520"/>
                <a:gd name="T78" fmla="*/ 2844180 w 3823334"/>
                <a:gd name="T79" fmla="*/ 934062 h 1874520"/>
                <a:gd name="T80" fmla="*/ 2933059 w 3823334"/>
                <a:gd name="T81" fmla="*/ 940408 h 1874520"/>
                <a:gd name="T82" fmla="*/ 3047366 w 3823334"/>
                <a:gd name="T83" fmla="*/ 940408 h 1874520"/>
                <a:gd name="T84" fmla="*/ 3136276 w 3823334"/>
                <a:gd name="T85" fmla="*/ 934062 h 1874520"/>
                <a:gd name="T86" fmla="*/ 3269626 w 3823334"/>
                <a:gd name="T87" fmla="*/ 934062 h 1874520"/>
                <a:gd name="T88" fmla="*/ 3333109 w 3823334"/>
                <a:gd name="T89" fmla="*/ 934062 h 1874520"/>
                <a:gd name="T90" fmla="*/ 3422020 w 3823334"/>
                <a:gd name="T91" fmla="*/ 940408 h 1874520"/>
                <a:gd name="T92" fmla="*/ 3536326 w 3823334"/>
                <a:gd name="T93" fmla="*/ 940408 h 1874520"/>
                <a:gd name="T94" fmla="*/ 3625217 w 3823334"/>
                <a:gd name="T95" fmla="*/ 934062 h 1874520"/>
                <a:gd name="T96" fmla="*/ 3758567 w 3823334"/>
                <a:gd name="T97" fmla="*/ 934062 h 1874520"/>
                <a:gd name="T98" fmla="*/ 3787993 w 3823334"/>
                <a:gd name="T99" fmla="*/ 934062 h 1874520"/>
                <a:gd name="T100" fmla="*/ 3787993 w 3823334"/>
                <a:gd name="T101" fmla="*/ 937229 h 1874520"/>
                <a:gd name="T102" fmla="*/ 3787999 w 3823334"/>
                <a:gd name="T103" fmla="*/ 1063374 h 1874520"/>
                <a:gd name="T104" fmla="*/ 3781653 w 3823334"/>
                <a:gd name="T105" fmla="*/ 1152281 h 1874520"/>
                <a:gd name="T106" fmla="*/ 3781653 w 3823334"/>
                <a:gd name="T107" fmla="*/ 1266578 h 1874520"/>
                <a:gd name="T108" fmla="*/ 3787999 w 3823334"/>
                <a:gd name="T109" fmla="*/ 1355482 h 1874520"/>
                <a:gd name="T110" fmla="*/ 3787999 w 3823334"/>
                <a:gd name="T111" fmla="*/ 1418981 h 1874520"/>
                <a:gd name="T112" fmla="*/ 3787999 w 3823334"/>
                <a:gd name="T113" fmla="*/ 1552331 h 1874520"/>
                <a:gd name="T114" fmla="*/ 3781653 w 3823334"/>
                <a:gd name="T115" fmla="*/ 1641232 h 1874520"/>
                <a:gd name="T116" fmla="*/ 3781653 w 3823334"/>
                <a:gd name="T117" fmla="*/ 1755532 h 1874520"/>
                <a:gd name="T118" fmla="*/ 3781653 w 3823334"/>
                <a:gd name="T119" fmla="*/ 1799978 h 18745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823334" h="1874520">
                  <a:moveTo>
                    <a:pt x="6357" y="0"/>
                  </a:moveTo>
                  <a:lnTo>
                    <a:pt x="0" y="0"/>
                  </a:lnTo>
                  <a:lnTo>
                    <a:pt x="0" y="25396"/>
                  </a:lnTo>
                  <a:lnTo>
                    <a:pt x="6357" y="25396"/>
                  </a:lnTo>
                  <a:lnTo>
                    <a:pt x="6357" y="0"/>
                  </a:lnTo>
                  <a:close/>
                </a:path>
                <a:path w="3823334" h="1874520">
                  <a:moveTo>
                    <a:pt x="6357" y="44439"/>
                  </a:moveTo>
                  <a:lnTo>
                    <a:pt x="0" y="44439"/>
                  </a:lnTo>
                  <a:lnTo>
                    <a:pt x="0" y="69835"/>
                  </a:lnTo>
                  <a:lnTo>
                    <a:pt x="6357" y="69835"/>
                  </a:lnTo>
                  <a:lnTo>
                    <a:pt x="6357" y="44439"/>
                  </a:lnTo>
                  <a:close/>
                </a:path>
                <a:path w="3823334" h="1874520">
                  <a:moveTo>
                    <a:pt x="6357" y="88898"/>
                  </a:moveTo>
                  <a:lnTo>
                    <a:pt x="0" y="88898"/>
                  </a:lnTo>
                  <a:lnTo>
                    <a:pt x="0" y="114306"/>
                  </a:lnTo>
                  <a:lnTo>
                    <a:pt x="6357" y="114306"/>
                  </a:lnTo>
                  <a:lnTo>
                    <a:pt x="6357" y="88898"/>
                  </a:lnTo>
                  <a:close/>
                </a:path>
                <a:path w="3823334" h="1874520">
                  <a:moveTo>
                    <a:pt x="6357" y="133349"/>
                  </a:moveTo>
                  <a:lnTo>
                    <a:pt x="0" y="133349"/>
                  </a:lnTo>
                  <a:lnTo>
                    <a:pt x="0" y="158746"/>
                  </a:lnTo>
                  <a:lnTo>
                    <a:pt x="6357" y="158746"/>
                  </a:lnTo>
                  <a:lnTo>
                    <a:pt x="6357" y="133349"/>
                  </a:lnTo>
                  <a:close/>
                </a:path>
                <a:path w="3823334" h="1874520">
                  <a:moveTo>
                    <a:pt x="6357" y="177789"/>
                  </a:moveTo>
                  <a:lnTo>
                    <a:pt x="0" y="177789"/>
                  </a:lnTo>
                  <a:lnTo>
                    <a:pt x="0" y="203185"/>
                  </a:lnTo>
                  <a:lnTo>
                    <a:pt x="6357" y="203185"/>
                  </a:lnTo>
                  <a:lnTo>
                    <a:pt x="6357" y="177789"/>
                  </a:lnTo>
                  <a:close/>
                </a:path>
                <a:path w="3823334" h="1874520">
                  <a:moveTo>
                    <a:pt x="6357" y="222248"/>
                  </a:moveTo>
                  <a:lnTo>
                    <a:pt x="0" y="222248"/>
                  </a:lnTo>
                  <a:lnTo>
                    <a:pt x="0" y="247656"/>
                  </a:lnTo>
                  <a:lnTo>
                    <a:pt x="6357" y="247656"/>
                  </a:lnTo>
                  <a:lnTo>
                    <a:pt x="6357" y="222248"/>
                  </a:lnTo>
                  <a:close/>
                </a:path>
                <a:path w="3823334" h="1874520">
                  <a:moveTo>
                    <a:pt x="6357" y="266699"/>
                  </a:moveTo>
                  <a:lnTo>
                    <a:pt x="0" y="266699"/>
                  </a:lnTo>
                  <a:lnTo>
                    <a:pt x="0" y="292096"/>
                  </a:lnTo>
                  <a:lnTo>
                    <a:pt x="6357" y="292096"/>
                  </a:lnTo>
                  <a:lnTo>
                    <a:pt x="6357" y="266699"/>
                  </a:lnTo>
                  <a:close/>
                </a:path>
                <a:path w="3823334" h="1874520">
                  <a:moveTo>
                    <a:pt x="6357" y="311139"/>
                  </a:moveTo>
                  <a:lnTo>
                    <a:pt x="0" y="311139"/>
                  </a:lnTo>
                  <a:lnTo>
                    <a:pt x="0" y="336535"/>
                  </a:lnTo>
                  <a:lnTo>
                    <a:pt x="6357" y="336535"/>
                  </a:lnTo>
                  <a:lnTo>
                    <a:pt x="6357" y="311139"/>
                  </a:lnTo>
                  <a:close/>
                </a:path>
                <a:path w="3823334" h="1874520">
                  <a:moveTo>
                    <a:pt x="6357" y="355598"/>
                  </a:moveTo>
                  <a:lnTo>
                    <a:pt x="0" y="355598"/>
                  </a:lnTo>
                  <a:lnTo>
                    <a:pt x="0" y="381006"/>
                  </a:lnTo>
                  <a:lnTo>
                    <a:pt x="6357" y="381006"/>
                  </a:lnTo>
                  <a:lnTo>
                    <a:pt x="6357" y="355598"/>
                  </a:lnTo>
                  <a:close/>
                </a:path>
                <a:path w="3823334" h="1874520">
                  <a:moveTo>
                    <a:pt x="6357" y="400049"/>
                  </a:moveTo>
                  <a:lnTo>
                    <a:pt x="0" y="400049"/>
                  </a:lnTo>
                  <a:lnTo>
                    <a:pt x="0" y="425446"/>
                  </a:lnTo>
                  <a:lnTo>
                    <a:pt x="6357" y="425446"/>
                  </a:lnTo>
                  <a:lnTo>
                    <a:pt x="6357" y="400049"/>
                  </a:lnTo>
                  <a:close/>
                </a:path>
                <a:path w="3823334" h="1874520">
                  <a:moveTo>
                    <a:pt x="6357" y="444489"/>
                  </a:moveTo>
                  <a:lnTo>
                    <a:pt x="0" y="444489"/>
                  </a:lnTo>
                  <a:lnTo>
                    <a:pt x="0" y="469885"/>
                  </a:lnTo>
                  <a:lnTo>
                    <a:pt x="6357" y="469885"/>
                  </a:lnTo>
                  <a:lnTo>
                    <a:pt x="6357" y="444489"/>
                  </a:lnTo>
                  <a:close/>
                </a:path>
                <a:path w="3823334" h="1874520">
                  <a:moveTo>
                    <a:pt x="6357" y="488936"/>
                  </a:moveTo>
                  <a:lnTo>
                    <a:pt x="0" y="488936"/>
                  </a:lnTo>
                  <a:lnTo>
                    <a:pt x="0" y="514343"/>
                  </a:lnTo>
                  <a:lnTo>
                    <a:pt x="6357" y="514343"/>
                  </a:lnTo>
                  <a:lnTo>
                    <a:pt x="6357" y="488936"/>
                  </a:lnTo>
                  <a:close/>
                </a:path>
                <a:path w="3823334" h="1874520">
                  <a:moveTo>
                    <a:pt x="6357" y="533393"/>
                  </a:moveTo>
                  <a:lnTo>
                    <a:pt x="0" y="533393"/>
                  </a:lnTo>
                  <a:lnTo>
                    <a:pt x="0" y="558789"/>
                  </a:lnTo>
                  <a:lnTo>
                    <a:pt x="6357" y="558789"/>
                  </a:lnTo>
                  <a:lnTo>
                    <a:pt x="6357" y="533393"/>
                  </a:lnTo>
                  <a:close/>
                </a:path>
                <a:path w="3823334" h="1874520">
                  <a:moveTo>
                    <a:pt x="6357" y="577839"/>
                  </a:moveTo>
                  <a:lnTo>
                    <a:pt x="0" y="577839"/>
                  </a:lnTo>
                  <a:lnTo>
                    <a:pt x="0" y="603235"/>
                  </a:lnTo>
                  <a:lnTo>
                    <a:pt x="6357" y="603235"/>
                  </a:lnTo>
                  <a:lnTo>
                    <a:pt x="6357" y="577839"/>
                  </a:lnTo>
                  <a:close/>
                </a:path>
                <a:path w="3823334" h="1874520">
                  <a:moveTo>
                    <a:pt x="6357" y="622286"/>
                  </a:moveTo>
                  <a:lnTo>
                    <a:pt x="0" y="622286"/>
                  </a:lnTo>
                  <a:lnTo>
                    <a:pt x="0" y="647693"/>
                  </a:lnTo>
                  <a:lnTo>
                    <a:pt x="6357" y="647693"/>
                  </a:lnTo>
                  <a:lnTo>
                    <a:pt x="6357" y="622286"/>
                  </a:lnTo>
                  <a:close/>
                </a:path>
                <a:path w="3823334" h="1874520">
                  <a:moveTo>
                    <a:pt x="6357" y="666743"/>
                  </a:moveTo>
                  <a:lnTo>
                    <a:pt x="0" y="666743"/>
                  </a:lnTo>
                  <a:lnTo>
                    <a:pt x="0" y="692139"/>
                  </a:lnTo>
                  <a:lnTo>
                    <a:pt x="6357" y="692139"/>
                  </a:lnTo>
                  <a:lnTo>
                    <a:pt x="6357" y="666743"/>
                  </a:lnTo>
                  <a:close/>
                </a:path>
                <a:path w="3823334" h="1874520">
                  <a:moveTo>
                    <a:pt x="6357" y="711189"/>
                  </a:moveTo>
                  <a:lnTo>
                    <a:pt x="0" y="711189"/>
                  </a:lnTo>
                  <a:lnTo>
                    <a:pt x="0" y="736585"/>
                  </a:lnTo>
                  <a:lnTo>
                    <a:pt x="6357" y="736585"/>
                  </a:lnTo>
                  <a:lnTo>
                    <a:pt x="6357" y="711189"/>
                  </a:lnTo>
                  <a:close/>
                </a:path>
                <a:path w="3823334" h="1874520">
                  <a:moveTo>
                    <a:pt x="6357" y="755636"/>
                  </a:moveTo>
                  <a:lnTo>
                    <a:pt x="0" y="755636"/>
                  </a:lnTo>
                  <a:lnTo>
                    <a:pt x="0" y="781043"/>
                  </a:lnTo>
                  <a:lnTo>
                    <a:pt x="6357" y="781043"/>
                  </a:lnTo>
                  <a:lnTo>
                    <a:pt x="6357" y="755636"/>
                  </a:lnTo>
                  <a:close/>
                </a:path>
                <a:path w="3823334" h="1874520">
                  <a:moveTo>
                    <a:pt x="6357" y="800093"/>
                  </a:moveTo>
                  <a:lnTo>
                    <a:pt x="0" y="800093"/>
                  </a:lnTo>
                  <a:lnTo>
                    <a:pt x="0" y="825489"/>
                  </a:lnTo>
                  <a:lnTo>
                    <a:pt x="6357" y="825489"/>
                  </a:lnTo>
                  <a:lnTo>
                    <a:pt x="6357" y="800093"/>
                  </a:lnTo>
                  <a:close/>
                </a:path>
                <a:path w="3823334" h="1874520">
                  <a:moveTo>
                    <a:pt x="6357" y="844539"/>
                  </a:moveTo>
                  <a:lnTo>
                    <a:pt x="0" y="844539"/>
                  </a:lnTo>
                  <a:lnTo>
                    <a:pt x="0" y="869935"/>
                  </a:lnTo>
                  <a:lnTo>
                    <a:pt x="6357" y="869935"/>
                  </a:lnTo>
                  <a:lnTo>
                    <a:pt x="6357" y="844539"/>
                  </a:lnTo>
                  <a:close/>
                </a:path>
                <a:path w="3823334" h="1874520">
                  <a:moveTo>
                    <a:pt x="6357" y="888986"/>
                  </a:moveTo>
                  <a:lnTo>
                    <a:pt x="0" y="888986"/>
                  </a:lnTo>
                  <a:lnTo>
                    <a:pt x="0" y="914393"/>
                  </a:lnTo>
                  <a:lnTo>
                    <a:pt x="6357" y="914393"/>
                  </a:lnTo>
                  <a:lnTo>
                    <a:pt x="6357" y="888986"/>
                  </a:lnTo>
                  <a:close/>
                </a:path>
                <a:path w="3823334" h="1874520">
                  <a:moveTo>
                    <a:pt x="6339" y="933443"/>
                  </a:moveTo>
                  <a:lnTo>
                    <a:pt x="0" y="933443"/>
                  </a:lnTo>
                  <a:lnTo>
                    <a:pt x="0" y="940408"/>
                  </a:lnTo>
                  <a:lnTo>
                    <a:pt x="24780" y="940408"/>
                  </a:lnTo>
                  <a:lnTo>
                    <a:pt x="24780" y="937229"/>
                  </a:lnTo>
                  <a:lnTo>
                    <a:pt x="6339" y="937229"/>
                  </a:lnTo>
                  <a:lnTo>
                    <a:pt x="3169" y="934062"/>
                  </a:lnTo>
                  <a:lnTo>
                    <a:pt x="6339" y="934062"/>
                  </a:lnTo>
                  <a:lnTo>
                    <a:pt x="6339" y="933443"/>
                  </a:lnTo>
                  <a:close/>
                </a:path>
                <a:path w="3823334" h="1874520">
                  <a:moveTo>
                    <a:pt x="6339" y="934062"/>
                  </a:moveTo>
                  <a:lnTo>
                    <a:pt x="3169" y="934062"/>
                  </a:lnTo>
                  <a:lnTo>
                    <a:pt x="6339" y="937229"/>
                  </a:lnTo>
                  <a:lnTo>
                    <a:pt x="6339" y="934062"/>
                  </a:lnTo>
                  <a:close/>
                </a:path>
                <a:path w="3823334" h="1874520">
                  <a:moveTo>
                    <a:pt x="24780" y="934062"/>
                  </a:moveTo>
                  <a:lnTo>
                    <a:pt x="6339" y="934062"/>
                  </a:lnTo>
                  <a:lnTo>
                    <a:pt x="6339" y="937229"/>
                  </a:lnTo>
                  <a:lnTo>
                    <a:pt x="24780" y="937229"/>
                  </a:lnTo>
                  <a:lnTo>
                    <a:pt x="24780" y="934062"/>
                  </a:lnTo>
                  <a:close/>
                </a:path>
                <a:path w="3823334" h="1874520">
                  <a:moveTo>
                    <a:pt x="69226" y="934062"/>
                  </a:moveTo>
                  <a:lnTo>
                    <a:pt x="43830" y="934062"/>
                  </a:lnTo>
                  <a:lnTo>
                    <a:pt x="43830" y="940408"/>
                  </a:lnTo>
                  <a:lnTo>
                    <a:pt x="69226" y="940408"/>
                  </a:lnTo>
                  <a:lnTo>
                    <a:pt x="69226" y="934062"/>
                  </a:lnTo>
                  <a:close/>
                </a:path>
                <a:path w="3823334" h="1874520">
                  <a:moveTo>
                    <a:pt x="113666" y="934062"/>
                  </a:moveTo>
                  <a:lnTo>
                    <a:pt x="88270" y="934062"/>
                  </a:lnTo>
                  <a:lnTo>
                    <a:pt x="88270" y="940408"/>
                  </a:lnTo>
                  <a:lnTo>
                    <a:pt x="113666" y="940408"/>
                  </a:lnTo>
                  <a:lnTo>
                    <a:pt x="113666" y="934062"/>
                  </a:lnTo>
                  <a:close/>
                </a:path>
                <a:path w="3823334" h="1874520">
                  <a:moveTo>
                    <a:pt x="158117" y="934062"/>
                  </a:moveTo>
                  <a:lnTo>
                    <a:pt x="132709" y="934062"/>
                  </a:lnTo>
                  <a:lnTo>
                    <a:pt x="132709" y="940408"/>
                  </a:lnTo>
                  <a:lnTo>
                    <a:pt x="158117" y="940408"/>
                  </a:lnTo>
                  <a:lnTo>
                    <a:pt x="158117" y="934062"/>
                  </a:lnTo>
                  <a:close/>
                </a:path>
                <a:path w="3823334" h="1874520">
                  <a:moveTo>
                    <a:pt x="202576" y="934062"/>
                  </a:moveTo>
                  <a:lnTo>
                    <a:pt x="177180" y="934062"/>
                  </a:lnTo>
                  <a:lnTo>
                    <a:pt x="177180" y="940408"/>
                  </a:lnTo>
                  <a:lnTo>
                    <a:pt x="202576" y="940408"/>
                  </a:lnTo>
                  <a:lnTo>
                    <a:pt x="202576" y="934062"/>
                  </a:lnTo>
                  <a:close/>
                </a:path>
                <a:path w="3823334" h="1874520">
                  <a:moveTo>
                    <a:pt x="247016" y="934062"/>
                  </a:moveTo>
                  <a:lnTo>
                    <a:pt x="221620" y="934062"/>
                  </a:lnTo>
                  <a:lnTo>
                    <a:pt x="221620" y="940408"/>
                  </a:lnTo>
                  <a:lnTo>
                    <a:pt x="247016" y="940408"/>
                  </a:lnTo>
                  <a:lnTo>
                    <a:pt x="247016" y="934062"/>
                  </a:lnTo>
                  <a:close/>
                </a:path>
                <a:path w="3823334" h="1874520">
                  <a:moveTo>
                    <a:pt x="291467" y="934062"/>
                  </a:moveTo>
                  <a:lnTo>
                    <a:pt x="266059" y="934062"/>
                  </a:lnTo>
                  <a:lnTo>
                    <a:pt x="266059" y="940408"/>
                  </a:lnTo>
                  <a:lnTo>
                    <a:pt x="291467" y="940408"/>
                  </a:lnTo>
                  <a:lnTo>
                    <a:pt x="291467" y="934062"/>
                  </a:lnTo>
                  <a:close/>
                </a:path>
                <a:path w="3823334" h="1874520">
                  <a:moveTo>
                    <a:pt x="335926" y="934062"/>
                  </a:moveTo>
                  <a:lnTo>
                    <a:pt x="310530" y="934062"/>
                  </a:lnTo>
                  <a:lnTo>
                    <a:pt x="310530" y="940408"/>
                  </a:lnTo>
                  <a:lnTo>
                    <a:pt x="335926" y="940408"/>
                  </a:lnTo>
                  <a:lnTo>
                    <a:pt x="335926" y="934062"/>
                  </a:lnTo>
                  <a:close/>
                </a:path>
                <a:path w="3823334" h="1874520">
                  <a:moveTo>
                    <a:pt x="380366" y="934062"/>
                  </a:moveTo>
                  <a:lnTo>
                    <a:pt x="354970" y="934062"/>
                  </a:lnTo>
                  <a:lnTo>
                    <a:pt x="354970" y="940408"/>
                  </a:lnTo>
                  <a:lnTo>
                    <a:pt x="380366" y="940408"/>
                  </a:lnTo>
                  <a:lnTo>
                    <a:pt x="380366" y="934062"/>
                  </a:lnTo>
                  <a:close/>
                </a:path>
                <a:path w="3823334" h="1874520">
                  <a:moveTo>
                    <a:pt x="424817" y="934062"/>
                  </a:moveTo>
                  <a:lnTo>
                    <a:pt x="399409" y="934062"/>
                  </a:lnTo>
                  <a:lnTo>
                    <a:pt x="399409" y="940408"/>
                  </a:lnTo>
                  <a:lnTo>
                    <a:pt x="424817" y="940408"/>
                  </a:lnTo>
                  <a:lnTo>
                    <a:pt x="424817" y="934062"/>
                  </a:lnTo>
                  <a:close/>
                </a:path>
                <a:path w="3823334" h="1874520">
                  <a:moveTo>
                    <a:pt x="469276" y="934062"/>
                  </a:moveTo>
                  <a:lnTo>
                    <a:pt x="443880" y="934062"/>
                  </a:lnTo>
                  <a:lnTo>
                    <a:pt x="443880" y="940408"/>
                  </a:lnTo>
                  <a:lnTo>
                    <a:pt x="469276" y="940408"/>
                  </a:lnTo>
                  <a:lnTo>
                    <a:pt x="469276" y="934062"/>
                  </a:lnTo>
                  <a:close/>
                </a:path>
                <a:path w="3823334" h="1874520">
                  <a:moveTo>
                    <a:pt x="513716" y="934062"/>
                  </a:moveTo>
                  <a:lnTo>
                    <a:pt x="488320" y="934062"/>
                  </a:lnTo>
                  <a:lnTo>
                    <a:pt x="488320" y="940408"/>
                  </a:lnTo>
                  <a:lnTo>
                    <a:pt x="513716" y="940408"/>
                  </a:lnTo>
                  <a:lnTo>
                    <a:pt x="513716" y="934062"/>
                  </a:lnTo>
                  <a:close/>
                </a:path>
                <a:path w="3823334" h="1874520">
                  <a:moveTo>
                    <a:pt x="558167" y="934062"/>
                  </a:moveTo>
                  <a:lnTo>
                    <a:pt x="532759" y="934062"/>
                  </a:lnTo>
                  <a:lnTo>
                    <a:pt x="532759" y="940408"/>
                  </a:lnTo>
                  <a:lnTo>
                    <a:pt x="558167" y="940408"/>
                  </a:lnTo>
                  <a:lnTo>
                    <a:pt x="558167" y="934062"/>
                  </a:lnTo>
                  <a:close/>
                </a:path>
                <a:path w="3823334" h="1874520">
                  <a:moveTo>
                    <a:pt x="602626" y="934062"/>
                  </a:moveTo>
                  <a:lnTo>
                    <a:pt x="577230" y="934062"/>
                  </a:lnTo>
                  <a:lnTo>
                    <a:pt x="577230" y="940408"/>
                  </a:lnTo>
                  <a:lnTo>
                    <a:pt x="602626" y="940408"/>
                  </a:lnTo>
                  <a:lnTo>
                    <a:pt x="602626" y="934062"/>
                  </a:lnTo>
                  <a:close/>
                </a:path>
                <a:path w="3823334" h="1874520">
                  <a:moveTo>
                    <a:pt x="647066" y="934062"/>
                  </a:moveTo>
                  <a:lnTo>
                    <a:pt x="621670" y="934062"/>
                  </a:lnTo>
                  <a:lnTo>
                    <a:pt x="621670" y="940408"/>
                  </a:lnTo>
                  <a:lnTo>
                    <a:pt x="647066" y="940408"/>
                  </a:lnTo>
                  <a:lnTo>
                    <a:pt x="647066" y="934062"/>
                  </a:lnTo>
                  <a:close/>
                </a:path>
                <a:path w="3823334" h="1874520">
                  <a:moveTo>
                    <a:pt x="691517" y="934062"/>
                  </a:moveTo>
                  <a:lnTo>
                    <a:pt x="666109" y="934062"/>
                  </a:lnTo>
                  <a:lnTo>
                    <a:pt x="666109" y="940408"/>
                  </a:lnTo>
                  <a:lnTo>
                    <a:pt x="691517" y="940408"/>
                  </a:lnTo>
                  <a:lnTo>
                    <a:pt x="691517" y="934062"/>
                  </a:lnTo>
                  <a:close/>
                </a:path>
                <a:path w="3823334" h="1874520">
                  <a:moveTo>
                    <a:pt x="735976" y="934062"/>
                  </a:moveTo>
                  <a:lnTo>
                    <a:pt x="710580" y="934062"/>
                  </a:lnTo>
                  <a:lnTo>
                    <a:pt x="710580" y="940408"/>
                  </a:lnTo>
                  <a:lnTo>
                    <a:pt x="735976" y="940408"/>
                  </a:lnTo>
                  <a:lnTo>
                    <a:pt x="735976" y="934062"/>
                  </a:lnTo>
                  <a:close/>
                </a:path>
                <a:path w="3823334" h="1874520">
                  <a:moveTo>
                    <a:pt x="780416" y="934062"/>
                  </a:moveTo>
                  <a:lnTo>
                    <a:pt x="755020" y="934062"/>
                  </a:lnTo>
                  <a:lnTo>
                    <a:pt x="755020" y="940408"/>
                  </a:lnTo>
                  <a:lnTo>
                    <a:pt x="780416" y="940408"/>
                  </a:lnTo>
                  <a:lnTo>
                    <a:pt x="780416" y="934062"/>
                  </a:lnTo>
                  <a:close/>
                </a:path>
                <a:path w="3823334" h="1874520">
                  <a:moveTo>
                    <a:pt x="824867" y="934062"/>
                  </a:moveTo>
                  <a:lnTo>
                    <a:pt x="799459" y="934062"/>
                  </a:lnTo>
                  <a:lnTo>
                    <a:pt x="799459" y="940408"/>
                  </a:lnTo>
                  <a:lnTo>
                    <a:pt x="824867" y="940408"/>
                  </a:lnTo>
                  <a:lnTo>
                    <a:pt x="824867" y="934062"/>
                  </a:lnTo>
                  <a:close/>
                </a:path>
                <a:path w="3823334" h="1874520">
                  <a:moveTo>
                    <a:pt x="869326" y="934062"/>
                  </a:moveTo>
                  <a:lnTo>
                    <a:pt x="843930" y="934062"/>
                  </a:lnTo>
                  <a:lnTo>
                    <a:pt x="843930" y="940408"/>
                  </a:lnTo>
                  <a:lnTo>
                    <a:pt x="869326" y="940408"/>
                  </a:lnTo>
                  <a:lnTo>
                    <a:pt x="869326" y="934062"/>
                  </a:lnTo>
                  <a:close/>
                </a:path>
                <a:path w="3823334" h="1874520">
                  <a:moveTo>
                    <a:pt x="913766" y="934062"/>
                  </a:moveTo>
                  <a:lnTo>
                    <a:pt x="888370" y="934062"/>
                  </a:lnTo>
                  <a:lnTo>
                    <a:pt x="888370" y="940408"/>
                  </a:lnTo>
                  <a:lnTo>
                    <a:pt x="913766" y="940408"/>
                  </a:lnTo>
                  <a:lnTo>
                    <a:pt x="913766" y="934062"/>
                  </a:lnTo>
                  <a:close/>
                </a:path>
                <a:path w="3823334" h="1874520">
                  <a:moveTo>
                    <a:pt x="958217" y="934062"/>
                  </a:moveTo>
                  <a:lnTo>
                    <a:pt x="932809" y="934062"/>
                  </a:lnTo>
                  <a:lnTo>
                    <a:pt x="932809" y="940408"/>
                  </a:lnTo>
                  <a:lnTo>
                    <a:pt x="958217" y="940408"/>
                  </a:lnTo>
                  <a:lnTo>
                    <a:pt x="958217" y="934062"/>
                  </a:lnTo>
                  <a:close/>
                </a:path>
                <a:path w="3823334" h="1874520">
                  <a:moveTo>
                    <a:pt x="1002676" y="934062"/>
                  </a:moveTo>
                  <a:lnTo>
                    <a:pt x="977280" y="934062"/>
                  </a:lnTo>
                  <a:lnTo>
                    <a:pt x="977280" y="940408"/>
                  </a:lnTo>
                  <a:lnTo>
                    <a:pt x="1002676" y="940408"/>
                  </a:lnTo>
                  <a:lnTo>
                    <a:pt x="1002676" y="934062"/>
                  </a:lnTo>
                  <a:close/>
                </a:path>
                <a:path w="3823334" h="1874520">
                  <a:moveTo>
                    <a:pt x="1047116" y="934062"/>
                  </a:moveTo>
                  <a:lnTo>
                    <a:pt x="1021720" y="934062"/>
                  </a:lnTo>
                  <a:lnTo>
                    <a:pt x="1021720" y="940408"/>
                  </a:lnTo>
                  <a:lnTo>
                    <a:pt x="1047116" y="940408"/>
                  </a:lnTo>
                  <a:lnTo>
                    <a:pt x="1047116" y="934062"/>
                  </a:lnTo>
                  <a:close/>
                </a:path>
                <a:path w="3823334" h="1874520">
                  <a:moveTo>
                    <a:pt x="1091567" y="934062"/>
                  </a:moveTo>
                  <a:lnTo>
                    <a:pt x="1066159" y="934062"/>
                  </a:lnTo>
                  <a:lnTo>
                    <a:pt x="1066159" y="940408"/>
                  </a:lnTo>
                  <a:lnTo>
                    <a:pt x="1091567" y="940408"/>
                  </a:lnTo>
                  <a:lnTo>
                    <a:pt x="1091567" y="934062"/>
                  </a:lnTo>
                  <a:close/>
                </a:path>
                <a:path w="3823334" h="1874520">
                  <a:moveTo>
                    <a:pt x="1136026" y="934062"/>
                  </a:moveTo>
                  <a:lnTo>
                    <a:pt x="1110630" y="934062"/>
                  </a:lnTo>
                  <a:lnTo>
                    <a:pt x="1110630" y="940408"/>
                  </a:lnTo>
                  <a:lnTo>
                    <a:pt x="1136026" y="940408"/>
                  </a:lnTo>
                  <a:lnTo>
                    <a:pt x="1136026" y="934062"/>
                  </a:lnTo>
                  <a:close/>
                </a:path>
                <a:path w="3823334" h="1874520">
                  <a:moveTo>
                    <a:pt x="1180466" y="934062"/>
                  </a:moveTo>
                  <a:lnTo>
                    <a:pt x="1155070" y="934062"/>
                  </a:lnTo>
                  <a:lnTo>
                    <a:pt x="1155070" y="940408"/>
                  </a:lnTo>
                  <a:lnTo>
                    <a:pt x="1180466" y="940408"/>
                  </a:lnTo>
                  <a:lnTo>
                    <a:pt x="1180466" y="934062"/>
                  </a:lnTo>
                  <a:close/>
                </a:path>
                <a:path w="3823334" h="1874520">
                  <a:moveTo>
                    <a:pt x="1224917" y="934062"/>
                  </a:moveTo>
                  <a:lnTo>
                    <a:pt x="1199509" y="934062"/>
                  </a:lnTo>
                  <a:lnTo>
                    <a:pt x="1199509" y="940408"/>
                  </a:lnTo>
                  <a:lnTo>
                    <a:pt x="1224917" y="940408"/>
                  </a:lnTo>
                  <a:lnTo>
                    <a:pt x="1224917" y="934062"/>
                  </a:lnTo>
                  <a:close/>
                </a:path>
                <a:path w="3823334" h="1874520">
                  <a:moveTo>
                    <a:pt x="1269376" y="934062"/>
                  </a:moveTo>
                  <a:lnTo>
                    <a:pt x="1243980" y="934062"/>
                  </a:lnTo>
                  <a:lnTo>
                    <a:pt x="1243980" y="940408"/>
                  </a:lnTo>
                  <a:lnTo>
                    <a:pt x="1269376" y="940408"/>
                  </a:lnTo>
                  <a:lnTo>
                    <a:pt x="1269376" y="934062"/>
                  </a:lnTo>
                  <a:close/>
                </a:path>
                <a:path w="3823334" h="1874520">
                  <a:moveTo>
                    <a:pt x="1313816" y="934062"/>
                  </a:moveTo>
                  <a:lnTo>
                    <a:pt x="1288420" y="934062"/>
                  </a:lnTo>
                  <a:lnTo>
                    <a:pt x="1288420" y="940408"/>
                  </a:lnTo>
                  <a:lnTo>
                    <a:pt x="1313816" y="940408"/>
                  </a:lnTo>
                  <a:lnTo>
                    <a:pt x="1313816" y="934062"/>
                  </a:lnTo>
                  <a:close/>
                </a:path>
                <a:path w="3823334" h="1874520">
                  <a:moveTo>
                    <a:pt x="1358267" y="934062"/>
                  </a:moveTo>
                  <a:lnTo>
                    <a:pt x="1332859" y="934062"/>
                  </a:lnTo>
                  <a:lnTo>
                    <a:pt x="1332859" y="940408"/>
                  </a:lnTo>
                  <a:lnTo>
                    <a:pt x="1358267" y="940408"/>
                  </a:lnTo>
                  <a:lnTo>
                    <a:pt x="1358267" y="934062"/>
                  </a:lnTo>
                  <a:close/>
                </a:path>
                <a:path w="3823334" h="1874520">
                  <a:moveTo>
                    <a:pt x="1402726" y="934062"/>
                  </a:moveTo>
                  <a:lnTo>
                    <a:pt x="1377330" y="934062"/>
                  </a:lnTo>
                  <a:lnTo>
                    <a:pt x="1377330" y="940408"/>
                  </a:lnTo>
                  <a:lnTo>
                    <a:pt x="1402726" y="940408"/>
                  </a:lnTo>
                  <a:lnTo>
                    <a:pt x="1402726" y="934062"/>
                  </a:lnTo>
                  <a:close/>
                </a:path>
                <a:path w="3823334" h="1874520">
                  <a:moveTo>
                    <a:pt x="1447166" y="934062"/>
                  </a:moveTo>
                  <a:lnTo>
                    <a:pt x="1421770" y="934062"/>
                  </a:lnTo>
                  <a:lnTo>
                    <a:pt x="1421770" y="940408"/>
                  </a:lnTo>
                  <a:lnTo>
                    <a:pt x="1447166" y="940408"/>
                  </a:lnTo>
                  <a:lnTo>
                    <a:pt x="1447166" y="934062"/>
                  </a:lnTo>
                  <a:close/>
                </a:path>
                <a:path w="3823334" h="1874520">
                  <a:moveTo>
                    <a:pt x="1491617" y="934062"/>
                  </a:moveTo>
                  <a:lnTo>
                    <a:pt x="1466209" y="934062"/>
                  </a:lnTo>
                  <a:lnTo>
                    <a:pt x="1466209" y="940408"/>
                  </a:lnTo>
                  <a:lnTo>
                    <a:pt x="1491617" y="940408"/>
                  </a:lnTo>
                  <a:lnTo>
                    <a:pt x="1491617" y="934062"/>
                  </a:lnTo>
                  <a:close/>
                </a:path>
                <a:path w="3823334" h="1874520">
                  <a:moveTo>
                    <a:pt x="1536076" y="934062"/>
                  </a:moveTo>
                  <a:lnTo>
                    <a:pt x="1510680" y="934062"/>
                  </a:lnTo>
                  <a:lnTo>
                    <a:pt x="1510680" y="940408"/>
                  </a:lnTo>
                  <a:lnTo>
                    <a:pt x="1536076" y="940408"/>
                  </a:lnTo>
                  <a:lnTo>
                    <a:pt x="1536076" y="934062"/>
                  </a:lnTo>
                  <a:close/>
                </a:path>
                <a:path w="3823334" h="1874520">
                  <a:moveTo>
                    <a:pt x="1580516" y="934062"/>
                  </a:moveTo>
                  <a:lnTo>
                    <a:pt x="1555120" y="934062"/>
                  </a:lnTo>
                  <a:lnTo>
                    <a:pt x="1555120" y="940408"/>
                  </a:lnTo>
                  <a:lnTo>
                    <a:pt x="1580516" y="940408"/>
                  </a:lnTo>
                  <a:lnTo>
                    <a:pt x="1580516" y="934062"/>
                  </a:lnTo>
                  <a:close/>
                </a:path>
                <a:path w="3823334" h="1874520">
                  <a:moveTo>
                    <a:pt x="1624967" y="934062"/>
                  </a:moveTo>
                  <a:lnTo>
                    <a:pt x="1599559" y="934062"/>
                  </a:lnTo>
                  <a:lnTo>
                    <a:pt x="1599559" y="940408"/>
                  </a:lnTo>
                  <a:lnTo>
                    <a:pt x="1624967" y="940408"/>
                  </a:lnTo>
                  <a:lnTo>
                    <a:pt x="1624967" y="934062"/>
                  </a:lnTo>
                  <a:close/>
                </a:path>
                <a:path w="3823334" h="1874520">
                  <a:moveTo>
                    <a:pt x="1669426" y="934062"/>
                  </a:moveTo>
                  <a:lnTo>
                    <a:pt x="1644030" y="934062"/>
                  </a:lnTo>
                  <a:lnTo>
                    <a:pt x="1644030" y="940408"/>
                  </a:lnTo>
                  <a:lnTo>
                    <a:pt x="1669426" y="940408"/>
                  </a:lnTo>
                  <a:lnTo>
                    <a:pt x="1669426" y="934062"/>
                  </a:lnTo>
                  <a:close/>
                </a:path>
                <a:path w="3823334" h="1874520">
                  <a:moveTo>
                    <a:pt x="1713866" y="934062"/>
                  </a:moveTo>
                  <a:lnTo>
                    <a:pt x="1688470" y="934062"/>
                  </a:lnTo>
                  <a:lnTo>
                    <a:pt x="1688470" y="940408"/>
                  </a:lnTo>
                  <a:lnTo>
                    <a:pt x="1713866" y="940408"/>
                  </a:lnTo>
                  <a:lnTo>
                    <a:pt x="1713866" y="934062"/>
                  </a:lnTo>
                  <a:close/>
                </a:path>
                <a:path w="3823334" h="1874520">
                  <a:moveTo>
                    <a:pt x="1758317" y="934062"/>
                  </a:moveTo>
                  <a:lnTo>
                    <a:pt x="1732909" y="934062"/>
                  </a:lnTo>
                  <a:lnTo>
                    <a:pt x="1732909" y="940408"/>
                  </a:lnTo>
                  <a:lnTo>
                    <a:pt x="1758317" y="940408"/>
                  </a:lnTo>
                  <a:lnTo>
                    <a:pt x="1758317" y="934062"/>
                  </a:lnTo>
                  <a:close/>
                </a:path>
                <a:path w="3823334" h="1874520">
                  <a:moveTo>
                    <a:pt x="1802776" y="934062"/>
                  </a:moveTo>
                  <a:lnTo>
                    <a:pt x="1777380" y="934062"/>
                  </a:lnTo>
                  <a:lnTo>
                    <a:pt x="1777380" y="940408"/>
                  </a:lnTo>
                  <a:lnTo>
                    <a:pt x="1802776" y="940408"/>
                  </a:lnTo>
                  <a:lnTo>
                    <a:pt x="1802776" y="934062"/>
                  </a:lnTo>
                  <a:close/>
                </a:path>
                <a:path w="3823334" h="1874520">
                  <a:moveTo>
                    <a:pt x="1847216" y="934062"/>
                  </a:moveTo>
                  <a:lnTo>
                    <a:pt x="1821820" y="934062"/>
                  </a:lnTo>
                  <a:lnTo>
                    <a:pt x="1821820" y="940408"/>
                  </a:lnTo>
                  <a:lnTo>
                    <a:pt x="1847216" y="940408"/>
                  </a:lnTo>
                  <a:lnTo>
                    <a:pt x="1847216" y="934062"/>
                  </a:lnTo>
                  <a:close/>
                </a:path>
                <a:path w="3823334" h="1874520">
                  <a:moveTo>
                    <a:pt x="1891667" y="934062"/>
                  </a:moveTo>
                  <a:lnTo>
                    <a:pt x="1866259" y="934062"/>
                  </a:lnTo>
                  <a:lnTo>
                    <a:pt x="1866259" y="940408"/>
                  </a:lnTo>
                  <a:lnTo>
                    <a:pt x="1891667" y="940408"/>
                  </a:lnTo>
                  <a:lnTo>
                    <a:pt x="1891667" y="934062"/>
                  </a:lnTo>
                  <a:close/>
                </a:path>
                <a:path w="3823334" h="1874520">
                  <a:moveTo>
                    <a:pt x="1936126" y="934062"/>
                  </a:moveTo>
                  <a:lnTo>
                    <a:pt x="1910730" y="934062"/>
                  </a:lnTo>
                  <a:lnTo>
                    <a:pt x="1910730" y="940408"/>
                  </a:lnTo>
                  <a:lnTo>
                    <a:pt x="1936126" y="940408"/>
                  </a:lnTo>
                  <a:lnTo>
                    <a:pt x="1936126" y="934062"/>
                  </a:lnTo>
                  <a:close/>
                </a:path>
                <a:path w="3823334" h="1874520">
                  <a:moveTo>
                    <a:pt x="1980566" y="934062"/>
                  </a:moveTo>
                  <a:lnTo>
                    <a:pt x="1955170" y="934062"/>
                  </a:lnTo>
                  <a:lnTo>
                    <a:pt x="1955170" y="940408"/>
                  </a:lnTo>
                  <a:lnTo>
                    <a:pt x="1980566" y="940408"/>
                  </a:lnTo>
                  <a:lnTo>
                    <a:pt x="1980566" y="934062"/>
                  </a:lnTo>
                  <a:close/>
                </a:path>
                <a:path w="3823334" h="1874520">
                  <a:moveTo>
                    <a:pt x="2025017" y="934062"/>
                  </a:moveTo>
                  <a:lnTo>
                    <a:pt x="1999609" y="934062"/>
                  </a:lnTo>
                  <a:lnTo>
                    <a:pt x="1999609" y="940408"/>
                  </a:lnTo>
                  <a:lnTo>
                    <a:pt x="2025017" y="940408"/>
                  </a:lnTo>
                  <a:lnTo>
                    <a:pt x="2025017" y="934062"/>
                  </a:lnTo>
                  <a:close/>
                </a:path>
                <a:path w="3823334" h="1874520">
                  <a:moveTo>
                    <a:pt x="2069476" y="934062"/>
                  </a:moveTo>
                  <a:lnTo>
                    <a:pt x="2044080" y="934062"/>
                  </a:lnTo>
                  <a:lnTo>
                    <a:pt x="2044080" y="940408"/>
                  </a:lnTo>
                  <a:lnTo>
                    <a:pt x="2069476" y="940408"/>
                  </a:lnTo>
                  <a:lnTo>
                    <a:pt x="2069476" y="934062"/>
                  </a:lnTo>
                  <a:close/>
                </a:path>
                <a:path w="3823334" h="1874520">
                  <a:moveTo>
                    <a:pt x="2113916" y="934062"/>
                  </a:moveTo>
                  <a:lnTo>
                    <a:pt x="2088520" y="934062"/>
                  </a:lnTo>
                  <a:lnTo>
                    <a:pt x="2088520" y="940408"/>
                  </a:lnTo>
                  <a:lnTo>
                    <a:pt x="2113916" y="940408"/>
                  </a:lnTo>
                  <a:lnTo>
                    <a:pt x="2113916" y="934062"/>
                  </a:lnTo>
                  <a:close/>
                </a:path>
                <a:path w="3823334" h="1874520">
                  <a:moveTo>
                    <a:pt x="2158367" y="934062"/>
                  </a:moveTo>
                  <a:lnTo>
                    <a:pt x="2132959" y="934062"/>
                  </a:lnTo>
                  <a:lnTo>
                    <a:pt x="2132959" y="940408"/>
                  </a:lnTo>
                  <a:lnTo>
                    <a:pt x="2158367" y="940408"/>
                  </a:lnTo>
                  <a:lnTo>
                    <a:pt x="2158367" y="934062"/>
                  </a:lnTo>
                  <a:close/>
                </a:path>
                <a:path w="3823334" h="1874520">
                  <a:moveTo>
                    <a:pt x="2202826" y="934062"/>
                  </a:moveTo>
                  <a:lnTo>
                    <a:pt x="2177430" y="934062"/>
                  </a:lnTo>
                  <a:lnTo>
                    <a:pt x="2177430" y="940408"/>
                  </a:lnTo>
                  <a:lnTo>
                    <a:pt x="2202826" y="940408"/>
                  </a:lnTo>
                  <a:lnTo>
                    <a:pt x="2202826" y="934062"/>
                  </a:lnTo>
                  <a:close/>
                </a:path>
                <a:path w="3823334" h="1874520">
                  <a:moveTo>
                    <a:pt x="2247266" y="934062"/>
                  </a:moveTo>
                  <a:lnTo>
                    <a:pt x="2221870" y="934062"/>
                  </a:lnTo>
                  <a:lnTo>
                    <a:pt x="2221870" y="940408"/>
                  </a:lnTo>
                  <a:lnTo>
                    <a:pt x="2247266" y="940408"/>
                  </a:lnTo>
                  <a:lnTo>
                    <a:pt x="2247266" y="934062"/>
                  </a:lnTo>
                  <a:close/>
                </a:path>
                <a:path w="3823334" h="1874520">
                  <a:moveTo>
                    <a:pt x="2291717" y="934062"/>
                  </a:moveTo>
                  <a:lnTo>
                    <a:pt x="2266309" y="934062"/>
                  </a:lnTo>
                  <a:lnTo>
                    <a:pt x="2266309" y="940408"/>
                  </a:lnTo>
                  <a:lnTo>
                    <a:pt x="2291717" y="940408"/>
                  </a:lnTo>
                  <a:lnTo>
                    <a:pt x="2291717" y="934062"/>
                  </a:lnTo>
                  <a:close/>
                </a:path>
                <a:path w="3823334" h="1874520">
                  <a:moveTo>
                    <a:pt x="2336176" y="934062"/>
                  </a:moveTo>
                  <a:lnTo>
                    <a:pt x="2310780" y="934062"/>
                  </a:lnTo>
                  <a:lnTo>
                    <a:pt x="2310780" y="940408"/>
                  </a:lnTo>
                  <a:lnTo>
                    <a:pt x="2336176" y="940408"/>
                  </a:lnTo>
                  <a:lnTo>
                    <a:pt x="2336176" y="934062"/>
                  </a:lnTo>
                  <a:close/>
                </a:path>
                <a:path w="3823334" h="1874520">
                  <a:moveTo>
                    <a:pt x="2380616" y="934062"/>
                  </a:moveTo>
                  <a:lnTo>
                    <a:pt x="2355220" y="934062"/>
                  </a:lnTo>
                  <a:lnTo>
                    <a:pt x="2355220" y="940408"/>
                  </a:lnTo>
                  <a:lnTo>
                    <a:pt x="2380616" y="940408"/>
                  </a:lnTo>
                  <a:lnTo>
                    <a:pt x="2380616" y="934062"/>
                  </a:lnTo>
                  <a:close/>
                </a:path>
                <a:path w="3823334" h="1874520">
                  <a:moveTo>
                    <a:pt x="2425067" y="934062"/>
                  </a:moveTo>
                  <a:lnTo>
                    <a:pt x="2399659" y="934062"/>
                  </a:lnTo>
                  <a:lnTo>
                    <a:pt x="2399659" y="940408"/>
                  </a:lnTo>
                  <a:lnTo>
                    <a:pt x="2425067" y="940408"/>
                  </a:lnTo>
                  <a:lnTo>
                    <a:pt x="2425067" y="934062"/>
                  </a:lnTo>
                  <a:close/>
                </a:path>
                <a:path w="3823334" h="1874520">
                  <a:moveTo>
                    <a:pt x="2469526" y="934062"/>
                  </a:moveTo>
                  <a:lnTo>
                    <a:pt x="2444130" y="934062"/>
                  </a:lnTo>
                  <a:lnTo>
                    <a:pt x="2444130" y="940408"/>
                  </a:lnTo>
                  <a:lnTo>
                    <a:pt x="2469526" y="940408"/>
                  </a:lnTo>
                  <a:lnTo>
                    <a:pt x="2469526" y="934062"/>
                  </a:lnTo>
                  <a:close/>
                </a:path>
                <a:path w="3823334" h="1874520">
                  <a:moveTo>
                    <a:pt x="2513966" y="934062"/>
                  </a:moveTo>
                  <a:lnTo>
                    <a:pt x="2488570" y="934062"/>
                  </a:lnTo>
                  <a:lnTo>
                    <a:pt x="2488570" y="940408"/>
                  </a:lnTo>
                  <a:lnTo>
                    <a:pt x="2513966" y="940408"/>
                  </a:lnTo>
                  <a:lnTo>
                    <a:pt x="2513966" y="934062"/>
                  </a:lnTo>
                  <a:close/>
                </a:path>
                <a:path w="3823334" h="1874520">
                  <a:moveTo>
                    <a:pt x="2558417" y="934062"/>
                  </a:moveTo>
                  <a:lnTo>
                    <a:pt x="2533009" y="934062"/>
                  </a:lnTo>
                  <a:lnTo>
                    <a:pt x="2533009" y="940408"/>
                  </a:lnTo>
                  <a:lnTo>
                    <a:pt x="2558417" y="940408"/>
                  </a:lnTo>
                  <a:lnTo>
                    <a:pt x="2558417" y="934062"/>
                  </a:lnTo>
                  <a:close/>
                </a:path>
                <a:path w="3823334" h="1874520">
                  <a:moveTo>
                    <a:pt x="2602876" y="934062"/>
                  </a:moveTo>
                  <a:lnTo>
                    <a:pt x="2577480" y="934062"/>
                  </a:lnTo>
                  <a:lnTo>
                    <a:pt x="2577480" y="940408"/>
                  </a:lnTo>
                  <a:lnTo>
                    <a:pt x="2602876" y="940408"/>
                  </a:lnTo>
                  <a:lnTo>
                    <a:pt x="2602876" y="934062"/>
                  </a:lnTo>
                  <a:close/>
                </a:path>
                <a:path w="3823334" h="1874520">
                  <a:moveTo>
                    <a:pt x="2647316" y="934062"/>
                  </a:moveTo>
                  <a:lnTo>
                    <a:pt x="2621920" y="934062"/>
                  </a:lnTo>
                  <a:lnTo>
                    <a:pt x="2621920" y="940408"/>
                  </a:lnTo>
                  <a:lnTo>
                    <a:pt x="2647316" y="940408"/>
                  </a:lnTo>
                  <a:lnTo>
                    <a:pt x="2647316" y="934062"/>
                  </a:lnTo>
                  <a:close/>
                </a:path>
                <a:path w="3823334" h="1874520">
                  <a:moveTo>
                    <a:pt x="2691767" y="934062"/>
                  </a:moveTo>
                  <a:lnTo>
                    <a:pt x="2666359" y="934062"/>
                  </a:lnTo>
                  <a:lnTo>
                    <a:pt x="2666359" y="940408"/>
                  </a:lnTo>
                  <a:lnTo>
                    <a:pt x="2691767" y="940408"/>
                  </a:lnTo>
                  <a:lnTo>
                    <a:pt x="2691767" y="934062"/>
                  </a:lnTo>
                  <a:close/>
                </a:path>
                <a:path w="3823334" h="1874520">
                  <a:moveTo>
                    <a:pt x="2736226" y="934062"/>
                  </a:moveTo>
                  <a:lnTo>
                    <a:pt x="2710830" y="934062"/>
                  </a:lnTo>
                  <a:lnTo>
                    <a:pt x="2710830" y="940408"/>
                  </a:lnTo>
                  <a:lnTo>
                    <a:pt x="2736226" y="940408"/>
                  </a:lnTo>
                  <a:lnTo>
                    <a:pt x="2736226" y="934062"/>
                  </a:lnTo>
                  <a:close/>
                </a:path>
                <a:path w="3823334" h="1874520">
                  <a:moveTo>
                    <a:pt x="2780666" y="934062"/>
                  </a:moveTo>
                  <a:lnTo>
                    <a:pt x="2755270" y="934062"/>
                  </a:lnTo>
                  <a:lnTo>
                    <a:pt x="2755270" y="940408"/>
                  </a:lnTo>
                  <a:lnTo>
                    <a:pt x="2780666" y="940408"/>
                  </a:lnTo>
                  <a:lnTo>
                    <a:pt x="2780666" y="934062"/>
                  </a:lnTo>
                  <a:close/>
                </a:path>
                <a:path w="3823334" h="1874520">
                  <a:moveTo>
                    <a:pt x="2825117" y="934062"/>
                  </a:moveTo>
                  <a:lnTo>
                    <a:pt x="2799709" y="934062"/>
                  </a:lnTo>
                  <a:lnTo>
                    <a:pt x="2799709" y="940408"/>
                  </a:lnTo>
                  <a:lnTo>
                    <a:pt x="2825117" y="940408"/>
                  </a:lnTo>
                  <a:lnTo>
                    <a:pt x="2825117" y="934062"/>
                  </a:lnTo>
                  <a:close/>
                </a:path>
                <a:path w="3823334" h="1874520">
                  <a:moveTo>
                    <a:pt x="2869576" y="934062"/>
                  </a:moveTo>
                  <a:lnTo>
                    <a:pt x="2844180" y="934062"/>
                  </a:lnTo>
                  <a:lnTo>
                    <a:pt x="2844180" y="940408"/>
                  </a:lnTo>
                  <a:lnTo>
                    <a:pt x="2869576" y="940408"/>
                  </a:lnTo>
                  <a:lnTo>
                    <a:pt x="2869576" y="934062"/>
                  </a:lnTo>
                  <a:close/>
                </a:path>
                <a:path w="3823334" h="1874520">
                  <a:moveTo>
                    <a:pt x="2914016" y="934062"/>
                  </a:moveTo>
                  <a:lnTo>
                    <a:pt x="2888620" y="934062"/>
                  </a:lnTo>
                  <a:lnTo>
                    <a:pt x="2888620" y="940408"/>
                  </a:lnTo>
                  <a:lnTo>
                    <a:pt x="2914016" y="940408"/>
                  </a:lnTo>
                  <a:lnTo>
                    <a:pt x="2914016" y="934062"/>
                  </a:lnTo>
                  <a:close/>
                </a:path>
                <a:path w="3823334" h="1874520">
                  <a:moveTo>
                    <a:pt x="2958467" y="934062"/>
                  </a:moveTo>
                  <a:lnTo>
                    <a:pt x="2933059" y="934062"/>
                  </a:lnTo>
                  <a:lnTo>
                    <a:pt x="2933059" y="940408"/>
                  </a:lnTo>
                  <a:lnTo>
                    <a:pt x="2958467" y="940408"/>
                  </a:lnTo>
                  <a:lnTo>
                    <a:pt x="2958467" y="934062"/>
                  </a:lnTo>
                  <a:close/>
                </a:path>
                <a:path w="3823334" h="1874520">
                  <a:moveTo>
                    <a:pt x="3002926" y="934062"/>
                  </a:moveTo>
                  <a:lnTo>
                    <a:pt x="2977530" y="934062"/>
                  </a:lnTo>
                  <a:lnTo>
                    <a:pt x="2977530" y="940408"/>
                  </a:lnTo>
                  <a:lnTo>
                    <a:pt x="3002926" y="940408"/>
                  </a:lnTo>
                  <a:lnTo>
                    <a:pt x="3002926" y="934062"/>
                  </a:lnTo>
                  <a:close/>
                </a:path>
                <a:path w="3823334" h="1874520">
                  <a:moveTo>
                    <a:pt x="3047366" y="934062"/>
                  </a:moveTo>
                  <a:lnTo>
                    <a:pt x="3021970" y="934062"/>
                  </a:lnTo>
                  <a:lnTo>
                    <a:pt x="3021970" y="940408"/>
                  </a:lnTo>
                  <a:lnTo>
                    <a:pt x="3047366" y="940408"/>
                  </a:lnTo>
                  <a:lnTo>
                    <a:pt x="3047366" y="934062"/>
                  </a:lnTo>
                  <a:close/>
                </a:path>
                <a:path w="3823334" h="1874520">
                  <a:moveTo>
                    <a:pt x="3091817" y="934062"/>
                  </a:moveTo>
                  <a:lnTo>
                    <a:pt x="3066409" y="934062"/>
                  </a:lnTo>
                  <a:lnTo>
                    <a:pt x="3066409" y="940408"/>
                  </a:lnTo>
                  <a:lnTo>
                    <a:pt x="3091817" y="940408"/>
                  </a:lnTo>
                  <a:lnTo>
                    <a:pt x="3091817" y="934062"/>
                  </a:lnTo>
                  <a:close/>
                </a:path>
                <a:path w="3823334" h="1874520">
                  <a:moveTo>
                    <a:pt x="3136276" y="934062"/>
                  </a:moveTo>
                  <a:lnTo>
                    <a:pt x="3110880" y="934062"/>
                  </a:lnTo>
                  <a:lnTo>
                    <a:pt x="3110880" y="940408"/>
                  </a:lnTo>
                  <a:lnTo>
                    <a:pt x="3136276" y="940408"/>
                  </a:lnTo>
                  <a:lnTo>
                    <a:pt x="3136276" y="934062"/>
                  </a:lnTo>
                  <a:close/>
                </a:path>
                <a:path w="3823334" h="1874520">
                  <a:moveTo>
                    <a:pt x="3180716" y="934062"/>
                  </a:moveTo>
                  <a:lnTo>
                    <a:pt x="3155320" y="934062"/>
                  </a:lnTo>
                  <a:lnTo>
                    <a:pt x="3155320" y="940408"/>
                  </a:lnTo>
                  <a:lnTo>
                    <a:pt x="3180716" y="940408"/>
                  </a:lnTo>
                  <a:lnTo>
                    <a:pt x="3180716" y="934062"/>
                  </a:lnTo>
                  <a:close/>
                </a:path>
                <a:path w="3823334" h="1874520">
                  <a:moveTo>
                    <a:pt x="3225167" y="934062"/>
                  </a:moveTo>
                  <a:lnTo>
                    <a:pt x="3199759" y="934062"/>
                  </a:lnTo>
                  <a:lnTo>
                    <a:pt x="3199759" y="940408"/>
                  </a:lnTo>
                  <a:lnTo>
                    <a:pt x="3225167" y="940408"/>
                  </a:lnTo>
                  <a:lnTo>
                    <a:pt x="3225167" y="934062"/>
                  </a:lnTo>
                  <a:close/>
                </a:path>
                <a:path w="3823334" h="1874520">
                  <a:moveTo>
                    <a:pt x="3269626" y="934062"/>
                  </a:moveTo>
                  <a:lnTo>
                    <a:pt x="3244230" y="934062"/>
                  </a:lnTo>
                  <a:lnTo>
                    <a:pt x="3244230" y="940408"/>
                  </a:lnTo>
                  <a:lnTo>
                    <a:pt x="3269626" y="940408"/>
                  </a:lnTo>
                  <a:lnTo>
                    <a:pt x="3269626" y="934062"/>
                  </a:lnTo>
                  <a:close/>
                </a:path>
                <a:path w="3823334" h="1874520">
                  <a:moveTo>
                    <a:pt x="3314066" y="934062"/>
                  </a:moveTo>
                  <a:lnTo>
                    <a:pt x="3288670" y="934062"/>
                  </a:lnTo>
                  <a:lnTo>
                    <a:pt x="3288670" y="940408"/>
                  </a:lnTo>
                  <a:lnTo>
                    <a:pt x="3314066" y="940408"/>
                  </a:lnTo>
                  <a:lnTo>
                    <a:pt x="3314066" y="934062"/>
                  </a:lnTo>
                  <a:close/>
                </a:path>
                <a:path w="3823334" h="1874520">
                  <a:moveTo>
                    <a:pt x="3358517" y="934062"/>
                  </a:moveTo>
                  <a:lnTo>
                    <a:pt x="3333109" y="934062"/>
                  </a:lnTo>
                  <a:lnTo>
                    <a:pt x="3333109" y="940408"/>
                  </a:lnTo>
                  <a:lnTo>
                    <a:pt x="3358517" y="940408"/>
                  </a:lnTo>
                  <a:lnTo>
                    <a:pt x="3358517" y="934062"/>
                  </a:lnTo>
                  <a:close/>
                </a:path>
                <a:path w="3823334" h="1874520">
                  <a:moveTo>
                    <a:pt x="3402976" y="934062"/>
                  </a:moveTo>
                  <a:lnTo>
                    <a:pt x="3377580" y="934062"/>
                  </a:lnTo>
                  <a:lnTo>
                    <a:pt x="3377580" y="940408"/>
                  </a:lnTo>
                  <a:lnTo>
                    <a:pt x="3402976" y="940408"/>
                  </a:lnTo>
                  <a:lnTo>
                    <a:pt x="3402976" y="934062"/>
                  </a:lnTo>
                  <a:close/>
                </a:path>
                <a:path w="3823334" h="1874520">
                  <a:moveTo>
                    <a:pt x="3447416" y="934062"/>
                  </a:moveTo>
                  <a:lnTo>
                    <a:pt x="3422020" y="934062"/>
                  </a:lnTo>
                  <a:lnTo>
                    <a:pt x="3422020" y="940408"/>
                  </a:lnTo>
                  <a:lnTo>
                    <a:pt x="3447416" y="940408"/>
                  </a:lnTo>
                  <a:lnTo>
                    <a:pt x="3447416" y="934062"/>
                  </a:lnTo>
                  <a:close/>
                </a:path>
                <a:path w="3823334" h="1874520">
                  <a:moveTo>
                    <a:pt x="3491867" y="934062"/>
                  </a:moveTo>
                  <a:lnTo>
                    <a:pt x="3466459" y="934062"/>
                  </a:lnTo>
                  <a:lnTo>
                    <a:pt x="3466459" y="940408"/>
                  </a:lnTo>
                  <a:lnTo>
                    <a:pt x="3491867" y="940408"/>
                  </a:lnTo>
                  <a:lnTo>
                    <a:pt x="3491867" y="934062"/>
                  </a:lnTo>
                  <a:close/>
                </a:path>
                <a:path w="3823334" h="1874520">
                  <a:moveTo>
                    <a:pt x="3536326" y="934062"/>
                  </a:moveTo>
                  <a:lnTo>
                    <a:pt x="3510930" y="934062"/>
                  </a:lnTo>
                  <a:lnTo>
                    <a:pt x="3510930" y="940408"/>
                  </a:lnTo>
                  <a:lnTo>
                    <a:pt x="3536326" y="940408"/>
                  </a:lnTo>
                  <a:lnTo>
                    <a:pt x="3536326" y="934062"/>
                  </a:lnTo>
                  <a:close/>
                </a:path>
                <a:path w="3823334" h="1874520">
                  <a:moveTo>
                    <a:pt x="3580766" y="934062"/>
                  </a:moveTo>
                  <a:lnTo>
                    <a:pt x="3555370" y="934062"/>
                  </a:lnTo>
                  <a:lnTo>
                    <a:pt x="3555370" y="940408"/>
                  </a:lnTo>
                  <a:lnTo>
                    <a:pt x="3580766" y="940408"/>
                  </a:lnTo>
                  <a:lnTo>
                    <a:pt x="3580766" y="934062"/>
                  </a:lnTo>
                  <a:close/>
                </a:path>
                <a:path w="3823334" h="1874520">
                  <a:moveTo>
                    <a:pt x="3625217" y="934062"/>
                  </a:moveTo>
                  <a:lnTo>
                    <a:pt x="3599809" y="934062"/>
                  </a:lnTo>
                  <a:lnTo>
                    <a:pt x="3599809" y="940408"/>
                  </a:lnTo>
                  <a:lnTo>
                    <a:pt x="3625217" y="940408"/>
                  </a:lnTo>
                  <a:lnTo>
                    <a:pt x="3625217" y="934062"/>
                  </a:lnTo>
                  <a:close/>
                </a:path>
                <a:path w="3823334" h="1874520">
                  <a:moveTo>
                    <a:pt x="3669676" y="934062"/>
                  </a:moveTo>
                  <a:lnTo>
                    <a:pt x="3644280" y="934062"/>
                  </a:lnTo>
                  <a:lnTo>
                    <a:pt x="3644280" y="940408"/>
                  </a:lnTo>
                  <a:lnTo>
                    <a:pt x="3669676" y="940408"/>
                  </a:lnTo>
                  <a:lnTo>
                    <a:pt x="3669676" y="934062"/>
                  </a:lnTo>
                  <a:close/>
                </a:path>
                <a:path w="3823334" h="1874520">
                  <a:moveTo>
                    <a:pt x="3714116" y="934062"/>
                  </a:moveTo>
                  <a:lnTo>
                    <a:pt x="3688719" y="934062"/>
                  </a:lnTo>
                  <a:lnTo>
                    <a:pt x="3688719" y="940408"/>
                  </a:lnTo>
                  <a:lnTo>
                    <a:pt x="3714116" y="940408"/>
                  </a:lnTo>
                  <a:lnTo>
                    <a:pt x="3714116" y="934062"/>
                  </a:lnTo>
                  <a:close/>
                </a:path>
                <a:path w="3823334" h="1874520">
                  <a:moveTo>
                    <a:pt x="3758567" y="934062"/>
                  </a:moveTo>
                  <a:lnTo>
                    <a:pt x="3733159" y="934062"/>
                  </a:lnTo>
                  <a:lnTo>
                    <a:pt x="3733159" y="940408"/>
                  </a:lnTo>
                  <a:lnTo>
                    <a:pt x="3758567" y="940408"/>
                  </a:lnTo>
                  <a:lnTo>
                    <a:pt x="3758567" y="934062"/>
                  </a:lnTo>
                  <a:close/>
                </a:path>
                <a:path w="3823334" h="1874520">
                  <a:moveTo>
                    <a:pt x="3781653" y="937229"/>
                  </a:moveTo>
                  <a:lnTo>
                    <a:pt x="3781653" y="955432"/>
                  </a:lnTo>
                  <a:lnTo>
                    <a:pt x="3787993" y="955432"/>
                  </a:lnTo>
                  <a:lnTo>
                    <a:pt x="3787993" y="940408"/>
                  </a:lnTo>
                  <a:lnTo>
                    <a:pt x="3784823" y="940408"/>
                  </a:lnTo>
                  <a:lnTo>
                    <a:pt x="3781653" y="937229"/>
                  </a:lnTo>
                  <a:close/>
                </a:path>
                <a:path w="3823334" h="1874520">
                  <a:moveTo>
                    <a:pt x="3787993" y="934062"/>
                  </a:moveTo>
                  <a:lnTo>
                    <a:pt x="3777630" y="934062"/>
                  </a:lnTo>
                  <a:lnTo>
                    <a:pt x="3777630" y="940408"/>
                  </a:lnTo>
                  <a:lnTo>
                    <a:pt x="3781653" y="940408"/>
                  </a:lnTo>
                  <a:lnTo>
                    <a:pt x="3781653" y="937229"/>
                  </a:lnTo>
                  <a:lnTo>
                    <a:pt x="3787993" y="937229"/>
                  </a:lnTo>
                  <a:lnTo>
                    <a:pt x="3787993" y="934062"/>
                  </a:lnTo>
                  <a:close/>
                </a:path>
                <a:path w="3823334" h="1874520">
                  <a:moveTo>
                    <a:pt x="3787993" y="937229"/>
                  </a:moveTo>
                  <a:lnTo>
                    <a:pt x="3781653" y="937229"/>
                  </a:lnTo>
                  <a:lnTo>
                    <a:pt x="3784823" y="940408"/>
                  </a:lnTo>
                  <a:lnTo>
                    <a:pt x="3787993" y="940408"/>
                  </a:lnTo>
                  <a:lnTo>
                    <a:pt x="3787993" y="937229"/>
                  </a:lnTo>
                  <a:close/>
                </a:path>
                <a:path w="3823334" h="1874520">
                  <a:moveTo>
                    <a:pt x="3787999" y="974482"/>
                  </a:moveTo>
                  <a:lnTo>
                    <a:pt x="3781653" y="974482"/>
                  </a:lnTo>
                  <a:lnTo>
                    <a:pt x="3781653" y="999878"/>
                  </a:lnTo>
                  <a:lnTo>
                    <a:pt x="3787999" y="999878"/>
                  </a:lnTo>
                  <a:lnTo>
                    <a:pt x="3787999" y="974482"/>
                  </a:lnTo>
                  <a:close/>
                </a:path>
                <a:path w="3823334" h="1874520">
                  <a:moveTo>
                    <a:pt x="3787999" y="1018931"/>
                  </a:moveTo>
                  <a:lnTo>
                    <a:pt x="3781653" y="1018931"/>
                  </a:lnTo>
                  <a:lnTo>
                    <a:pt x="3781653" y="1044327"/>
                  </a:lnTo>
                  <a:lnTo>
                    <a:pt x="3787999" y="1044327"/>
                  </a:lnTo>
                  <a:lnTo>
                    <a:pt x="3787999" y="1018931"/>
                  </a:lnTo>
                  <a:close/>
                </a:path>
                <a:path w="3823334" h="1874520">
                  <a:moveTo>
                    <a:pt x="3787999" y="1063374"/>
                  </a:moveTo>
                  <a:lnTo>
                    <a:pt x="3781653" y="1063374"/>
                  </a:lnTo>
                  <a:lnTo>
                    <a:pt x="3781653" y="1088782"/>
                  </a:lnTo>
                  <a:lnTo>
                    <a:pt x="3787999" y="1088782"/>
                  </a:lnTo>
                  <a:lnTo>
                    <a:pt x="3787999" y="1063374"/>
                  </a:lnTo>
                  <a:close/>
                </a:path>
                <a:path w="3823334" h="1874520">
                  <a:moveTo>
                    <a:pt x="3787999" y="1107832"/>
                  </a:moveTo>
                  <a:lnTo>
                    <a:pt x="3781653" y="1107832"/>
                  </a:lnTo>
                  <a:lnTo>
                    <a:pt x="3781653" y="1133228"/>
                  </a:lnTo>
                  <a:lnTo>
                    <a:pt x="3787999" y="1133228"/>
                  </a:lnTo>
                  <a:lnTo>
                    <a:pt x="3787999" y="1107832"/>
                  </a:lnTo>
                  <a:close/>
                </a:path>
                <a:path w="3823334" h="1874520">
                  <a:moveTo>
                    <a:pt x="3787999" y="1152281"/>
                  </a:moveTo>
                  <a:lnTo>
                    <a:pt x="3781653" y="1152281"/>
                  </a:lnTo>
                  <a:lnTo>
                    <a:pt x="3781653" y="1177677"/>
                  </a:lnTo>
                  <a:lnTo>
                    <a:pt x="3787999" y="1177677"/>
                  </a:lnTo>
                  <a:lnTo>
                    <a:pt x="3787999" y="1152281"/>
                  </a:lnTo>
                  <a:close/>
                </a:path>
                <a:path w="3823334" h="1874520">
                  <a:moveTo>
                    <a:pt x="3787999" y="1196724"/>
                  </a:moveTo>
                  <a:lnTo>
                    <a:pt x="3781653" y="1196724"/>
                  </a:lnTo>
                  <a:lnTo>
                    <a:pt x="3781653" y="1222132"/>
                  </a:lnTo>
                  <a:lnTo>
                    <a:pt x="3787999" y="1222132"/>
                  </a:lnTo>
                  <a:lnTo>
                    <a:pt x="3787999" y="1196724"/>
                  </a:lnTo>
                  <a:close/>
                </a:path>
                <a:path w="3823334" h="1874520">
                  <a:moveTo>
                    <a:pt x="3787999" y="1241182"/>
                  </a:moveTo>
                  <a:lnTo>
                    <a:pt x="3781653" y="1241182"/>
                  </a:lnTo>
                  <a:lnTo>
                    <a:pt x="3781653" y="1266578"/>
                  </a:lnTo>
                  <a:lnTo>
                    <a:pt x="3787999" y="1266578"/>
                  </a:lnTo>
                  <a:lnTo>
                    <a:pt x="3787999" y="1241182"/>
                  </a:lnTo>
                  <a:close/>
                </a:path>
                <a:path w="3823334" h="1874520">
                  <a:moveTo>
                    <a:pt x="3787999" y="1285631"/>
                  </a:moveTo>
                  <a:lnTo>
                    <a:pt x="3781653" y="1285631"/>
                  </a:lnTo>
                  <a:lnTo>
                    <a:pt x="3781653" y="1311027"/>
                  </a:lnTo>
                  <a:lnTo>
                    <a:pt x="3787999" y="1311027"/>
                  </a:lnTo>
                  <a:lnTo>
                    <a:pt x="3787999" y="1285631"/>
                  </a:lnTo>
                  <a:close/>
                </a:path>
                <a:path w="3823334" h="1874520">
                  <a:moveTo>
                    <a:pt x="3787999" y="1330074"/>
                  </a:moveTo>
                  <a:lnTo>
                    <a:pt x="3781653" y="1330074"/>
                  </a:lnTo>
                  <a:lnTo>
                    <a:pt x="3781653" y="1355482"/>
                  </a:lnTo>
                  <a:lnTo>
                    <a:pt x="3787999" y="1355482"/>
                  </a:lnTo>
                  <a:lnTo>
                    <a:pt x="3787999" y="1330074"/>
                  </a:lnTo>
                  <a:close/>
                </a:path>
                <a:path w="3823334" h="1874520">
                  <a:moveTo>
                    <a:pt x="3787999" y="1374532"/>
                  </a:moveTo>
                  <a:lnTo>
                    <a:pt x="3781653" y="1374532"/>
                  </a:lnTo>
                  <a:lnTo>
                    <a:pt x="3781653" y="1399928"/>
                  </a:lnTo>
                  <a:lnTo>
                    <a:pt x="3787999" y="1399928"/>
                  </a:lnTo>
                  <a:lnTo>
                    <a:pt x="3787999" y="1374532"/>
                  </a:lnTo>
                  <a:close/>
                </a:path>
                <a:path w="3823334" h="1874520">
                  <a:moveTo>
                    <a:pt x="3787999" y="1418981"/>
                  </a:moveTo>
                  <a:lnTo>
                    <a:pt x="3781653" y="1418981"/>
                  </a:lnTo>
                  <a:lnTo>
                    <a:pt x="3781653" y="1444377"/>
                  </a:lnTo>
                  <a:lnTo>
                    <a:pt x="3787999" y="1444377"/>
                  </a:lnTo>
                  <a:lnTo>
                    <a:pt x="3787999" y="1418981"/>
                  </a:lnTo>
                  <a:close/>
                </a:path>
                <a:path w="3823334" h="1874520">
                  <a:moveTo>
                    <a:pt x="3787999" y="1463424"/>
                  </a:moveTo>
                  <a:lnTo>
                    <a:pt x="3781653" y="1463424"/>
                  </a:lnTo>
                  <a:lnTo>
                    <a:pt x="3781653" y="1488832"/>
                  </a:lnTo>
                  <a:lnTo>
                    <a:pt x="3787999" y="1488832"/>
                  </a:lnTo>
                  <a:lnTo>
                    <a:pt x="3787999" y="1463424"/>
                  </a:lnTo>
                  <a:close/>
                </a:path>
                <a:path w="3823334" h="1874520">
                  <a:moveTo>
                    <a:pt x="3787999" y="1507882"/>
                  </a:moveTo>
                  <a:lnTo>
                    <a:pt x="3781653" y="1507882"/>
                  </a:lnTo>
                  <a:lnTo>
                    <a:pt x="3781653" y="1533278"/>
                  </a:lnTo>
                  <a:lnTo>
                    <a:pt x="3787999" y="1533278"/>
                  </a:lnTo>
                  <a:lnTo>
                    <a:pt x="3787999" y="1507882"/>
                  </a:lnTo>
                  <a:close/>
                </a:path>
                <a:path w="3823334" h="1874520">
                  <a:moveTo>
                    <a:pt x="3787999" y="1552331"/>
                  </a:moveTo>
                  <a:lnTo>
                    <a:pt x="3781653" y="1552331"/>
                  </a:lnTo>
                  <a:lnTo>
                    <a:pt x="3781653" y="1577727"/>
                  </a:lnTo>
                  <a:lnTo>
                    <a:pt x="3787999" y="1577727"/>
                  </a:lnTo>
                  <a:lnTo>
                    <a:pt x="3787999" y="1552331"/>
                  </a:lnTo>
                  <a:close/>
                </a:path>
                <a:path w="3823334" h="1874520">
                  <a:moveTo>
                    <a:pt x="3787999" y="1596774"/>
                  </a:moveTo>
                  <a:lnTo>
                    <a:pt x="3781653" y="1596774"/>
                  </a:lnTo>
                  <a:lnTo>
                    <a:pt x="3781653" y="1622182"/>
                  </a:lnTo>
                  <a:lnTo>
                    <a:pt x="3787999" y="1622182"/>
                  </a:lnTo>
                  <a:lnTo>
                    <a:pt x="3787999" y="1596774"/>
                  </a:lnTo>
                  <a:close/>
                </a:path>
                <a:path w="3823334" h="1874520">
                  <a:moveTo>
                    <a:pt x="3787999" y="1641232"/>
                  </a:moveTo>
                  <a:lnTo>
                    <a:pt x="3781653" y="1641232"/>
                  </a:lnTo>
                  <a:lnTo>
                    <a:pt x="3781653" y="1666628"/>
                  </a:lnTo>
                  <a:lnTo>
                    <a:pt x="3787999" y="1666628"/>
                  </a:lnTo>
                  <a:lnTo>
                    <a:pt x="3787999" y="1641232"/>
                  </a:lnTo>
                  <a:close/>
                </a:path>
                <a:path w="3823334" h="1874520">
                  <a:moveTo>
                    <a:pt x="3787999" y="1685681"/>
                  </a:moveTo>
                  <a:lnTo>
                    <a:pt x="3781653" y="1685681"/>
                  </a:lnTo>
                  <a:lnTo>
                    <a:pt x="3781653" y="1711077"/>
                  </a:lnTo>
                  <a:lnTo>
                    <a:pt x="3787999" y="1711077"/>
                  </a:lnTo>
                  <a:lnTo>
                    <a:pt x="3787999" y="1685681"/>
                  </a:lnTo>
                  <a:close/>
                </a:path>
                <a:path w="3823334" h="1874520">
                  <a:moveTo>
                    <a:pt x="3787999" y="1730124"/>
                  </a:moveTo>
                  <a:lnTo>
                    <a:pt x="3781653" y="1730124"/>
                  </a:lnTo>
                  <a:lnTo>
                    <a:pt x="3781653" y="1755532"/>
                  </a:lnTo>
                  <a:lnTo>
                    <a:pt x="3787999" y="1755532"/>
                  </a:lnTo>
                  <a:lnTo>
                    <a:pt x="3787999" y="1730124"/>
                  </a:lnTo>
                  <a:close/>
                </a:path>
                <a:path w="3823334" h="1874520">
                  <a:moveTo>
                    <a:pt x="3781653" y="1798265"/>
                  </a:moveTo>
                  <a:lnTo>
                    <a:pt x="3746723" y="1798265"/>
                  </a:lnTo>
                  <a:lnTo>
                    <a:pt x="3784823" y="1874465"/>
                  </a:lnTo>
                  <a:lnTo>
                    <a:pt x="3822066" y="1799978"/>
                  </a:lnTo>
                  <a:lnTo>
                    <a:pt x="3781653" y="1799978"/>
                  </a:lnTo>
                  <a:lnTo>
                    <a:pt x="3781653" y="1798265"/>
                  </a:lnTo>
                  <a:close/>
                </a:path>
                <a:path w="3823334" h="1874520">
                  <a:moveTo>
                    <a:pt x="3787999" y="1774582"/>
                  </a:moveTo>
                  <a:lnTo>
                    <a:pt x="3781653" y="1774582"/>
                  </a:lnTo>
                  <a:lnTo>
                    <a:pt x="3781653" y="1799978"/>
                  </a:lnTo>
                  <a:lnTo>
                    <a:pt x="3787999" y="1799978"/>
                  </a:lnTo>
                  <a:lnTo>
                    <a:pt x="3787999" y="1774582"/>
                  </a:lnTo>
                  <a:close/>
                </a:path>
                <a:path w="3823334" h="1874520">
                  <a:moveTo>
                    <a:pt x="3822923" y="1798265"/>
                  </a:moveTo>
                  <a:lnTo>
                    <a:pt x="3787999" y="1798265"/>
                  </a:lnTo>
                  <a:lnTo>
                    <a:pt x="3787999" y="1799978"/>
                  </a:lnTo>
                  <a:lnTo>
                    <a:pt x="3822066" y="1799978"/>
                  </a:lnTo>
                  <a:lnTo>
                    <a:pt x="3822923" y="1798265"/>
                  </a:lnTo>
                  <a:close/>
                </a:path>
              </a:pathLst>
            </a:custGeom>
            <a:solidFill>
              <a:srgbClr val="44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56878D28-F29A-E18A-04E2-4F7318E020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1525" y="5170488"/>
              <a:ext cx="736600" cy="736600"/>
            </a:xfrm>
            <a:prstGeom prst="rect">
              <a:avLst/>
            </a:prstGeom>
            <a:blipFill dpi="0" rotWithShape="1">
              <a:blip r:embed="rId4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55FA8DEA-72F3-AD15-3E6E-4E241F85FD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80275" y="5170488"/>
              <a:ext cx="736600" cy="736600"/>
            </a:xfrm>
            <a:prstGeom prst="rect">
              <a:avLst/>
            </a:prstGeom>
            <a:blipFill dpi="0" rotWithShape="1">
              <a:blip r:embed="rId4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7AEA2369-CC79-FE2F-6FB7-34F9E81221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4700" y="5170488"/>
              <a:ext cx="736600" cy="736600"/>
            </a:xfrm>
            <a:prstGeom prst="rect">
              <a:avLst/>
            </a:prstGeom>
            <a:blipFill dpi="0" rotWithShape="1">
              <a:blip r:embed="rId4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E5691505-9D9A-3FBF-6788-0A38FCE440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9125" y="5170488"/>
              <a:ext cx="736600" cy="736600"/>
            </a:xfrm>
            <a:prstGeom prst="rect">
              <a:avLst/>
            </a:prstGeom>
            <a:blipFill dpi="0" rotWithShape="1">
              <a:blip r:embed="rId4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5160BC30-B972-2A67-693A-FBC23A1445B3}"/>
                </a:ext>
              </a:extLst>
            </p:cNvPr>
            <p:cNvSpPr>
              <a:spLocks/>
            </p:cNvSpPr>
            <p:nvPr/>
          </p:nvSpPr>
          <p:spPr bwMode="auto">
            <a:xfrm>
              <a:off x="7164388" y="5124450"/>
              <a:ext cx="3179762" cy="835025"/>
            </a:xfrm>
            <a:custGeom>
              <a:avLst/>
              <a:gdLst>
                <a:gd name="T0" fmla="*/ 0 w 3179445"/>
                <a:gd name="T1" fmla="*/ 834795 h 835025"/>
                <a:gd name="T2" fmla="*/ 3179124 w 3179445"/>
                <a:gd name="T3" fmla="*/ 834795 h 835025"/>
                <a:gd name="T4" fmla="*/ 3179124 w 3179445"/>
                <a:gd name="T5" fmla="*/ 0 h 835025"/>
                <a:gd name="T6" fmla="*/ 0 w 3179445"/>
                <a:gd name="T7" fmla="*/ 0 h 835025"/>
                <a:gd name="T8" fmla="*/ 0 w 3179445"/>
                <a:gd name="T9" fmla="*/ 834795 h 8350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79445" h="835025">
                  <a:moveTo>
                    <a:pt x="0" y="834795"/>
                  </a:moveTo>
                  <a:lnTo>
                    <a:pt x="3179124" y="834795"/>
                  </a:lnTo>
                  <a:lnTo>
                    <a:pt x="3179124" y="0"/>
                  </a:lnTo>
                  <a:lnTo>
                    <a:pt x="0" y="0"/>
                  </a:lnTo>
                  <a:lnTo>
                    <a:pt x="0" y="834795"/>
                  </a:lnTo>
                  <a:close/>
                </a:path>
              </a:pathLst>
            </a:custGeom>
            <a:noFill/>
            <a:ln w="12700">
              <a:solidFill>
                <a:srgbClr val="444949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91E2DF32-28B5-9DAB-10D3-AFB895152534}"/>
                </a:ext>
              </a:extLst>
            </p:cNvPr>
            <p:cNvSpPr txBox="1"/>
            <p:nvPr/>
          </p:nvSpPr>
          <p:spPr>
            <a:xfrm>
              <a:off x="2187575" y="5392738"/>
              <a:ext cx="444500" cy="279400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sz="1000" b="1" spc="-5" dirty="0">
                  <a:solidFill>
                    <a:srgbClr val="444949"/>
                  </a:solidFill>
                  <a:latin typeface="Calibri"/>
                  <a:cs typeface="Calibri"/>
                </a:rPr>
                <a:t>EC2</a:t>
              </a:r>
              <a:endParaRPr sz="1000">
                <a:latin typeface="Calibri"/>
                <a:cs typeface="Calibri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sz="1000" b="1" spc="-10" dirty="0">
                  <a:solidFill>
                    <a:srgbClr val="444949"/>
                  </a:solidFill>
                  <a:latin typeface="Calibri"/>
                  <a:cs typeface="Calibri"/>
                </a:rPr>
                <a:t>I</a:t>
              </a:r>
              <a:r>
                <a:rPr sz="1000" b="1" spc="-5" dirty="0">
                  <a:solidFill>
                    <a:srgbClr val="444949"/>
                  </a:solidFill>
                  <a:latin typeface="Calibri"/>
                  <a:cs typeface="Calibri"/>
                </a:rPr>
                <a:t>nst</a:t>
              </a:r>
              <a:r>
                <a:rPr sz="1000" b="1" spc="-15" dirty="0">
                  <a:solidFill>
                    <a:srgbClr val="444949"/>
                  </a:solidFill>
                  <a:latin typeface="Calibri"/>
                  <a:cs typeface="Calibri"/>
                </a:rPr>
                <a:t>a</a:t>
              </a:r>
              <a:r>
                <a:rPr sz="1000" b="1" spc="-10" dirty="0">
                  <a:solidFill>
                    <a:srgbClr val="444949"/>
                  </a:solidFill>
                  <a:latin typeface="Calibri"/>
                  <a:cs typeface="Calibri"/>
                </a:rPr>
                <a:t>nc</a:t>
              </a:r>
              <a:r>
                <a:rPr sz="1000" b="1" dirty="0">
                  <a:solidFill>
                    <a:srgbClr val="444949"/>
                  </a:solidFill>
                  <a:latin typeface="Calibri"/>
                  <a:cs typeface="Calibri"/>
                </a:rPr>
                <a:t>e</a:t>
              </a:r>
              <a:endParaRPr sz="1000">
                <a:latin typeface="Calibri"/>
                <a:cs typeface="Calibri"/>
              </a:endParaRPr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22A2D1A8-F458-E121-1002-144F15225E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9438" y="5175250"/>
              <a:ext cx="736600" cy="736600"/>
            </a:xfrm>
            <a:prstGeom prst="rect">
              <a:avLst/>
            </a:prstGeom>
            <a:blipFill dpi="0" rotWithShape="1">
              <a:blip r:embed="rId4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45002FDD-82B6-AE46-C3BF-3FE5B81179F7}"/>
                </a:ext>
              </a:extLst>
            </p:cNvPr>
            <p:cNvSpPr txBox="1"/>
            <p:nvPr/>
          </p:nvSpPr>
          <p:spPr>
            <a:xfrm>
              <a:off x="3265488" y="5395913"/>
              <a:ext cx="444500" cy="279400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sz="1000" b="1" spc="-5" dirty="0">
                  <a:solidFill>
                    <a:srgbClr val="444949"/>
                  </a:solidFill>
                  <a:latin typeface="Calibri"/>
                  <a:cs typeface="Calibri"/>
                </a:rPr>
                <a:t>EC2</a:t>
              </a:r>
              <a:endParaRPr sz="1000">
                <a:latin typeface="Calibri"/>
                <a:cs typeface="Calibri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sz="1000" b="1" spc="-10" dirty="0">
                  <a:solidFill>
                    <a:srgbClr val="444949"/>
                  </a:solidFill>
                  <a:latin typeface="Calibri"/>
                  <a:cs typeface="Calibri"/>
                </a:rPr>
                <a:t>I</a:t>
              </a:r>
              <a:r>
                <a:rPr sz="1000" b="1" spc="-5" dirty="0">
                  <a:solidFill>
                    <a:srgbClr val="444949"/>
                  </a:solidFill>
                  <a:latin typeface="Calibri"/>
                  <a:cs typeface="Calibri"/>
                </a:rPr>
                <a:t>nst</a:t>
              </a:r>
              <a:r>
                <a:rPr sz="1000" b="1" spc="-15" dirty="0">
                  <a:solidFill>
                    <a:srgbClr val="444949"/>
                  </a:solidFill>
                  <a:latin typeface="Calibri"/>
                  <a:cs typeface="Calibri"/>
                </a:rPr>
                <a:t>a</a:t>
              </a:r>
              <a:r>
                <a:rPr sz="1000" b="1" spc="-10" dirty="0">
                  <a:solidFill>
                    <a:srgbClr val="444949"/>
                  </a:solidFill>
                  <a:latin typeface="Calibri"/>
                  <a:cs typeface="Calibri"/>
                </a:rPr>
                <a:t>nc</a:t>
              </a:r>
              <a:r>
                <a:rPr sz="1000" b="1" dirty="0">
                  <a:solidFill>
                    <a:srgbClr val="444949"/>
                  </a:solidFill>
                  <a:latin typeface="Calibri"/>
                  <a:cs typeface="Calibri"/>
                </a:rPr>
                <a:t>e</a:t>
              </a:r>
              <a:endParaRPr sz="1000">
                <a:latin typeface="Calibri"/>
                <a:cs typeface="Calibri"/>
              </a:endParaRPr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3B0EA536-5FBC-BB6F-4EE7-06A47C6062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3863" y="5178425"/>
              <a:ext cx="736600" cy="736600"/>
            </a:xfrm>
            <a:prstGeom prst="rect">
              <a:avLst/>
            </a:prstGeom>
            <a:blipFill dpi="0" rotWithShape="1">
              <a:blip r:embed="rId4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23130C07-8483-9DA8-B5ED-B7B1487172B2}"/>
                </a:ext>
              </a:extLst>
            </p:cNvPr>
            <p:cNvSpPr txBox="1"/>
            <p:nvPr/>
          </p:nvSpPr>
          <p:spPr>
            <a:xfrm>
              <a:off x="4379913" y="5402263"/>
              <a:ext cx="444500" cy="279400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sz="1000" b="1" spc="-5" dirty="0">
                  <a:solidFill>
                    <a:srgbClr val="444949"/>
                  </a:solidFill>
                  <a:latin typeface="Calibri"/>
                  <a:cs typeface="Calibri"/>
                </a:rPr>
                <a:t>EC2</a:t>
              </a:r>
              <a:endParaRPr sz="1000">
                <a:latin typeface="Calibri"/>
                <a:cs typeface="Calibri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sz="1000" b="1" spc="-10" dirty="0">
                  <a:solidFill>
                    <a:srgbClr val="444949"/>
                  </a:solidFill>
                  <a:latin typeface="Calibri"/>
                  <a:cs typeface="Calibri"/>
                </a:rPr>
                <a:t>I</a:t>
              </a:r>
              <a:r>
                <a:rPr sz="1000" b="1" spc="-5" dirty="0">
                  <a:solidFill>
                    <a:srgbClr val="444949"/>
                  </a:solidFill>
                  <a:latin typeface="Calibri"/>
                  <a:cs typeface="Calibri"/>
                </a:rPr>
                <a:t>nst</a:t>
              </a:r>
              <a:r>
                <a:rPr sz="1000" b="1" spc="-15" dirty="0">
                  <a:solidFill>
                    <a:srgbClr val="444949"/>
                  </a:solidFill>
                  <a:latin typeface="Calibri"/>
                  <a:cs typeface="Calibri"/>
                </a:rPr>
                <a:t>a</a:t>
              </a:r>
              <a:r>
                <a:rPr sz="1000" b="1" spc="-10" dirty="0">
                  <a:solidFill>
                    <a:srgbClr val="444949"/>
                  </a:solidFill>
                  <a:latin typeface="Calibri"/>
                  <a:cs typeface="Calibri"/>
                </a:rPr>
                <a:t>nc</a:t>
              </a:r>
              <a:r>
                <a:rPr sz="1000" b="1" dirty="0">
                  <a:solidFill>
                    <a:srgbClr val="444949"/>
                  </a:solidFill>
                  <a:latin typeface="Calibri"/>
                  <a:cs typeface="Calibri"/>
                </a:rPr>
                <a:t>e</a:t>
              </a:r>
              <a:endParaRPr sz="1000">
                <a:latin typeface="Calibri"/>
                <a:cs typeface="Calibri"/>
              </a:endParaRPr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F64CB9A7-3486-65E1-8FD2-1A0DDBD21C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6700" y="5170488"/>
              <a:ext cx="736600" cy="736600"/>
            </a:xfrm>
            <a:prstGeom prst="rect">
              <a:avLst/>
            </a:prstGeom>
            <a:blipFill dpi="0" rotWithShape="1">
              <a:blip r:embed="rId4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F02E9855-1241-6889-FB1F-84490076899D}"/>
                </a:ext>
              </a:extLst>
            </p:cNvPr>
            <p:cNvSpPr txBox="1"/>
            <p:nvPr/>
          </p:nvSpPr>
          <p:spPr>
            <a:xfrm>
              <a:off x="5494338" y="5392738"/>
              <a:ext cx="442912" cy="279400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sz="1000" b="1" spc="-5" dirty="0">
                  <a:solidFill>
                    <a:srgbClr val="444949"/>
                  </a:solidFill>
                  <a:latin typeface="Calibri"/>
                  <a:cs typeface="Calibri"/>
                </a:rPr>
                <a:t>EC2</a:t>
              </a:r>
              <a:endParaRPr sz="1000">
                <a:latin typeface="Calibri"/>
                <a:cs typeface="Calibri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sz="1000" b="1" spc="-10" dirty="0">
                  <a:solidFill>
                    <a:srgbClr val="444949"/>
                  </a:solidFill>
                  <a:latin typeface="Calibri"/>
                  <a:cs typeface="Calibri"/>
                </a:rPr>
                <a:t>I</a:t>
              </a:r>
              <a:r>
                <a:rPr sz="1000" b="1" spc="-5" dirty="0">
                  <a:solidFill>
                    <a:srgbClr val="444949"/>
                  </a:solidFill>
                  <a:latin typeface="Calibri"/>
                  <a:cs typeface="Calibri"/>
                </a:rPr>
                <a:t>nst</a:t>
              </a:r>
              <a:r>
                <a:rPr sz="1000" b="1" spc="-15" dirty="0">
                  <a:solidFill>
                    <a:srgbClr val="444949"/>
                  </a:solidFill>
                  <a:latin typeface="Calibri"/>
                  <a:cs typeface="Calibri"/>
                </a:rPr>
                <a:t>a</a:t>
              </a:r>
              <a:r>
                <a:rPr sz="1000" b="1" spc="-10" dirty="0">
                  <a:solidFill>
                    <a:srgbClr val="444949"/>
                  </a:solidFill>
                  <a:latin typeface="Calibri"/>
                  <a:cs typeface="Calibri"/>
                </a:rPr>
                <a:t>nc</a:t>
              </a:r>
              <a:r>
                <a:rPr sz="1000" b="1" dirty="0">
                  <a:solidFill>
                    <a:srgbClr val="444949"/>
                  </a:solidFill>
                  <a:latin typeface="Calibri"/>
                  <a:cs typeface="Calibri"/>
                </a:rPr>
                <a:t>e</a:t>
              </a:r>
              <a:endParaRPr sz="1000">
                <a:latin typeface="Calibri"/>
                <a:cs typeface="Calibri"/>
              </a:endParaRPr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CBA990DD-0E82-96BC-AE5A-D27C9017B17C}"/>
                </a:ext>
              </a:extLst>
            </p:cNvPr>
            <p:cNvSpPr txBox="1"/>
            <p:nvPr/>
          </p:nvSpPr>
          <p:spPr>
            <a:xfrm>
              <a:off x="7426325" y="5408613"/>
              <a:ext cx="444500" cy="279400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sz="1000" b="1" spc="-5" dirty="0">
                  <a:solidFill>
                    <a:srgbClr val="444949"/>
                  </a:solidFill>
                  <a:latin typeface="Calibri"/>
                  <a:cs typeface="Calibri"/>
                </a:rPr>
                <a:t>EC2</a:t>
              </a:r>
              <a:endParaRPr sz="1000">
                <a:latin typeface="Calibri"/>
                <a:cs typeface="Calibri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sz="1000" b="1" spc="-10" dirty="0">
                  <a:solidFill>
                    <a:srgbClr val="444949"/>
                  </a:solidFill>
                  <a:latin typeface="Calibri"/>
                  <a:cs typeface="Calibri"/>
                </a:rPr>
                <a:t>I</a:t>
              </a:r>
              <a:r>
                <a:rPr sz="1000" b="1" spc="-5" dirty="0">
                  <a:solidFill>
                    <a:srgbClr val="444949"/>
                  </a:solidFill>
                  <a:latin typeface="Calibri"/>
                  <a:cs typeface="Calibri"/>
                </a:rPr>
                <a:t>nst</a:t>
              </a:r>
              <a:r>
                <a:rPr sz="1000" b="1" spc="-15" dirty="0">
                  <a:solidFill>
                    <a:srgbClr val="444949"/>
                  </a:solidFill>
                  <a:latin typeface="Calibri"/>
                  <a:cs typeface="Calibri"/>
                </a:rPr>
                <a:t>a</a:t>
              </a:r>
              <a:r>
                <a:rPr sz="1000" b="1" spc="-10" dirty="0">
                  <a:solidFill>
                    <a:srgbClr val="444949"/>
                  </a:solidFill>
                  <a:latin typeface="Calibri"/>
                  <a:cs typeface="Calibri"/>
                </a:rPr>
                <a:t>nc</a:t>
              </a:r>
              <a:r>
                <a:rPr sz="1000" b="1" dirty="0">
                  <a:solidFill>
                    <a:srgbClr val="444949"/>
                  </a:solidFill>
                  <a:latin typeface="Calibri"/>
                  <a:cs typeface="Calibri"/>
                </a:rPr>
                <a:t>e</a:t>
              </a:r>
              <a:endParaRPr sz="1000">
                <a:latin typeface="Calibri"/>
                <a:cs typeface="Calibri"/>
              </a:endParaRPr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4895E6C2-8151-8A32-2764-83086B2F1709}"/>
                </a:ext>
              </a:extLst>
            </p:cNvPr>
            <p:cNvSpPr txBox="1"/>
            <p:nvPr/>
          </p:nvSpPr>
          <p:spPr>
            <a:xfrm>
              <a:off x="8542338" y="5411788"/>
              <a:ext cx="442912" cy="279400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sz="1000" b="1" spc="-5" dirty="0">
                  <a:solidFill>
                    <a:srgbClr val="444949"/>
                  </a:solidFill>
                  <a:latin typeface="Calibri"/>
                  <a:cs typeface="Calibri"/>
                </a:rPr>
                <a:t>EC2</a:t>
              </a:r>
              <a:endParaRPr sz="1000">
                <a:latin typeface="Calibri"/>
                <a:cs typeface="Calibri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sz="1000" b="1" spc="-10" dirty="0">
                  <a:solidFill>
                    <a:srgbClr val="444949"/>
                  </a:solidFill>
                  <a:latin typeface="Calibri"/>
                  <a:cs typeface="Calibri"/>
                </a:rPr>
                <a:t>I</a:t>
              </a:r>
              <a:r>
                <a:rPr sz="1000" b="1" spc="-5" dirty="0">
                  <a:solidFill>
                    <a:srgbClr val="444949"/>
                  </a:solidFill>
                  <a:latin typeface="Calibri"/>
                  <a:cs typeface="Calibri"/>
                </a:rPr>
                <a:t>nst</a:t>
              </a:r>
              <a:r>
                <a:rPr sz="1000" b="1" spc="-15" dirty="0">
                  <a:solidFill>
                    <a:srgbClr val="444949"/>
                  </a:solidFill>
                  <a:latin typeface="Calibri"/>
                  <a:cs typeface="Calibri"/>
                </a:rPr>
                <a:t>a</a:t>
              </a:r>
              <a:r>
                <a:rPr sz="1000" b="1" spc="-10" dirty="0">
                  <a:solidFill>
                    <a:srgbClr val="444949"/>
                  </a:solidFill>
                  <a:latin typeface="Calibri"/>
                  <a:cs typeface="Calibri"/>
                </a:rPr>
                <a:t>nc</a:t>
              </a:r>
              <a:r>
                <a:rPr sz="1000" b="1" dirty="0">
                  <a:solidFill>
                    <a:srgbClr val="444949"/>
                  </a:solidFill>
                  <a:latin typeface="Calibri"/>
                  <a:cs typeface="Calibri"/>
                </a:rPr>
                <a:t>e</a:t>
              </a:r>
              <a:endParaRPr sz="1000">
                <a:latin typeface="Calibri"/>
                <a:cs typeface="Calibri"/>
              </a:endParaRPr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229B4BA0-172B-91FD-EADE-A8CBB0E2146F}"/>
                </a:ext>
              </a:extLst>
            </p:cNvPr>
            <p:cNvSpPr txBox="1"/>
            <p:nvPr/>
          </p:nvSpPr>
          <p:spPr>
            <a:xfrm>
              <a:off x="9659938" y="5414963"/>
              <a:ext cx="444500" cy="279400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sz="1000" b="1" spc="-5" dirty="0">
                  <a:solidFill>
                    <a:srgbClr val="444949"/>
                  </a:solidFill>
                  <a:latin typeface="Calibri"/>
                  <a:cs typeface="Calibri"/>
                </a:rPr>
                <a:t>EC2</a:t>
              </a:r>
              <a:endParaRPr sz="1000">
                <a:latin typeface="Calibri"/>
                <a:cs typeface="Calibri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sz="1000" b="1" spc="-10" dirty="0">
                  <a:solidFill>
                    <a:srgbClr val="444949"/>
                  </a:solidFill>
                  <a:latin typeface="Calibri"/>
                  <a:cs typeface="Calibri"/>
                </a:rPr>
                <a:t>I</a:t>
              </a:r>
              <a:r>
                <a:rPr sz="1000" b="1" spc="-5" dirty="0">
                  <a:solidFill>
                    <a:srgbClr val="444949"/>
                  </a:solidFill>
                  <a:latin typeface="Calibri"/>
                  <a:cs typeface="Calibri"/>
                </a:rPr>
                <a:t>nst</a:t>
              </a:r>
              <a:r>
                <a:rPr sz="1000" b="1" spc="-15" dirty="0">
                  <a:solidFill>
                    <a:srgbClr val="444949"/>
                  </a:solidFill>
                  <a:latin typeface="Calibri"/>
                  <a:cs typeface="Calibri"/>
                </a:rPr>
                <a:t>a</a:t>
              </a:r>
              <a:r>
                <a:rPr sz="1000" b="1" spc="-10" dirty="0">
                  <a:solidFill>
                    <a:srgbClr val="444949"/>
                  </a:solidFill>
                  <a:latin typeface="Calibri"/>
                  <a:cs typeface="Calibri"/>
                </a:rPr>
                <a:t>nc</a:t>
              </a:r>
              <a:r>
                <a:rPr sz="1000" b="1" dirty="0">
                  <a:solidFill>
                    <a:srgbClr val="444949"/>
                  </a:solidFill>
                  <a:latin typeface="Calibri"/>
                  <a:cs typeface="Calibri"/>
                </a:rPr>
                <a:t>e</a:t>
              </a:r>
              <a:endParaRPr sz="1000">
                <a:latin typeface="Calibri"/>
                <a:cs typeface="Calibri"/>
              </a:endParaRPr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590ABC76-E287-87C2-2792-CAE58E0932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4488" y="4371975"/>
              <a:ext cx="9131300" cy="1677988"/>
            </a:xfrm>
            <a:custGeom>
              <a:avLst/>
              <a:gdLst>
                <a:gd name="T0" fmla="*/ 0 w 9131935"/>
                <a:gd name="T1" fmla="*/ 1678722 h 1678939"/>
                <a:gd name="T2" fmla="*/ 9131594 w 9131935"/>
                <a:gd name="T3" fmla="*/ 1678722 h 1678939"/>
                <a:gd name="T4" fmla="*/ 9131594 w 9131935"/>
                <a:gd name="T5" fmla="*/ 0 h 1678939"/>
                <a:gd name="T6" fmla="*/ 0 w 9131935"/>
                <a:gd name="T7" fmla="*/ 0 h 1678939"/>
                <a:gd name="T8" fmla="*/ 0 w 9131935"/>
                <a:gd name="T9" fmla="*/ 1678722 h 1678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31935" h="1678939">
                  <a:moveTo>
                    <a:pt x="0" y="1678722"/>
                  </a:moveTo>
                  <a:lnTo>
                    <a:pt x="9131594" y="1678722"/>
                  </a:lnTo>
                  <a:lnTo>
                    <a:pt x="9131594" y="0"/>
                  </a:lnTo>
                  <a:lnTo>
                    <a:pt x="0" y="0"/>
                  </a:lnTo>
                  <a:lnTo>
                    <a:pt x="0" y="1678722"/>
                  </a:lnTo>
                  <a:close/>
                </a:path>
              </a:pathLst>
            </a:custGeom>
            <a:noFill/>
            <a:ln w="12700">
              <a:solidFill>
                <a:srgbClr val="D86613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60B961AA-25C3-04C8-EFC2-8FF78389BEF5}"/>
                </a:ext>
              </a:extLst>
            </p:cNvPr>
            <p:cNvSpPr txBox="1"/>
            <p:nvPr/>
          </p:nvSpPr>
          <p:spPr>
            <a:xfrm>
              <a:off x="5411788" y="4914900"/>
              <a:ext cx="1538287" cy="177800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fontAlgn="auto">
                <a:lnSpc>
                  <a:spcPts val="1664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sz="1400" spc="-10" dirty="0">
                  <a:solidFill>
                    <a:srgbClr val="D86613"/>
                  </a:solidFill>
                  <a:latin typeface="Arial"/>
                  <a:cs typeface="Arial"/>
                </a:rPr>
                <a:t>A</a:t>
              </a:r>
              <a:r>
                <a:rPr sz="1400" spc="-5" dirty="0">
                  <a:solidFill>
                    <a:srgbClr val="D86613"/>
                  </a:solidFill>
                  <a:latin typeface="Arial"/>
                  <a:cs typeface="Arial"/>
                </a:rPr>
                <a:t>u</a:t>
              </a:r>
              <a:r>
                <a:rPr sz="1400" spc="-10" dirty="0">
                  <a:solidFill>
                    <a:srgbClr val="D86613"/>
                  </a:solidFill>
                  <a:latin typeface="Arial"/>
                  <a:cs typeface="Arial"/>
                </a:rPr>
                <a:t>t</a:t>
              </a:r>
              <a:r>
                <a:rPr sz="1400" dirty="0">
                  <a:solidFill>
                    <a:srgbClr val="D86613"/>
                  </a:solidFill>
                  <a:latin typeface="Arial"/>
                  <a:cs typeface="Arial"/>
                </a:rPr>
                <a:t>o</a:t>
              </a:r>
              <a:r>
                <a:rPr sz="1400" spc="30" dirty="0">
                  <a:solidFill>
                    <a:srgbClr val="D86613"/>
                  </a:solidFill>
                  <a:latin typeface="Times New Roman"/>
                  <a:cs typeface="Times New Roman"/>
                </a:rPr>
                <a:t> </a:t>
              </a:r>
              <a:r>
                <a:rPr sz="1400" spc="-10" dirty="0">
                  <a:solidFill>
                    <a:srgbClr val="D86613"/>
                  </a:solidFill>
                  <a:latin typeface="Arial"/>
                  <a:cs typeface="Arial"/>
                </a:rPr>
                <a:t>S</a:t>
              </a:r>
              <a:r>
                <a:rPr sz="1400" dirty="0">
                  <a:solidFill>
                    <a:srgbClr val="D86613"/>
                  </a:solidFill>
                  <a:latin typeface="Arial"/>
                  <a:cs typeface="Arial"/>
                </a:rPr>
                <a:t>c</a:t>
              </a:r>
              <a:r>
                <a:rPr sz="1400" spc="-5" dirty="0">
                  <a:solidFill>
                    <a:srgbClr val="D86613"/>
                  </a:solidFill>
                  <a:latin typeface="Arial"/>
                  <a:cs typeface="Arial"/>
                </a:rPr>
                <a:t>a</a:t>
              </a:r>
              <a:r>
                <a:rPr sz="1400" dirty="0">
                  <a:solidFill>
                    <a:srgbClr val="D86613"/>
                  </a:solidFill>
                  <a:latin typeface="Arial"/>
                  <a:cs typeface="Arial"/>
                </a:rPr>
                <a:t>li</a:t>
              </a:r>
              <a:r>
                <a:rPr sz="1400" spc="-5" dirty="0">
                  <a:solidFill>
                    <a:srgbClr val="D86613"/>
                  </a:solidFill>
                  <a:latin typeface="Arial"/>
                  <a:cs typeface="Arial"/>
                </a:rPr>
                <a:t>n</a:t>
              </a:r>
              <a:r>
                <a:rPr sz="1400" dirty="0">
                  <a:solidFill>
                    <a:srgbClr val="D86613"/>
                  </a:solidFill>
                  <a:latin typeface="Arial"/>
                  <a:cs typeface="Arial"/>
                </a:rPr>
                <a:t>g</a:t>
              </a:r>
              <a:r>
                <a:rPr sz="1400" spc="30" dirty="0">
                  <a:solidFill>
                    <a:srgbClr val="D86613"/>
                  </a:solidFill>
                  <a:latin typeface="Times New Roman"/>
                  <a:cs typeface="Times New Roman"/>
                </a:rPr>
                <a:t> </a:t>
              </a:r>
              <a:r>
                <a:rPr sz="1400" spc="-20" dirty="0">
                  <a:solidFill>
                    <a:srgbClr val="D86613"/>
                  </a:solidFill>
                  <a:latin typeface="Arial"/>
                  <a:cs typeface="Arial"/>
                </a:rPr>
                <a:t>G</a:t>
              </a:r>
              <a:r>
                <a:rPr sz="1400" spc="-5" dirty="0">
                  <a:solidFill>
                    <a:srgbClr val="D86613"/>
                  </a:solidFill>
                  <a:latin typeface="Arial"/>
                  <a:cs typeface="Arial"/>
                </a:rPr>
                <a:t>rou</a:t>
              </a:r>
              <a:r>
                <a:rPr sz="1400" dirty="0">
                  <a:solidFill>
                    <a:srgbClr val="D86613"/>
                  </a:solidFill>
                  <a:latin typeface="Arial"/>
                  <a:cs typeface="Arial"/>
                </a:rPr>
                <a:t>p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A26B690C-67E5-EC0E-4E13-4D96E840C8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19788" y="4370388"/>
              <a:ext cx="461962" cy="463550"/>
            </a:xfrm>
            <a:prstGeom prst="rect">
              <a:avLst/>
            </a:prstGeom>
            <a:blipFill dpi="0" rotWithShape="1">
              <a:blip r:embed="rId5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6885974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9A84A-1F87-A343-CF09-12002410F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 Scaling Group Attributes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6CE563-63AB-FAC5-0A3F-2D61ADDCB4F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 Launch Template (older “Launch Configurations” are deprecated)</a:t>
            </a:r>
          </a:p>
          <a:p>
            <a:r>
              <a:rPr lang="en-US" dirty="0"/>
              <a:t>AMI + Instance Type</a:t>
            </a:r>
          </a:p>
          <a:p>
            <a:r>
              <a:rPr lang="en-US" dirty="0"/>
              <a:t>EC2 User Data</a:t>
            </a:r>
          </a:p>
          <a:p>
            <a:r>
              <a:rPr lang="en-US" dirty="0"/>
              <a:t>EBS Volumes</a:t>
            </a:r>
          </a:p>
          <a:p>
            <a:r>
              <a:rPr lang="en-US" dirty="0"/>
              <a:t>Security Groups</a:t>
            </a:r>
          </a:p>
          <a:p>
            <a:r>
              <a:rPr lang="en-US" dirty="0"/>
              <a:t>SSH Key Pair</a:t>
            </a:r>
          </a:p>
          <a:p>
            <a:r>
              <a:rPr lang="en-US" dirty="0"/>
              <a:t>IAM Roles for your EC2 Instances</a:t>
            </a:r>
          </a:p>
          <a:p>
            <a:r>
              <a:rPr lang="en-US" dirty="0"/>
              <a:t>Network + Subnets Information</a:t>
            </a:r>
          </a:p>
          <a:p>
            <a:r>
              <a:rPr lang="en-US" dirty="0"/>
              <a:t>Load Balancer Information</a:t>
            </a:r>
          </a:p>
          <a:p>
            <a:r>
              <a:rPr lang="en-US" dirty="0"/>
              <a:t>Min Size / Max Size / Initial Capacity</a:t>
            </a:r>
          </a:p>
          <a:p>
            <a:r>
              <a:rPr lang="en-US" dirty="0"/>
              <a:t>Scaling Policies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54977C-E7CD-D39F-0618-07DFF16DF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859" y="1911818"/>
            <a:ext cx="3731075" cy="414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12514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D7E29-B7F6-3147-1A87-B2447BF35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48C32-F012-D83E-AAAF-8052508B11F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8E2B43-522C-4EE5-B35C-49BDC542C4C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64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Graduate Associates - SDC India - Framework Refresh v1.0</Template>
  <TotalTime>12776</TotalTime>
  <Words>3089</Words>
  <Application>Microsoft Office PowerPoint</Application>
  <PresentationFormat>Widescreen</PresentationFormat>
  <Paragraphs>464</Paragraphs>
  <Slides>58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59" baseType="lpstr">
      <vt:lpstr>Office Theme</vt:lpstr>
      <vt:lpstr>PowerPoint Presentation</vt:lpstr>
      <vt:lpstr>Table of Contents</vt:lpstr>
      <vt:lpstr>What’s AWS?</vt:lpstr>
      <vt:lpstr>AWS Cloud History</vt:lpstr>
      <vt:lpstr>AWS Cloud Use Cases</vt:lpstr>
      <vt:lpstr>AWS Global Infrastructure</vt:lpstr>
      <vt:lpstr>AWS Regions</vt:lpstr>
      <vt:lpstr>How to choose an AWS Region?</vt:lpstr>
      <vt:lpstr>AWS Availability Zones</vt:lpstr>
      <vt:lpstr>PowerPoint Presentation</vt:lpstr>
      <vt:lpstr>IAM: Users &amp; Groups</vt:lpstr>
      <vt:lpstr>IAM: Permissions</vt:lpstr>
      <vt:lpstr>IAM – Password Policy</vt:lpstr>
      <vt:lpstr>Multi Factor Authentication - MFA</vt:lpstr>
      <vt:lpstr>MFA devices options in AWS</vt:lpstr>
      <vt:lpstr>MFA devices options in AWS</vt:lpstr>
      <vt:lpstr>How can users access AWS ?</vt:lpstr>
      <vt:lpstr>Example (Fake) Access Keys</vt:lpstr>
      <vt:lpstr>What’s the AWS CLI?</vt:lpstr>
      <vt:lpstr>What’s the AWS SDK?</vt:lpstr>
      <vt:lpstr>IAM Roles for Services</vt:lpstr>
      <vt:lpstr>IAM Security Tools</vt:lpstr>
      <vt:lpstr>IAM Guidelines &amp; Best Practices</vt:lpstr>
      <vt:lpstr>PowerPoint Presentation</vt:lpstr>
      <vt:lpstr>Amazon EC2        </vt:lpstr>
      <vt:lpstr>EC2 sizing &amp; configuration options</vt:lpstr>
      <vt:lpstr>EC2 User Data</vt:lpstr>
      <vt:lpstr>Hands-On: Launching an EC2 Instance running Linux</vt:lpstr>
      <vt:lpstr>EC2 Instance Types - Overview</vt:lpstr>
      <vt:lpstr>EC2 Instance Types – General Purpose</vt:lpstr>
      <vt:lpstr>EC2 Instance Types – Compute Optimized</vt:lpstr>
      <vt:lpstr>EC2 Instance Types – Memory Optimized</vt:lpstr>
      <vt:lpstr>EC2 Instance Types – Storage Optimized</vt:lpstr>
      <vt:lpstr>EC2 Instance Types: example</vt:lpstr>
      <vt:lpstr>Introduction to Security Groups</vt:lpstr>
      <vt:lpstr>Security Groups Deep Dive</vt:lpstr>
      <vt:lpstr>Security Groups Diagram</vt:lpstr>
      <vt:lpstr>Security Groups Good to know</vt:lpstr>
      <vt:lpstr>Referencing other security groups Diagram</vt:lpstr>
      <vt:lpstr>Classic Ports to know</vt:lpstr>
      <vt:lpstr>PowerPoint Presentation</vt:lpstr>
      <vt:lpstr>Scalability &amp; High Availability</vt:lpstr>
      <vt:lpstr>Vertical Scalability</vt:lpstr>
      <vt:lpstr>Horizontal Scalability</vt:lpstr>
      <vt:lpstr>High Availability</vt:lpstr>
      <vt:lpstr>High Availability &amp; Scalability For EC2</vt:lpstr>
      <vt:lpstr>What is load balancing?</vt:lpstr>
      <vt:lpstr>Why use a load balancer?</vt:lpstr>
      <vt:lpstr>Why use an Elastic Load Balancer?</vt:lpstr>
      <vt:lpstr>Health Checks</vt:lpstr>
      <vt:lpstr>Types of load balancer on AWS</vt:lpstr>
      <vt:lpstr>Load Balancer Security Groups</vt:lpstr>
      <vt:lpstr>Load Balancer - SSL Certificates</vt:lpstr>
      <vt:lpstr>What’s an Auto Scaling Group?     </vt:lpstr>
      <vt:lpstr>Auto Scaling Group in AWS</vt:lpstr>
      <vt:lpstr>Auto Scaling Group in AWS With Load Balancer</vt:lpstr>
      <vt:lpstr>Auto Scaling Group Attributes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Swagath Chalukya</dc:creator>
  <cp:lastModifiedBy>Swapna R</cp:lastModifiedBy>
  <cp:revision>102</cp:revision>
  <dcterms:created xsi:type="dcterms:W3CDTF">2024-07-11T06:28:32Z</dcterms:created>
  <dcterms:modified xsi:type="dcterms:W3CDTF">2026-05-14T05:27:28Z</dcterms:modified>
</cp:coreProperties>
</file>